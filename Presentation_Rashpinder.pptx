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8" r:id="rId3"/>
    <p:sldId id="261" r:id="rId4"/>
    <p:sldId id="260" r:id="rId5"/>
    <p:sldId id="266" r:id="rId6"/>
    <p:sldId id="267" r:id="rId7"/>
    <p:sldId id="276" r:id="rId8"/>
    <p:sldId id="268" r:id="rId9"/>
    <p:sldId id="264" r:id="rId10"/>
    <p:sldId id="269" r:id="rId11"/>
    <p:sldId id="271" r:id="rId12"/>
    <p:sldId id="277" r:id="rId13"/>
    <p:sldId id="278" r:id="rId14"/>
    <p:sldId id="279" r:id="rId15"/>
    <p:sldId id="28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7" d="100"/>
          <a:sy n="67" d="100"/>
        </p:scale>
        <p:origin x="858" y="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DAB26F-6A25-403D-97F7-4B861BF2892F}" type="doc">
      <dgm:prSet loTypeId="urn:microsoft.com/office/officeart/2005/8/layout/hierarchy1" loCatId="hierarchy" qsTypeId="urn:microsoft.com/office/officeart/2005/8/quickstyle/simple1" qsCatId="simple" csTypeId="urn:microsoft.com/office/officeart/2005/8/colors/accent0_3" csCatId="mainScheme" phldr="1"/>
      <dgm:spPr/>
      <dgm:t>
        <a:bodyPr/>
        <a:lstStyle/>
        <a:p>
          <a:endParaRPr lang="en-US"/>
        </a:p>
      </dgm:t>
    </dgm:pt>
    <dgm:pt modelId="{19F24C4E-A441-4FE6-954C-4C3B909BC55C}">
      <dgm:prSet/>
      <dgm:spPr/>
      <dgm:t>
        <a:bodyPr/>
        <a:lstStyle/>
        <a:p>
          <a:r>
            <a:rPr lang="en-IN" dirty="0">
              <a:latin typeface="+mj-lt"/>
            </a:rPr>
            <a:t>Dataset description: Superstore </a:t>
          </a:r>
        </a:p>
      </dgm:t>
    </dgm:pt>
    <dgm:pt modelId="{65615EDB-A4AB-411D-9169-9367CBE77677}" type="parTrans" cxnId="{032B4810-1EF6-4372-B970-D0366F1455F2}">
      <dgm:prSet/>
      <dgm:spPr/>
      <dgm:t>
        <a:bodyPr/>
        <a:lstStyle/>
        <a:p>
          <a:endParaRPr lang="en-IN"/>
        </a:p>
      </dgm:t>
    </dgm:pt>
    <dgm:pt modelId="{1F2A2096-3424-486D-BAC2-69C579A1BE47}" type="sibTrans" cxnId="{032B4810-1EF6-4372-B970-D0366F1455F2}">
      <dgm:prSet/>
      <dgm:spPr/>
      <dgm:t>
        <a:bodyPr/>
        <a:lstStyle/>
        <a:p>
          <a:endParaRPr lang="en-IN"/>
        </a:p>
      </dgm:t>
    </dgm:pt>
    <dgm:pt modelId="{47C2481F-DF19-4104-AD91-D6B1FBCE4953}">
      <dgm:prSet/>
      <dgm:spPr/>
      <dgm:t>
        <a:bodyPr/>
        <a:lstStyle/>
        <a:p>
          <a:r>
            <a:rPr lang="en-US" dirty="0">
              <a:latin typeface="Courier New" panose="02070309020205020404" pitchFamily="49" charset="0"/>
            </a:rPr>
            <a:t>The dataset contains sales details of different stores of a supermarket chain that has multiple stores in different parts of the US.</a:t>
          </a:r>
        </a:p>
      </dgm:t>
    </dgm:pt>
    <dgm:pt modelId="{0439120A-4576-4D58-A3F9-B02ECB21422C}" type="parTrans" cxnId="{AC4AAFD6-E571-420E-AF1D-412B7153528D}">
      <dgm:prSet/>
      <dgm:spPr/>
      <dgm:t>
        <a:bodyPr/>
        <a:lstStyle/>
        <a:p>
          <a:endParaRPr lang="en-IN"/>
        </a:p>
      </dgm:t>
    </dgm:pt>
    <dgm:pt modelId="{11F39348-16E5-47EF-B6A0-6B18C4B87EF7}" type="sibTrans" cxnId="{AC4AAFD6-E571-420E-AF1D-412B7153528D}">
      <dgm:prSet/>
      <dgm:spPr/>
      <dgm:t>
        <a:bodyPr/>
        <a:lstStyle/>
        <a:p>
          <a:endParaRPr lang="en-IN"/>
        </a:p>
      </dgm:t>
    </dgm:pt>
    <dgm:pt modelId="{1758129C-DC85-4449-91ED-A66C8F53C156}" type="pres">
      <dgm:prSet presAssocID="{54DAB26F-6A25-403D-97F7-4B861BF2892F}" presName="hierChild1" presStyleCnt="0">
        <dgm:presLayoutVars>
          <dgm:chPref val="1"/>
          <dgm:dir/>
          <dgm:animOne val="branch"/>
          <dgm:animLvl val="lvl"/>
          <dgm:resizeHandles/>
        </dgm:presLayoutVars>
      </dgm:prSet>
      <dgm:spPr/>
    </dgm:pt>
    <dgm:pt modelId="{B079C59A-3203-46FD-A124-0B1BD1091A24}" type="pres">
      <dgm:prSet presAssocID="{19F24C4E-A441-4FE6-954C-4C3B909BC55C}" presName="hierRoot1" presStyleCnt="0"/>
      <dgm:spPr/>
    </dgm:pt>
    <dgm:pt modelId="{E75F7AEC-2032-4E4B-9850-16A7E9FDD5A5}" type="pres">
      <dgm:prSet presAssocID="{19F24C4E-A441-4FE6-954C-4C3B909BC55C}" presName="composite" presStyleCnt="0"/>
      <dgm:spPr/>
    </dgm:pt>
    <dgm:pt modelId="{E200329C-CE72-4314-8A4D-448CFC2629E4}" type="pres">
      <dgm:prSet presAssocID="{19F24C4E-A441-4FE6-954C-4C3B909BC55C}" presName="background" presStyleLbl="node0" presStyleIdx="0" presStyleCnt="2"/>
      <dgm:spPr/>
    </dgm:pt>
    <dgm:pt modelId="{9B5EE712-A4EA-4FD4-B52A-6C5B6196E9DA}" type="pres">
      <dgm:prSet presAssocID="{19F24C4E-A441-4FE6-954C-4C3B909BC55C}" presName="text" presStyleLbl="fgAcc0" presStyleIdx="0" presStyleCnt="2">
        <dgm:presLayoutVars>
          <dgm:chPref val="3"/>
        </dgm:presLayoutVars>
      </dgm:prSet>
      <dgm:spPr/>
    </dgm:pt>
    <dgm:pt modelId="{0F76184F-FBBB-413B-9AA9-10074ABA15FB}" type="pres">
      <dgm:prSet presAssocID="{19F24C4E-A441-4FE6-954C-4C3B909BC55C}" presName="hierChild2" presStyleCnt="0"/>
      <dgm:spPr/>
    </dgm:pt>
    <dgm:pt modelId="{1686B3F1-7687-46C7-B2E8-4B5A141D7CD8}" type="pres">
      <dgm:prSet presAssocID="{47C2481F-DF19-4104-AD91-D6B1FBCE4953}" presName="hierRoot1" presStyleCnt="0"/>
      <dgm:spPr/>
    </dgm:pt>
    <dgm:pt modelId="{AEEBE19A-7A98-4E8E-A3C8-F14A4A811D70}" type="pres">
      <dgm:prSet presAssocID="{47C2481F-DF19-4104-AD91-D6B1FBCE4953}" presName="composite" presStyleCnt="0"/>
      <dgm:spPr/>
    </dgm:pt>
    <dgm:pt modelId="{18211D19-7016-47DD-B02F-C56E1F8FE03B}" type="pres">
      <dgm:prSet presAssocID="{47C2481F-DF19-4104-AD91-D6B1FBCE4953}" presName="background" presStyleLbl="node0" presStyleIdx="1" presStyleCnt="2"/>
      <dgm:spPr/>
    </dgm:pt>
    <dgm:pt modelId="{0061E208-567F-421F-BD54-1E88D1F0C23D}" type="pres">
      <dgm:prSet presAssocID="{47C2481F-DF19-4104-AD91-D6B1FBCE4953}" presName="text" presStyleLbl="fgAcc0" presStyleIdx="1" presStyleCnt="2">
        <dgm:presLayoutVars>
          <dgm:chPref val="3"/>
        </dgm:presLayoutVars>
      </dgm:prSet>
      <dgm:spPr/>
    </dgm:pt>
    <dgm:pt modelId="{B5E80A36-C65D-405D-8A8C-350872FDE9C9}" type="pres">
      <dgm:prSet presAssocID="{47C2481F-DF19-4104-AD91-D6B1FBCE4953}" presName="hierChild2" presStyleCnt="0"/>
      <dgm:spPr/>
    </dgm:pt>
  </dgm:ptLst>
  <dgm:cxnLst>
    <dgm:cxn modelId="{032B4810-1EF6-4372-B970-D0366F1455F2}" srcId="{54DAB26F-6A25-403D-97F7-4B861BF2892F}" destId="{19F24C4E-A441-4FE6-954C-4C3B909BC55C}" srcOrd="0" destOrd="0" parTransId="{65615EDB-A4AB-411D-9169-9367CBE77677}" sibTransId="{1F2A2096-3424-486D-BAC2-69C579A1BE47}"/>
    <dgm:cxn modelId="{5159923D-9D43-4791-B99E-6EA509BEF1C4}" type="presOf" srcId="{47C2481F-DF19-4104-AD91-D6B1FBCE4953}" destId="{0061E208-567F-421F-BD54-1E88D1F0C23D}" srcOrd="0" destOrd="0" presId="urn:microsoft.com/office/officeart/2005/8/layout/hierarchy1"/>
    <dgm:cxn modelId="{B14C5751-F4A6-4D38-9433-5CD2C2B0AFC9}" type="presOf" srcId="{19F24C4E-A441-4FE6-954C-4C3B909BC55C}" destId="{9B5EE712-A4EA-4FD4-B52A-6C5B6196E9DA}" srcOrd="0" destOrd="0" presId="urn:microsoft.com/office/officeart/2005/8/layout/hierarchy1"/>
    <dgm:cxn modelId="{E5D51FC2-DFD3-4122-8EB1-8A5216175BF5}" type="presOf" srcId="{54DAB26F-6A25-403D-97F7-4B861BF2892F}" destId="{1758129C-DC85-4449-91ED-A66C8F53C156}" srcOrd="0" destOrd="0" presId="urn:microsoft.com/office/officeart/2005/8/layout/hierarchy1"/>
    <dgm:cxn modelId="{AC4AAFD6-E571-420E-AF1D-412B7153528D}" srcId="{54DAB26F-6A25-403D-97F7-4B861BF2892F}" destId="{47C2481F-DF19-4104-AD91-D6B1FBCE4953}" srcOrd="1" destOrd="0" parTransId="{0439120A-4576-4D58-A3F9-B02ECB21422C}" sibTransId="{11F39348-16E5-47EF-B6A0-6B18C4B87EF7}"/>
    <dgm:cxn modelId="{ABDB2412-3AAE-4D6E-8C61-15CBD824A69B}" type="presParOf" srcId="{1758129C-DC85-4449-91ED-A66C8F53C156}" destId="{B079C59A-3203-46FD-A124-0B1BD1091A24}" srcOrd="0" destOrd="0" presId="urn:microsoft.com/office/officeart/2005/8/layout/hierarchy1"/>
    <dgm:cxn modelId="{1FB56310-AD66-4C1A-B12B-AB6C542D9A37}" type="presParOf" srcId="{B079C59A-3203-46FD-A124-0B1BD1091A24}" destId="{E75F7AEC-2032-4E4B-9850-16A7E9FDD5A5}" srcOrd="0" destOrd="0" presId="urn:microsoft.com/office/officeart/2005/8/layout/hierarchy1"/>
    <dgm:cxn modelId="{B92D204C-C12F-4529-8895-C722BA900365}" type="presParOf" srcId="{E75F7AEC-2032-4E4B-9850-16A7E9FDD5A5}" destId="{E200329C-CE72-4314-8A4D-448CFC2629E4}" srcOrd="0" destOrd="0" presId="urn:microsoft.com/office/officeart/2005/8/layout/hierarchy1"/>
    <dgm:cxn modelId="{2993D60E-DB9D-4635-9F38-F6B7B1257157}" type="presParOf" srcId="{E75F7AEC-2032-4E4B-9850-16A7E9FDD5A5}" destId="{9B5EE712-A4EA-4FD4-B52A-6C5B6196E9DA}" srcOrd="1" destOrd="0" presId="urn:microsoft.com/office/officeart/2005/8/layout/hierarchy1"/>
    <dgm:cxn modelId="{B9DB32D4-84FA-4DA0-8A23-067C8285169F}" type="presParOf" srcId="{B079C59A-3203-46FD-A124-0B1BD1091A24}" destId="{0F76184F-FBBB-413B-9AA9-10074ABA15FB}" srcOrd="1" destOrd="0" presId="urn:microsoft.com/office/officeart/2005/8/layout/hierarchy1"/>
    <dgm:cxn modelId="{82743D22-F52A-4679-AA6C-39709ADF7C32}" type="presParOf" srcId="{1758129C-DC85-4449-91ED-A66C8F53C156}" destId="{1686B3F1-7687-46C7-B2E8-4B5A141D7CD8}" srcOrd="1" destOrd="0" presId="urn:microsoft.com/office/officeart/2005/8/layout/hierarchy1"/>
    <dgm:cxn modelId="{4442F372-BE84-46C4-8B7B-04BA4DF77483}" type="presParOf" srcId="{1686B3F1-7687-46C7-B2E8-4B5A141D7CD8}" destId="{AEEBE19A-7A98-4E8E-A3C8-F14A4A811D70}" srcOrd="0" destOrd="0" presId="urn:microsoft.com/office/officeart/2005/8/layout/hierarchy1"/>
    <dgm:cxn modelId="{D604194C-4A78-4ABB-A6EE-F94218D0C814}" type="presParOf" srcId="{AEEBE19A-7A98-4E8E-A3C8-F14A4A811D70}" destId="{18211D19-7016-47DD-B02F-C56E1F8FE03B}" srcOrd="0" destOrd="0" presId="urn:microsoft.com/office/officeart/2005/8/layout/hierarchy1"/>
    <dgm:cxn modelId="{B3D5A7D3-C548-4B4E-8AA6-00663C3409C7}" type="presParOf" srcId="{AEEBE19A-7A98-4E8E-A3C8-F14A4A811D70}" destId="{0061E208-567F-421F-BD54-1E88D1F0C23D}" srcOrd="1" destOrd="0" presId="urn:microsoft.com/office/officeart/2005/8/layout/hierarchy1"/>
    <dgm:cxn modelId="{8654CCA9-3131-42F9-ACD5-5F8EF500A4F1}" type="presParOf" srcId="{1686B3F1-7687-46C7-B2E8-4B5A141D7CD8}" destId="{B5E80A36-C65D-405D-8A8C-350872FDE9C9}"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6A4FE63-7FB9-4CC3-9929-3F82AB4127F7}" type="doc">
      <dgm:prSet loTypeId="urn:microsoft.com/office/officeart/2005/8/layout/vProcess5" loCatId="process" qsTypeId="urn:microsoft.com/office/officeart/2005/8/quickstyle/simple1" qsCatId="simple" csTypeId="urn:microsoft.com/office/officeart/2005/8/colors/colorful1" csCatId="colorful" phldr="1"/>
      <dgm:spPr/>
      <dgm:t>
        <a:bodyPr/>
        <a:lstStyle/>
        <a:p>
          <a:endParaRPr lang="en-US"/>
        </a:p>
      </dgm:t>
    </dgm:pt>
    <dgm:pt modelId="{855070F1-1CE2-46FE-A677-46B1F90D8DF8}">
      <dgm:prSet/>
      <dgm:spPr/>
      <dgm:t>
        <a:bodyPr/>
        <a:lstStyle/>
        <a:p>
          <a:r>
            <a:rPr lang="en-US" dirty="0"/>
            <a:t>Import the dataset: Load the data into your analysis environment.</a:t>
          </a:r>
        </a:p>
      </dgm:t>
    </dgm:pt>
    <dgm:pt modelId="{FD3033DF-FDB6-4B98-A634-DD2FC868B183}" type="parTrans" cxnId="{19184A19-6307-4A19-9811-BEDB197F0906}">
      <dgm:prSet/>
      <dgm:spPr/>
      <dgm:t>
        <a:bodyPr/>
        <a:lstStyle/>
        <a:p>
          <a:endParaRPr lang="en-US"/>
        </a:p>
      </dgm:t>
    </dgm:pt>
    <dgm:pt modelId="{B0466E18-4B5C-4457-879A-204FC5D98BDF}" type="sibTrans" cxnId="{19184A19-6307-4A19-9811-BEDB197F0906}">
      <dgm:prSet/>
      <dgm:spPr/>
      <dgm:t>
        <a:bodyPr/>
        <a:lstStyle/>
        <a:p>
          <a:endParaRPr lang="en-US"/>
        </a:p>
      </dgm:t>
    </dgm:pt>
    <dgm:pt modelId="{59C03FBF-D5FD-4421-9948-B8B1CE29B7C0}">
      <dgm:prSet/>
      <dgm:spPr/>
      <dgm:t>
        <a:bodyPr/>
        <a:lstStyle/>
        <a:p>
          <a:pPr>
            <a:buFont typeface="+mj-lt"/>
            <a:buAutoNum type="arabicPeriod"/>
          </a:pPr>
          <a:r>
            <a:rPr lang="en-US"/>
            <a:t>Display records: Show the first 5 and last 5 records of the dataset.</a:t>
          </a:r>
          <a:endParaRPr lang="en-IN"/>
        </a:p>
      </dgm:t>
    </dgm:pt>
    <dgm:pt modelId="{FD4AEAF9-D0BE-40F8-BAE3-D23113BAD783}" type="parTrans" cxnId="{DC359FD4-8C7A-4DD0-A321-53ACC9B89384}">
      <dgm:prSet/>
      <dgm:spPr/>
      <dgm:t>
        <a:bodyPr/>
        <a:lstStyle/>
        <a:p>
          <a:endParaRPr lang="en-IN"/>
        </a:p>
      </dgm:t>
    </dgm:pt>
    <dgm:pt modelId="{A9BFFEB9-91C0-482D-A100-9783ADF85C7B}" type="sibTrans" cxnId="{DC359FD4-8C7A-4DD0-A321-53ACC9B89384}">
      <dgm:prSet/>
      <dgm:spPr/>
      <dgm:t>
        <a:bodyPr/>
        <a:lstStyle/>
        <a:p>
          <a:endParaRPr lang="en-IN"/>
        </a:p>
      </dgm:t>
    </dgm:pt>
    <dgm:pt modelId="{40E8E88A-0E25-4C5D-BB10-B2ECD406FE8B}">
      <dgm:prSet/>
      <dgm:spPr/>
      <dgm:t>
        <a:bodyPr/>
        <a:lstStyle/>
        <a:p>
          <a:pPr>
            <a:buFont typeface="+mj-lt"/>
            <a:buAutoNum type="arabicPeriod"/>
          </a:pPr>
          <a:r>
            <a:rPr lang="en-US"/>
            <a:t>Identify data types: Check and note the data types for each variable.</a:t>
          </a:r>
          <a:endParaRPr lang="en-IN"/>
        </a:p>
      </dgm:t>
    </dgm:pt>
    <dgm:pt modelId="{3C57FF5F-7DBA-4998-B632-F2FD7B5B392D}" type="parTrans" cxnId="{D8A59773-582B-4C3F-873C-7A6E56F35436}">
      <dgm:prSet/>
      <dgm:spPr/>
      <dgm:t>
        <a:bodyPr/>
        <a:lstStyle/>
        <a:p>
          <a:endParaRPr lang="en-IN"/>
        </a:p>
      </dgm:t>
    </dgm:pt>
    <dgm:pt modelId="{E422541D-D079-49FD-90F5-C80BA736B7EE}" type="sibTrans" cxnId="{D8A59773-582B-4C3F-873C-7A6E56F35436}">
      <dgm:prSet/>
      <dgm:spPr/>
      <dgm:t>
        <a:bodyPr/>
        <a:lstStyle/>
        <a:p>
          <a:endParaRPr lang="en-IN"/>
        </a:p>
      </dgm:t>
    </dgm:pt>
    <dgm:pt modelId="{35506A3E-43AF-46CA-81E6-4DEDAE7D2E06}">
      <dgm:prSet/>
      <dgm:spPr/>
      <dgm:t>
        <a:bodyPr/>
        <a:lstStyle/>
        <a:p>
          <a:pPr>
            <a:buFont typeface="+mj-lt"/>
            <a:buAutoNum type="arabicPeriod"/>
          </a:pPr>
          <a:r>
            <a:rPr lang="en-US"/>
            <a:t>Missing entries: Determine the number of missing entries per variable.</a:t>
          </a:r>
          <a:endParaRPr lang="en-IN"/>
        </a:p>
      </dgm:t>
    </dgm:pt>
    <dgm:pt modelId="{1BCB3D13-BFAB-4D5F-AC42-CF75A46DEE48}" type="parTrans" cxnId="{0800E5A6-E633-4582-B974-1C43BBD7DE56}">
      <dgm:prSet/>
      <dgm:spPr/>
      <dgm:t>
        <a:bodyPr/>
        <a:lstStyle/>
        <a:p>
          <a:endParaRPr lang="en-IN"/>
        </a:p>
      </dgm:t>
    </dgm:pt>
    <dgm:pt modelId="{BE18D4C4-B03A-4DB1-8642-FAF2F58BBD5B}" type="sibTrans" cxnId="{0800E5A6-E633-4582-B974-1C43BBD7DE56}">
      <dgm:prSet/>
      <dgm:spPr/>
      <dgm:t>
        <a:bodyPr/>
        <a:lstStyle/>
        <a:p>
          <a:endParaRPr lang="en-IN"/>
        </a:p>
      </dgm:t>
    </dgm:pt>
    <dgm:pt modelId="{75F9C497-7FC2-440A-AB54-263AC7ED3989}">
      <dgm:prSet/>
      <dgm:spPr/>
      <dgm:t>
        <a:bodyPr/>
        <a:lstStyle/>
        <a:p>
          <a:pPr>
            <a:buFont typeface="+mj-lt"/>
            <a:buAutoNum type="arabicPeriod"/>
          </a:pPr>
          <a:r>
            <a:rPr lang="en-US"/>
            <a:t>Duplicate records: Identify and count any duplicate records.</a:t>
          </a:r>
          <a:endParaRPr lang="en-IN"/>
        </a:p>
      </dgm:t>
    </dgm:pt>
    <dgm:pt modelId="{02EBDD9B-8C55-4455-9FF3-75E3D2496506}" type="parTrans" cxnId="{5942FFF3-C5D2-489A-AC5F-64D536935A2A}">
      <dgm:prSet/>
      <dgm:spPr/>
      <dgm:t>
        <a:bodyPr/>
        <a:lstStyle/>
        <a:p>
          <a:endParaRPr lang="en-IN"/>
        </a:p>
      </dgm:t>
    </dgm:pt>
    <dgm:pt modelId="{39208F21-9DDE-4E52-98F6-B5CEE536E888}" type="sibTrans" cxnId="{5942FFF3-C5D2-489A-AC5F-64D536935A2A}">
      <dgm:prSet/>
      <dgm:spPr/>
      <dgm:t>
        <a:bodyPr/>
        <a:lstStyle/>
        <a:p>
          <a:endParaRPr lang="en-IN"/>
        </a:p>
      </dgm:t>
    </dgm:pt>
    <dgm:pt modelId="{3CD8D4C4-5CA8-422A-A5C0-D5A5251EF640}" type="pres">
      <dgm:prSet presAssocID="{36A4FE63-7FB9-4CC3-9929-3F82AB4127F7}" presName="outerComposite" presStyleCnt="0">
        <dgm:presLayoutVars>
          <dgm:chMax val="5"/>
          <dgm:dir/>
          <dgm:resizeHandles val="exact"/>
        </dgm:presLayoutVars>
      </dgm:prSet>
      <dgm:spPr/>
    </dgm:pt>
    <dgm:pt modelId="{6C0EEA6F-7053-49B9-9964-E2F3FFB9EDD2}" type="pres">
      <dgm:prSet presAssocID="{36A4FE63-7FB9-4CC3-9929-3F82AB4127F7}" presName="dummyMaxCanvas" presStyleCnt="0">
        <dgm:presLayoutVars/>
      </dgm:prSet>
      <dgm:spPr/>
    </dgm:pt>
    <dgm:pt modelId="{C66FF8F2-2800-4250-85F5-5E64253A9B87}" type="pres">
      <dgm:prSet presAssocID="{36A4FE63-7FB9-4CC3-9929-3F82AB4127F7}" presName="FiveNodes_1" presStyleLbl="node1" presStyleIdx="0" presStyleCnt="5">
        <dgm:presLayoutVars>
          <dgm:bulletEnabled val="1"/>
        </dgm:presLayoutVars>
      </dgm:prSet>
      <dgm:spPr/>
    </dgm:pt>
    <dgm:pt modelId="{F34AF069-5BD8-47D2-8BFB-80727E6CD5F7}" type="pres">
      <dgm:prSet presAssocID="{36A4FE63-7FB9-4CC3-9929-3F82AB4127F7}" presName="FiveNodes_2" presStyleLbl="node1" presStyleIdx="1" presStyleCnt="5">
        <dgm:presLayoutVars>
          <dgm:bulletEnabled val="1"/>
        </dgm:presLayoutVars>
      </dgm:prSet>
      <dgm:spPr/>
    </dgm:pt>
    <dgm:pt modelId="{890218B3-C423-408C-9886-57E9AD163F1E}" type="pres">
      <dgm:prSet presAssocID="{36A4FE63-7FB9-4CC3-9929-3F82AB4127F7}" presName="FiveNodes_3" presStyleLbl="node1" presStyleIdx="2" presStyleCnt="5">
        <dgm:presLayoutVars>
          <dgm:bulletEnabled val="1"/>
        </dgm:presLayoutVars>
      </dgm:prSet>
      <dgm:spPr/>
    </dgm:pt>
    <dgm:pt modelId="{0C88424F-2DAC-467B-81E6-3B17595CA235}" type="pres">
      <dgm:prSet presAssocID="{36A4FE63-7FB9-4CC3-9929-3F82AB4127F7}" presName="FiveNodes_4" presStyleLbl="node1" presStyleIdx="3" presStyleCnt="5">
        <dgm:presLayoutVars>
          <dgm:bulletEnabled val="1"/>
        </dgm:presLayoutVars>
      </dgm:prSet>
      <dgm:spPr/>
    </dgm:pt>
    <dgm:pt modelId="{227EDA7D-16CC-4FF4-ADFA-0A38191E07FB}" type="pres">
      <dgm:prSet presAssocID="{36A4FE63-7FB9-4CC3-9929-3F82AB4127F7}" presName="FiveNodes_5" presStyleLbl="node1" presStyleIdx="4" presStyleCnt="5">
        <dgm:presLayoutVars>
          <dgm:bulletEnabled val="1"/>
        </dgm:presLayoutVars>
      </dgm:prSet>
      <dgm:spPr/>
    </dgm:pt>
    <dgm:pt modelId="{498B2B54-E458-4EB2-9EAB-6248E3310B96}" type="pres">
      <dgm:prSet presAssocID="{36A4FE63-7FB9-4CC3-9929-3F82AB4127F7}" presName="FiveConn_1-2" presStyleLbl="fgAccFollowNode1" presStyleIdx="0" presStyleCnt="4">
        <dgm:presLayoutVars>
          <dgm:bulletEnabled val="1"/>
        </dgm:presLayoutVars>
      </dgm:prSet>
      <dgm:spPr/>
    </dgm:pt>
    <dgm:pt modelId="{8BC24924-0546-4BF4-9301-1274937B284B}" type="pres">
      <dgm:prSet presAssocID="{36A4FE63-7FB9-4CC3-9929-3F82AB4127F7}" presName="FiveConn_2-3" presStyleLbl="fgAccFollowNode1" presStyleIdx="1" presStyleCnt="4">
        <dgm:presLayoutVars>
          <dgm:bulletEnabled val="1"/>
        </dgm:presLayoutVars>
      </dgm:prSet>
      <dgm:spPr/>
    </dgm:pt>
    <dgm:pt modelId="{4EBF125C-C027-42C4-B5CF-59631F7139B7}" type="pres">
      <dgm:prSet presAssocID="{36A4FE63-7FB9-4CC3-9929-3F82AB4127F7}" presName="FiveConn_3-4" presStyleLbl="fgAccFollowNode1" presStyleIdx="2" presStyleCnt="4">
        <dgm:presLayoutVars>
          <dgm:bulletEnabled val="1"/>
        </dgm:presLayoutVars>
      </dgm:prSet>
      <dgm:spPr/>
    </dgm:pt>
    <dgm:pt modelId="{03F55B30-8C04-49C6-AC06-ADA2AE445EDE}" type="pres">
      <dgm:prSet presAssocID="{36A4FE63-7FB9-4CC3-9929-3F82AB4127F7}" presName="FiveConn_4-5" presStyleLbl="fgAccFollowNode1" presStyleIdx="3" presStyleCnt="4">
        <dgm:presLayoutVars>
          <dgm:bulletEnabled val="1"/>
        </dgm:presLayoutVars>
      </dgm:prSet>
      <dgm:spPr/>
    </dgm:pt>
    <dgm:pt modelId="{0EE83038-B8B8-4B66-B31D-062A29763713}" type="pres">
      <dgm:prSet presAssocID="{36A4FE63-7FB9-4CC3-9929-3F82AB4127F7}" presName="FiveNodes_1_text" presStyleLbl="node1" presStyleIdx="4" presStyleCnt="5">
        <dgm:presLayoutVars>
          <dgm:bulletEnabled val="1"/>
        </dgm:presLayoutVars>
      </dgm:prSet>
      <dgm:spPr/>
    </dgm:pt>
    <dgm:pt modelId="{3544F0A0-044C-4732-8B6D-7941F67B16D1}" type="pres">
      <dgm:prSet presAssocID="{36A4FE63-7FB9-4CC3-9929-3F82AB4127F7}" presName="FiveNodes_2_text" presStyleLbl="node1" presStyleIdx="4" presStyleCnt="5">
        <dgm:presLayoutVars>
          <dgm:bulletEnabled val="1"/>
        </dgm:presLayoutVars>
      </dgm:prSet>
      <dgm:spPr/>
    </dgm:pt>
    <dgm:pt modelId="{9A519DEC-E69A-46C7-BA04-AF62FDFE34EC}" type="pres">
      <dgm:prSet presAssocID="{36A4FE63-7FB9-4CC3-9929-3F82AB4127F7}" presName="FiveNodes_3_text" presStyleLbl="node1" presStyleIdx="4" presStyleCnt="5">
        <dgm:presLayoutVars>
          <dgm:bulletEnabled val="1"/>
        </dgm:presLayoutVars>
      </dgm:prSet>
      <dgm:spPr/>
    </dgm:pt>
    <dgm:pt modelId="{946B5006-7671-45C9-A1B6-C316308726AC}" type="pres">
      <dgm:prSet presAssocID="{36A4FE63-7FB9-4CC3-9929-3F82AB4127F7}" presName="FiveNodes_4_text" presStyleLbl="node1" presStyleIdx="4" presStyleCnt="5">
        <dgm:presLayoutVars>
          <dgm:bulletEnabled val="1"/>
        </dgm:presLayoutVars>
      </dgm:prSet>
      <dgm:spPr/>
    </dgm:pt>
    <dgm:pt modelId="{D35CF136-470A-4ECE-BAC9-845103A8A7DC}" type="pres">
      <dgm:prSet presAssocID="{36A4FE63-7FB9-4CC3-9929-3F82AB4127F7}" presName="FiveNodes_5_text" presStyleLbl="node1" presStyleIdx="4" presStyleCnt="5">
        <dgm:presLayoutVars>
          <dgm:bulletEnabled val="1"/>
        </dgm:presLayoutVars>
      </dgm:prSet>
      <dgm:spPr/>
    </dgm:pt>
  </dgm:ptLst>
  <dgm:cxnLst>
    <dgm:cxn modelId="{BC53A00D-B0F6-4D38-BE88-E949962A9576}" type="presOf" srcId="{75F9C497-7FC2-440A-AB54-263AC7ED3989}" destId="{D35CF136-470A-4ECE-BAC9-845103A8A7DC}" srcOrd="1" destOrd="0" presId="urn:microsoft.com/office/officeart/2005/8/layout/vProcess5"/>
    <dgm:cxn modelId="{23DF2D0E-A912-495F-880D-52443DF02C5A}" type="presOf" srcId="{855070F1-1CE2-46FE-A677-46B1F90D8DF8}" destId="{C66FF8F2-2800-4250-85F5-5E64253A9B87}" srcOrd="0" destOrd="0" presId="urn:microsoft.com/office/officeart/2005/8/layout/vProcess5"/>
    <dgm:cxn modelId="{19184A19-6307-4A19-9811-BEDB197F0906}" srcId="{36A4FE63-7FB9-4CC3-9929-3F82AB4127F7}" destId="{855070F1-1CE2-46FE-A677-46B1F90D8DF8}" srcOrd="0" destOrd="0" parTransId="{FD3033DF-FDB6-4B98-A634-DD2FC868B183}" sibTransId="{B0466E18-4B5C-4457-879A-204FC5D98BDF}"/>
    <dgm:cxn modelId="{1A3A4529-F009-4D81-87DC-3178F69634A3}" type="presOf" srcId="{BE18D4C4-B03A-4DB1-8642-FAF2F58BBD5B}" destId="{03F55B30-8C04-49C6-AC06-ADA2AE445EDE}" srcOrd="0" destOrd="0" presId="urn:microsoft.com/office/officeart/2005/8/layout/vProcess5"/>
    <dgm:cxn modelId="{FE2D7430-D0EC-4554-92B7-68AAAC7F7C46}" type="presOf" srcId="{B0466E18-4B5C-4457-879A-204FC5D98BDF}" destId="{498B2B54-E458-4EB2-9EAB-6248E3310B96}" srcOrd="0" destOrd="0" presId="urn:microsoft.com/office/officeart/2005/8/layout/vProcess5"/>
    <dgm:cxn modelId="{03D1EC47-DF81-4A3F-A929-C98F559C4F55}" type="presOf" srcId="{40E8E88A-0E25-4C5D-BB10-B2ECD406FE8B}" destId="{890218B3-C423-408C-9886-57E9AD163F1E}" srcOrd="0" destOrd="0" presId="urn:microsoft.com/office/officeart/2005/8/layout/vProcess5"/>
    <dgm:cxn modelId="{BC96426F-4D9B-4C66-A871-4E92221D16D3}" type="presOf" srcId="{59C03FBF-D5FD-4421-9948-B8B1CE29B7C0}" destId="{3544F0A0-044C-4732-8B6D-7941F67B16D1}" srcOrd="1" destOrd="0" presId="urn:microsoft.com/office/officeart/2005/8/layout/vProcess5"/>
    <dgm:cxn modelId="{4792F870-F793-4681-99E2-38C0E5A5E867}" type="presOf" srcId="{35506A3E-43AF-46CA-81E6-4DEDAE7D2E06}" destId="{946B5006-7671-45C9-A1B6-C316308726AC}" srcOrd="1" destOrd="0" presId="urn:microsoft.com/office/officeart/2005/8/layout/vProcess5"/>
    <dgm:cxn modelId="{7774A472-9B39-49D9-BD49-168410EB87E7}" type="presOf" srcId="{35506A3E-43AF-46CA-81E6-4DEDAE7D2E06}" destId="{0C88424F-2DAC-467B-81E6-3B17595CA235}" srcOrd="0" destOrd="0" presId="urn:microsoft.com/office/officeart/2005/8/layout/vProcess5"/>
    <dgm:cxn modelId="{D8A59773-582B-4C3F-873C-7A6E56F35436}" srcId="{36A4FE63-7FB9-4CC3-9929-3F82AB4127F7}" destId="{40E8E88A-0E25-4C5D-BB10-B2ECD406FE8B}" srcOrd="2" destOrd="0" parTransId="{3C57FF5F-7DBA-4998-B632-F2FD7B5B392D}" sibTransId="{E422541D-D079-49FD-90F5-C80BA736B7EE}"/>
    <dgm:cxn modelId="{62626B56-E9F5-435B-B798-1D98029F3EC8}" type="presOf" srcId="{E422541D-D079-49FD-90F5-C80BA736B7EE}" destId="{4EBF125C-C027-42C4-B5CF-59631F7139B7}" srcOrd="0" destOrd="0" presId="urn:microsoft.com/office/officeart/2005/8/layout/vProcess5"/>
    <dgm:cxn modelId="{6AC9CF7F-1310-47A3-928E-2E5C83629446}" type="presOf" srcId="{59C03FBF-D5FD-4421-9948-B8B1CE29B7C0}" destId="{F34AF069-5BD8-47D2-8BFB-80727E6CD5F7}" srcOrd="0" destOrd="0" presId="urn:microsoft.com/office/officeart/2005/8/layout/vProcess5"/>
    <dgm:cxn modelId="{2D400683-5C26-4E93-A28D-134AE0D27C9C}" type="presOf" srcId="{A9BFFEB9-91C0-482D-A100-9783ADF85C7B}" destId="{8BC24924-0546-4BF4-9301-1274937B284B}" srcOrd="0" destOrd="0" presId="urn:microsoft.com/office/officeart/2005/8/layout/vProcess5"/>
    <dgm:cxn modelId="{4DC06383-3DA0-488E-8E08-75ED53748FCA}" type="presOf" srcId="{40E8E88A-0E25-4C5D-BB10-B2ECD406FE8B}" destId="{9A519DEC-E69A-46C7-BA04-AF62FDFE34EC}" srcOrd="1" destOrd="0" presId="urn:microsoft.com/office/officeart/2005/8/layout/vProcess5"/>
    <dgm:cxn modelId="{0800E5A6-E633-4582-B974-1C43BBD7DE56}" srcId="{36A4FE63-7FB9-4CC3-9929-3F82AB4127F7}" destId="{35506A3E-43AF-46CA-81E6-4DEDAE7D2E06}" srcOrd="3" destOrd="0" parTransId="{1BCB3D13-BFAB-4D5F-AC42-CF75A46DEE48}" sibTransId="{BE18D4C4-B03A-4DB1-8642-FAF2F58BBD5B}"/>
    <dgm:cxn modelId="{C08D7EA9-F6B8-4F20-B1C5-1AEDBF51EA93}" type="presOf" srcId="{36A4FE63-7FB9-4CC3-9929-3F82AB4127F7}" destId="{3CD8D4C4-5CA8-422A-A5C0-D5A5251EF640}" srcOrd="0" destOrd="0" presId="urn:microsoft.com/office/officeart/2005/8/layout/vProcess5"/>
    <dgm:cxn modelId="{F4D747AD-9186-4698-B66E-59296411B5BC}" type="presOf" srcId="{855070F1-1CE2-46FE-A677-46B1F90D8DF8}" destId="{0EE83038-B8B8-4B66-B31D-062A29763713}" srcOrd="1" destOrd="0" presId="urn:microsoft.com/office/officeart/2005/8/layout/vProcess5"/>
    <dgm:cxn modelId="{DC359FD4-8C7A-4DD0-A321-53ACC9B89384}" srcId="{36A4FE63-7FB9-4CC3-9929-3F82AB4127F7}" destId="{59C03FBF-D5FD-4421-9948-B8B1CE29B7C0}" srcOrd="1" destOrd="0" parTransId="{FD4AEAF9-D0BE-40F8-BAE3-D23113BAD783}" sibTransId="{A9BFFEB9-91C0-482D-A100-9783ADF85C7B}"/>
    <dgm:cxn modelId="{5942FFF3-C5D2-489A-AC5F-64D536935A2A}" srcId="{36A4FE63-7FB9-4CC3-9929-3F82AB4127F7}" destId="{75F9C497-7FC2-440A-AB54-263AC7ED3989}" srcOrd="4" destOrd="0" parTransId="{02EBDD9B-8C55-4455-9FF3-75E3D2496506}" sibTransId="{39208F21-9DDE-4E52-98F6-B5CEE536E888}"/>
    <dgm:cxn modelId="{5307C7FE-6DEB-4F68-BD0B-386BCF97326A}" type="presOf" srcId="{75F9C497-7FC2-440A-AB54-263AC7ED3989}" destId="{227EDA7D-16CC-4FF4-ADFA-0A38191E07FB}" srcOrd="0" destOrd="0" presId="urn:microsoft.com/office/officeart/2005/8/layout/vProcess5"/>
    <dgm:cxn modelId="{1903C202-F408-438F-BE3D-E8DC8CDE1AC0}" type="presParOf" srcId="{3CD8D4C4-5CA8-422A-A5C0-D5A5251EF640}" destId="{6C0EEA6F-7053-49B9-9964-E2F3FFB9EDD2}" srcOrd="0" destOrd="0" presId="urn:microsoft.com/office/officeart/2005/8/layout/vProcess5"/>
    <dgm:cxn modelId="{BEE31B19-D707-4EE3-9DCF-33069F9241EF}" type="presParOf" srcId="{3CD8D4C4-5CA8-422A-A5C0-D5A5251EF640}" destId="{C66FF8F2-2800-4250-85F5-5E64253A9B87}" srcOrd="1" destOrd="0" presId="urn:microsoft.com/office/officeart/2005/8/layout/vProcess5"/>
    <dgm:cxn modelId="{45213175-CEF1-40B5-9050-A54ABFB1E52C}" type="presParOf" srcId="{3CD8D4C4-5CA8-422A-A5C0-D5A5251EF640}" destId="{F34AF069-5BD8-47D2-8BFB-80727E6CD5F7}" srcOrd="2" destOrd="0" presId="urn:microsoft.com/office/officeart/2005/8/layout/vProcess5"/>
    <dgm:cxn modelId="{0C3912A1-3E3B-42D7-843E-05038C4CD381}" type="presParOf" srcId="{3CD8D4C4-5CA8-422A-A5C0-D5A5251EF640}" destId="{890218B3-C423-408C-9886-57E9AD163F1E}" srcOrd="3" destOrd="0" presId="urn:microsoft.com/office/officeart/2005/8/layout/vProcess5"/>
    <dgm:cxn modelId="{97BD1CDC-83D7-43B2-96DF-66FA8244532F}" type="presParOf" srcId="{3CD8D4C4-5CA8-422A-A5C0-D5A5251EF640}" destId="{0C88424F-2DAC-467B-81E6-3B17595CA235}" srcOrd="4" destOrd="0" presId="urn:microsoft.com/office/officeart/2005/8/layout/vProcess5"/>
    <dgm:cxn modelId="{559B84BC-5C7F-4BEC-82B5-B4972F33F3A1}" type="presParOf" srcId="{3CD8D4C4-5CA8-422A-A5C0-D5A5251EF640}" destId="{227EDA7D-16CC-4FF4-ADFA-0A38191E07FB}" srcOrd="5" destOrd="0" presId="urn:microsoft.com/office/officeart/2005/8/layout/vProcess5"/>
    <dgm:cxn modelId="{BFD09F0C-9D77-4307-8DDB-C64CCFCC55E8}" type="presParOf" srcId="{3CD8D4C4-5CA8-422A-A5C0-D5A5251EF640}" destId="{498B2B54-E458-4EB2-9EAB-6248E3310B96}" srcOrd="6" destOrd="0" presId="urn:microsoft.com/office/officeart/2005/8/layout/vProcess5"/>
    <dgm:cxn modelId="{B072920D-10A7-4B7C-9FB5-91262F6753F0}" type="presParOf" srcId="{3CD8D4C4-5CA8-422A-A5C0-D5A5251EF640}" destId="{8BC24924-0546-4BF4-9301-1274937B284B}" srcOrd="7" destOrd="0" presId="urn:microsoft.com/office/officeart/2005/8/layout/vProcess5"/>
    <dgm:cxn modelId="{5DACCE5C-717F-472D-BC55-789D845E0C5A}" type="presParOf" srcId="{3CD8D4C4-5CA8-422A-A5C0-D5A5251EF640}" destId="{4EBF125C-C027-42C4-B5CF-59631F7139B7}" srcOrd="8" destOrd="0" presId="urn:microsoft.com/office/officeart/2005/8/layout/vProcess5"/>
    <dgm:cxn modelId="{D370022D-8FA9-49B8-B12E-368B2F607C8E}" type="presParOf" srcId="{3CD8D4C4-5CA8-422A-A5C0-D5A5251EF640}" destId="{03F55B30-8C04-49C6-AC06-ADA2AE445EDE}" srcOrd="9" destOrd="0" presId="urn:microsoft.com/office/officeart/2005/8/layout/vProcess5"/>
    <dgm:cxn modelId="{2FADEECC-46DB-46BB-B48B-B0FF5CB8D84F}" type="presParOf" srcId="{3CD8D4C4-5CA8-422A-A5C0-D5A5251EF640}" destId="{0EE83038-B8B8-4B66-B31D-062A29763713}" srcOrd="10" destOrd="0" presId="urn:microsoft.com/office/officeart/2005/8/layout/vProcess5"/>
    <dgm:cxn modelId="{DCFC3D35-AA52-4766-9A78-94577252234F}" type="presParOf" srcId="{3CD8D4C4-5CA8-422A-A5C0-D5A5251EF640}" destId="{3544F0A0-044C-4732-8B6D-7941F67B16D1}" srcOrd="11" destOrd="0" presId="urn:microsoft.com/office/officeart/2005/8/layout/vProcess5"/>
    <dgm:cxn modelId="{1FFD8CC4-26F4-4A8B-9297-73ECA8A69509}" type="presParOf" srcId="{3CD8D4C4-5CA8-422A-A5C0-D5A5251EF640}" destId="{9A519DEC-E69A-46C7-BA04-AF62FDFE34EC}" srcOrd="12" destOrd="0" presId="urn:microsoft.com/office/officeart/2005/8/layout/vProcess5"/>
    <dgm:cxn modelId="{D6A1210E-A7A3-4FCB-8AED-D8D1984ED489}" type="presParOf" srcId="{3CD8D4C4-5CA8-422A-A5C0-D5A5251EF640}" destId="{946B5006-7671-45C9-A1B6-C316308726AC}" srcOrd="13" destOrd="0" presId="urn:microsoft.com/office/officeart/2005/8/layout/vProcess5"/>
    <dgm:cxn modelId="{7A7373F3-B6A1-461D-8410-FFD232F92162}" type="presParOf" srcId="{3CD8D4C4-5CA8-422A-A5C0-D5A5251EF640}" destId="{D35CF136-470A-4ECE-BAC9-845103A8A7DC}"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5D13F44-9F05-463A-BB19-9211185720E2}"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IN"/>
        </a:p>
      </dgm:t>
    </dgm:pt>
    <dgm:pt modelId="{14C89687-36AC-460B-9058-0E0602C1BE72}">
      <dgm:prSet phldrT="[Text]"/>
      <dgm:spPr/>
      <dgm:t>
        <a:bodyPr/>
        <a:lstStyle/>
        <a:p>
          <a:r>
            <a:rPr lang="en-US" b="1" dirty="0"/>
            <a:t>Sales &amp; Profit Relationship</a:t>
          </a:r>
          <a:endParaRPr lang="en-IN" dirty="0"/>
        </a:p>
      </dgm:t>
    </dgm:pt>
    <dgm:pt modelId="{4A8C64E2-7C5E-4AAC-9C6D-FEECFA7B3A2F}" type="parTrans" cxnId="{C92335DD-E42B-46C7-ABA3-9BAB0127B693}">
      <dgm:prSet/>
      <dgm:spPr/>
      <dgm:t>
        <a:bodyPr/>
        <a:lstStyle/>
        <a:p>
          <a:endParaRPr lang="en-IN"/>
        </a:p>
      </dgm:t>
    </dgm:pt>
    <dgm:pt modelId="{BB3FA7D8-52AC-4255-9C62-15407A377B4C}" type="sibTrans" cxnId="{C92335DD-E42B-46C7-ABA3-9BAB0127B693}">
      <dgm:prSet/>
      <dgm:spPr/>
      <dgm:t>
        <a:bodyPr/>
        <a:lstStyle/>
        <a:p>
          <a:endParaRPr lang="en-IN"/>
        </a:p>
      </dgm:t>
    </dgm:pt>
    <dgm:pt modelId="{E495C5C7-65ED-4B2B-9EBD-02652BC9A0D6}">
      <dgm:prSet phldrT="[Text]"/>
      <dgm:spPr/>
      <dgm:t>
        <a:bodyPr/>
        <a:lstStyle/>
        <a:p>
          <a:pPr>
            <a:buFont typeface="Arial" panose="020B0604020202020204" pitchFamily="34" charset="0"/>
            <a:buChar char="•"/>
          </a:pPr>
          <a:r>
            <a:rPr lang="en-US" dirty="0"/>
            <a:t>A moderately strong correlation confirms that higher sales generally lead to higher profits.</a:t>
          </a:r>
          <a:endParaRPr lang="en-IN" dirty="0"/>
        </a:p>
      </dgm:t>
    </dgm:pt>
    <dgm:pt modelId="{0CDA4DCC-01A0-440F-965B-AF5265FE42E9}" type="parTrans" cxnId="{8804C178-0A63-468D-B271-D103D301CE5A}">
      <dgm:prSet/>
      <dgm:spPr/>
      <dgm:t>
        <a:bodyPr/>
        <a:lstStyle/>
        <a:p>
          <a:endParaRPr lang="en-IN"/>
        </a:p>
      </dgm:t>
    </dgm:pt>
    <dgm:pt modelId="{B67B7E47-5FA2-4B13-A599-1FE2EE29A79A}" type="sibTrans" cxnId="{8804C178-0A63-468D-B271-D103D301CE5A}">
      <dgm:prSet/>
      <dgm:spPr/>
      <dgm:t>
        <a:bodyPr/>
        <a:lstStyle/>
        <a:p>
          <a:endParaRPr lang="en-IN"/>
        </a:p>
      </dgm:t>
    </dgm:pt>
    <dgm:pt modelId="{7F924B01-5194-408C-836F-B7BAD5BAE34F}">
      <dgm:prSet phldrT="[Text]"/>
      <dgm:spPr/>
      <dgm:t>
        <a:bodyPr/>
        <a:lstStyle/>
        <a:p>
          <a:r>
            <a:rPr lang="en-US" b="1" dirty="0"/>
            <a:t>Impact of Discounts</a:t>
          </a:r>
          <a:endParaRPr lang="en-IN" dirty="0"/>
        </a:p>
      </dgm:t>
    </dgm:pt>
    <dgm:pt modelId="{3D57404A-A4BD-47A5-8C3F-D0D802D0DF90}" type="parTrans" cxnId="{EA9A07AF-A01E-47FE-B9DF-29789C2F0D61}">
      <dgm:prSet/>
      <dgm:spPr/>
      <dgm:t>
        <a:bodyPr/>
        <a:lstStyle/>
        <a:p>
          <a:endParaRPr lang="en-IN"/>
        </a:p>
      </dgm:t>
    </dgm:pt>
    <dgm:pt modelId="{09076CA1-5C03-4C19-BCEA-D62F74E99E12}" type="sibTrans" cxnId="{EA9A07AF-A01E-47FE-B9DF-29789C2F0D61}">
      <dgm:prSet/>
      <dgm:spPr/>
      <dgm:t>
        <a:bodyPr/>
        <a:lstStyle/>
        <a:p>
          <a:endParaRPr lang="en-IN"/>
        </a:p>
      </dgm:t>
    </dgm:pt>
    <dgm:pt modelId="{FDE65C16-F127-46EB-AAA1-2F183ECD6908}">
      <dgm:prSet phldrT="[Text]"/>
      <dgm:spPr/>
      <dgm:t>
        <a:bodyPr/>
        <a:lstStyle/>
        <a:p>
          <a:r>
            <a:rPr lang="en-US" dirty="0"/>
            <a:t>Excessive discounts negatively affect profitability, meaning a careful discounting strategy is crucial.</a:t>
          </a:r>
          <a:endParaRPr lang="en-IN" dirty="0"/>
        </a:p>
      </dgm:t>
    </dgm:pt>
    <dgm:pt modelId="{2C228BB9-1CE1-4D46-B8FE-08821FD97C76}" type="parTrans" cxnId="{D2747296-11EA-44ED-BC92-633BF61AFC2A}">
      <dgm:prSet/>
      <dgm:spPr/>
      <dgm:t>
        <a:bodyPr/>
        <a:lstStyle/>
        <a:p>
          <a:endParaRPr lang="en-IN"/>
        </a:p>
      </dgm:t>
    </dgm:pt>
    <dgm:pt modelId="{B8D27850-F5EB-425B-BA4B-F54D39D3FB8B}" type="sibTrans" cxnId="{D2747296-11EA-44ED-BC92-633BF61AFC2A}">
      <dgm:prSet/>
      <dgm:spPr/>
      <dgm:t>
        <a:bodyPr/>
        <a:lstStyle/>
        <a:p>
          <a:endParaRPr lang="en-IN"/>
        </a:p>
      </dgm:t>
    </dgm:pt>
    <dgm:pt modelId="{2ECC98D3-367B-4CFE-8AB6-E34FD1ABCECE}">
      <dgm:prSet phldrT="[Text]"/>
      <dgm:spPr/>
      <dgm:t>
        <a:bodyPr/>
        <a:lstStyle/>
        <a:p>
          <a:r>
            <a:rPr lang="en-US" b="1" dirty="0"/>
            <a:t>Quantity Sold</a:t>
          </a:r>
          <a:endParaRPr lang="en-IN" dirty="0"/>
        </a:p>
      </dgm:t>
    </dgm:pt>
    <dgm:pt modelId="{39D8FEB1-5070-4FAA-B76F-F0DDFA13511E}" type="parTrans" cxnId="{CE52B626-5790-477A-A708-80EBD22ED3C4}">
      <dgm:prSet/>
      <dgm:spPr/>
      <dgm:t>
        <a:bodyPr/>
        <a:lstStyle/>
        <a:p>
          <a:endParaRPr lang="en-IN"/>
        </a:p>
      </dgm:t>
    </dgm:pt>
    <dgm:pt modelId="{1C5B62DB-6DEE-4BC4-8B68-7079C3E03354}" type="sibTrans" cxnId="{CE52B626-5790-477A-A708-80EBD22ED3C4}">
      <dgm:prSet/>
      <dgm:spPr/>
      <dgm:t>
        <a:bodyPr/>
        <a:lstStyle/>
        <a:p>
          <a:endParaRPr lang="en-IN"/>
        </a:p>
      </dgm:t>
    </dgm:pt>
    <dgm:pt modelId="{A70F92FB-CAB2-4500-BA49-CD4CE9972CE0}">
      <dgm:prSet phldrT="[Text]"/>
      <dgm:spPr/>
      <dgm:t>
        <a:bodyPr/>
        <a:lstStyle/>
        <a:p>
          <a:pPr>
            <a:buFont typeface="Arial" panose="020B0604020202020204" pitchFamily="34" charset="0"/>
            <a:buChar char="•"/>
          </a:pPr>
          <a:r>
            <a:rPr lang="en-US" dirty="0"/>
            <a:t>Selling more items does not significantly boost revenue or profit, suggesting that pricing and product mix are more important than sheer volume.</a:t>
          </a:r>
          <a:endParaRPr lang="en-IN" dirty="0"/>
        </a:p>
      </dgm:t>
    </dgm:pt>
    <dgm:pt modelId="{A5581DB8-B69D-4ED7-81C0-B35C379622AB}" type="parTrans" cxnId="{5B45D7CF-1F2B-41B9-BDF6-53A3812A0F8A}">
      <dgm:prSet/>
      <dgm:spPr/>
      <dgm:t>
        <a:bodyPr/>
        <a:lstStyle/>
        <a:p>
          <a:endParaRPr lang="en-IN"/>
        </a:p>
      </dgm:t>
    </dgm:pt>
    <dgm:pt modelId="{445BCA5B-F6D6-40FB-BD32-7541ECFA34DF}" type="sibTrans" cxnId="{5B45D7CF-1F2B-41B9-BDF6-53A3812A0F8A}">
      <dgm:prSet/>
      <dgm:spPr/>
      <dgm:t>
        <a:bodyPr/>
        <a:lstStyle/>
        <a:p>
          <a:endParaRPr lang="en-IN"/>
        </a:p>
      </dgm:t>
    </dgm:pt>
    <dgm:pt modelId="{EE85AFF3-E5B5-4853-8E7B-2BD6CE9D5F2B}">
      <dgm:prSet/>
      <dgm:spPr/>
      <dgm:t>
        <a:bodyPr/>
        <a:lstStyle/>
        <a:p>
          <a:r>
            <a:rPr lang="en-US" dirty="0"/>
            <a:t>Predictive Modelling</a:t>
          </a:r>
        </a:p>
      </dgm:t>
    </dgm:pt>
    <dgm:pt modelId="{418D2A68-963D-4777-831E-E42E7EF2F459}" type="parTrans" cxnId="{4EC0FD13-E01F-4B87-B378-9851CCB28016}">
      <dgm:prSet/>
      <dgm:spPr/>
      <dgm:t>
        <a:bodyPr/>
        <a:lstStyle/>
        <a:p>
          <a:endParaRPr lang="en-IN"/>
        </a:p>
      </dgm:t>
    </dgm:pt>
    <dgm:pt modelId="{100DA845-D7A7-4611-B670-B4C90F13331C}" type="sibTrans" cxnId="{4EC0FD13-E01F-4B87-B378-9851CCB28016}">
      <dgm:prSet/>
      <dgm:spPr/>
      <dgm:t>
        <a:bodyPr/>
        <a:lstStyle/>
        <a:p>
          <a:endParaRPr lang="en-IN"/>
        </a:p>
      </dgm:t>
    </dgm:pt>
    <dgm:pt modelId="{150F7E5B-BD21-4769-9717-C0574548EBBF}">
      <dgm:prSet/>
      <dgm:spPr/>
      <dgm:t>
        <a:bodyPr/>
        <a:lstStyle/>
        <a:p>
          <a:r>
            <a:rPr lang="en-US" b="1" dirty="0"/>
            <a:t>Linear Regression:</a:t>
          </a:r>
          <a:r>
            <a:rPr lang="en-US" dirty="0"/>
            <a:t> Sales predictions showed inconsistent performance, suggesting non-linear relationships.</a:t>
          </a:r>
        </a:p>
      </dgm:t>
    </dgm:pt>
    <dgm:pt modelId="{53C6ED6F-D72B-4E14-AA18-4C881878CFF6}" type="parTrans" cxnId="{C09FBC7C-AE3A-46F0-8B71-1848B50E0D24}">
      <dgm:prSet/>
      <dgm:spPr/>
      <dgm:t>
        <a:bodyPr/>
        <a:lstStyle/>
        <a:p>
          <a:endParaRPr lang="en-IN"/>
        </a:p>
      </dgm:t>
    </dgm:pt>
    <dgm:pt modelId="{266C5DF1-451F-4979-9C8C-E8D264C12A63}" type="sibTrans" cxnId="{C09FBC7C-AE3A-46F0-8B71-1848B50E0D24}">
      <dgm:prSet/>
      <dgm:spPr/>
      <dgm:t>
        <a:bodyPr/>
        <a:lstStyle/>
        <a:p>
          <a:endParaRPr lang="en-IN"/>
        </a:p>
      </dgm:t>
    </dgm:pt>
    <dgm:pt modelId="{98585631-9988-4A07-BB3E-EC889A659C98}">
      <dgm:prSet/>
      <dgm:spPr/>
      <dgm:t>
        <a:bodyPr/>
        <a:lstStyle/>
        <a:p>
          <a:r>
            <a:rPr lang="en-US" b="1" dirty="0"/>
            <a:t>Logistic Regression:</a:t>
          </a:r>
          <a:r>
            <a:rPr lang="en-US" dirty="0"/>
            <a:t> The model performed exceptionally well in classifying product categories</a:t>
          </a:r>
        </a:p>
      </dgm:t>
    </dgm:pt>
    <dgm:pt modelId="{79142B95-635C-4658-8AE9-5374151870B4}" type="parTrans" cxnId="{3C71A9C5-0765-4AA7-9A97-4FF51BD6122B}">
      <dgm:prSet/>
      <dgm:spPr/>
      <dgm:t>
        <a:bodyPr/>
        <a:lstStyle/>
        <a:p>
          <a:endParaRPr lang="en-IN"/>
        </a:p>
      </dgm:t>
    </dgm:pt>
    <dgm:pt modelId="{F84AFBD3-5185-4C7B-859D-3A906E830D1C}" type="sibTrans" cxnId="{3C71A9C5-0765-4AA7-9A97-4FF51BD6122B}">
      <dgm:prSet/>
      <dgm:spPr/>
      <dgm:t>
        <a:bodyPr/>
        <a:lstStyle/>
        <a:p>
          <a:endParaRPr lang="en-IN"/>
        </a:p>
      </dgm:t>
    </dgm:pt>
    <dgm:pt modelId="{1AAD8BCB-180B-44FE-ABED-BEC9289F0D17}" type="pres">
      <dgm:prSet presAssocID="{45D13F44-9F05-463A-BB19-9211185720E2}" presName="linearFlow" presStyleCnt="0">
        <dgm:presLayoutVars>
          <dgm:dir/>
          <dgm:animLvl val="lvl"/>
          <dgm:resizeHandles val="exact"/>
        </dgm:presLayoutVars>
      </dgm:prSet>
      <dgm:spPr/>
    </dgm:pt>
    <dgm:pt modelId="{4D5507D1-A51E-4B64-812D-103B41C00522}" type="pres">
      <dgm:prSet presAssocID="{14C89687-36AC-460B-9058-0E0602C1BE72}" presName="composite" presStyleCnt="0"/>
      <dgm:spPr/>
    </dgm:pt>
    <dgm:pt modelId="{AA46241E-3A39-4F18-9578-979FD7EA6A03}" type="pres">
      <dgm:prSet presAssocID="{14C89687-36AC-460B-9058-0E0602C1BE72}" presName="parentText" presStyleLbl="alignNode1" presStyleIdx="0" presStyleCnt="4">
        <dgm:presLayoutVars>
          <dgm:chMax val="1"/>
          <dgm:bulletEnabled val="1"/>
        </dgm:presLayoutVars>
      </dgm:prSet>
      <dgm:spPr/>
    </dgm:pt>
    <dgm:pt modelId="{44E58623-E194-4DA9-B298-FE175F791088}" type="pres">
      <dgm:prSet presAssocID="{14C89687-36AC-460B-9058-0E0602C1BE72}" presName="descendantText" presStyleLbl="alignAcc1" presStyleIdx="0" presStyleCnt="4" custLinFactNeighborX="6" custLinFactNeighborY="-1354">
        <dgm:presLayoutVars>
          <dgm:bulletEnabled val="1"/>
        </dgm:presLayoutVars>
      </dgm:prSet>
      <dgm:spPr/>
    </dgm:pt>
    <dgm:pt modelId="{092A4D8A-5EAF-4430-99D2-EA5D478851A5}" type="pres">
      <dgm:prSet presAssocID="{BB3FA7D8-52AC-4255-9C62-15407A377B4C}" presName="sp" presStyleCnt="0"/>
      <dgm:spPr/>
    </dgm:pt>
    <dgm:pt modelId="{C66024DF-78DE-4D2C-B03D-4A405D260435}" type="pres">
      <dgm:prSet presAssocID="{7F924B01-5194-408C-836F-B7BAD5BAE34F}" presName="composite" presStyleCnt="0"/>
      <dgm:spPr/>
    </dgm:pt>
    <dgm:pt modelId="{8B69F776-BC03-43A7-BA24-E203044AABBA}" type="pres">
      <dgm:prSet presAssocID="{7F924B01-5194-408C-836F-B7BAD5BAE34F}" presName="parentText" presStyleLbl="alignNode1" presStyleIdx="1" presStyleCnt="4">
        <dgm:presLayoutVars>
          <dgm:chMax val="1"/>
          <dgm:bulletEnabled val="1"/>
        </dgm:presLayoutVars>
      </dgm:prSet>
      <dgm:spPr/>
    </dgm:pt>
    <dgm:pt modelId="{55D6E700-33E5-4272-AF11-077A44CBCB46}" type="pres">
      <dgm:prSet presAssocID="{7F924B01-5194-408C-836F-B7BAD5BAE34F}" presName="descendantText" presStyleLbl="alignAcc1" presStyleIdx="1" presStyleCnt="4">
        <dgm:presLayoutVars>
          <dgm:bulletEnabled val="1"/>
        </dgm:presLayoutVars>
      </dgm:prSet>
      <dgm:spPr/>
    </dgm:pt>
    <dgm:pt modelId="{2F5E35FB-FFDC-4516-AE14-F47BA28C3B43}" type="pres">
      <dgm:prSet presAssocID="{09076CA1-5C03-4C19-BCEA-D62F74E99E12}" presName="sp" presStyleCnt="0"/>
      <dgm:spPr/>
    </dgm:pt>
    <dgm:pt modelId="{1E65DC89-2D5D-425D-87A5-9BE72272623D}" type="pres">
      <dgm:prSet presAssocID="{2ECC98D3-367B-4CFE-8AB6-E34FD1ABCECE}" presName="composite" presStyleCnt="0"/>
      <dgm:spPr/>
    </dgm:pt>
    <dgm:pt modelId="{59117684-6456-422D-A0A8-0F3E7C70EB8B}" type="pres">
      <dgm:prSet presAssocID="{2ECC98D3-367B-4CFE-8AB6-E34FD1ABCECE}" presName="parentText" presStyleLbl="alignNode1" presStyleIdx="2" presStyleCnt="4">
        <dgm:presLayoutVars>
          <dgm:chMax val="1"/>
          <dgm:bulletEnabled val="1"/>
        </dgm:presLayoutVars>
      </dgm:prSet>
      <dgm:spPr/>
    </dgm:pt>
    <dgm:pt modelId="{1F92A4F9-CD65-428B-BA8A-6108A2D8FC9B}" type="pres">
      <dgm:prSet presAssocID="{2ECC98D3-367B-4CFE-8AB6-E34FD1ABCECE}" presName="descendantText" presStyleLbl="alignAcc1" presStyleIdx="2" presStyleCnt="4">
        <dgm:presLayoutVars>
          <dgm:bulletEnabled val="1"/>
        </dgm:presLayoutVars>
      </dgm:prSet>
      <dgm:spPr/>
    </dgm:pt>
    <dgm:pt modelId="{ED1BC3DE-4E80-4F6B-8C8C-ECB8ADF00EA4}" type="pres">
      <dgm:prSet presAssocID="{1C5B62DB-6DEE-4BC4-8B68-7079C3E03354}" presName="sp" presStyleCnt="0"/>
      <dgm:spPr/>
    </dgm:pt>
    <dgm:pt modelId="{46DE3384-A949-422C-BC7A-884A807AADBB}" type="pres">
      <dgm:prSet presAssocID="{EE85AFF3-E5B5-4853-8E7B-2BD6CE9D5F2B}" presName="composite" presStyleCnt="0"/>
      <dgm:spPr/>
    </dgm:pt>
    <dgm:pt modelId="{07FB8063-309B-4866-8A9F-1597C530270D}" type="pres">
      <dgm:prSet presAssocID="{EE85AFF3-E5B5-4853-8E7B-2BD6CE9D5F2B}" presName="parentText" presStyleLbl="alignNode1" presStyleIdx="3" presStyleCnt="4">
        <dgm:presLayoutVars>
          <dgm:chMax val="1"/>
          <dgm:bulletEnabled val="1"/>
        </dgm:presLayoutVars>
      </dgm:prSet>
      <dgm:spPr/>
    </dgm:pt>
    <dgm:pt modelId="{7FC424B6-C0CB-444C-A5D9-6AA9DDAE436A}" type="pres">
      <dgm:prSet presAssocID="{EE85AFF3-E5B5-4853-8E7B-2BD6CE9D5F2B}" presName="descendantText" presStyleLbl="alignAcc1" presStyleIdx="3" presStyleCnt="4">
        <dgm:presLayoutVars>
          <dgm:bulletEnabled val="1"/>
        </dgm:presLayoutVars>
      </dgm:prSet>
      <dgm:spPr/>
    </dgm:pt>
  </dgm:ptLst>
  <dgm:cxnLst>
    <dgm:cxn modelId="{4EC0FD13-E01F-4B87-B378-9851CCB28016}" srcId="{45D13F44-9F05-463A-BB19-9211185720E2}" destId="{EE85AFF3-E5B5-4853-8E7B-2BD6CE9D5F2B}" srcOrd="3" destOrd="0" parTransId="{418D2A68-963D-4777-831E-E42E7EF2F459}" sibTransId="{100DA845-D7A7-4611-B670-B4C90F13331C}"/>
    <dgm:cxn modelId="{19BB6D14-E80E-4B8E-9FB9-AE6CCF42E94D}" type="presOf" srcId="{EE85AFF3-E5B5-4853-8E7B-2BD6CE9D5F2B}" destId="{07FB8063-309B-4866-8A9F-1597C530270D}" srcOrd="0" destOrd="0" presId="urn:microsoft.com/office/officeart/2005/8/layout/chevron2"/>
    <dgm:cxn modelId="{CE52B626-5790-477A-A708-80EBD22ED3C4}" srcId="{45D13F44-9F05-463A-BB19-9211185720E2}" destId="{2ECC98D3-367B-4CFE-8AB6-E34FD1ABCECE}" srcOrd="2" destOrd="0" parTransId="{39D8FEB1-5070-4FAA-B76F-F0DDFA13511E}" sibTransId="{1C5B62DB-6DEE-4BC4-8B68-7079C3E03354}"/>
    <dgm:cxn modelId="{283D3247-22DF-46DE-9CC0-F4A0DD946B25}" type="presOf" srcId="{A70F92FB-CAB2-4500-BA49-CD4CE9972CE0}" destId="{1F92A4F9-CD65-428B-BA8A-6108A2D8FC9B}" srcOrd="0" destOrd="0" presId="urn:microsoft.com/office/officeart/2005/8/layout/chevron2"/>
    <dgm:cxn modelId="{1E43DC49-B720-47C1-9F83-37D8E487210C}" type="presOf" srcId="{150F7E5B-BD21-4769-9717-C0574548EBBF}" destId="{7FC424B6-C0CB-444C-A5D9-6AA9DDAE436A}" srcOrd="0" destOrd="1" presId="urn:microsoft.com/office/officeart/2005/8/layout/chevron2"/>
    <dgm:cxn modelId="{8804C178-0A63-468D-B271-D103D301CE5A}" srcId="{14C89687-36AC-460B-9058-0E0602C1BE72}" destId="{E495C5C7-65ED-4B2B-9EBD-02652BC9A0D6}" srcOrd="0" destOrd="0" parTransId="{0CDA4DCC-01A0-440F-965B-AF5265FE42E9}" sibTransId="{B67B7E47-5FA2-4B13-A599-1FE2EE29A79A}"/>
    <dgm:cxn modelId="{C09FBC7C-AE3A-46F0-8B71-1848B50E0D24}" srcId="{EE85AFF3-E5B5-4853-8E7B-2BD6CE9D5F2B}" destId="{150F7E5B-BD21-4769-9717-C0574548EBBF}" srcOrd="1" destOrd="0" parTransId="{53C6ED6F-D72B-4E14-AA18-4C881878CFF6}" sibTransId="{266C5DF1-451F-4979-9C8C-E8D264C12A63}"/>
    <dgm:cxn modelId="{A00F6E87-1A98-4A97-BCCB-8D806E1ECF28}" type="presOf" srcId="{FDE65C16-F127-46EB-AAA1-2F183ECD6908}" destId="{55D6E700-33E5-4272-AF11-077A44CBCB46}" srcOrd="0" destOrd="0" presId="urn:microsoft.com/office/officeart/2005/8/layout/chevron2"/>
    <dgm:cxn modelId="{D2747296-11EA-44ED-BC92-633BF61AFC2A}" srcId="{7F924B01-5194-408C-836F-B7BAD5BAE34F}" destId="{FDE65C16-F127-46EB-AAA1-2F183ECD6908}" srcOrd="0" destOrd="0" parTransId="{2C228BB9-1CE1-4D46-B8FE-08821FD97C76}" sibTransId="{B8D27850-F5EB-425B-BA4B-F54D39D3FB8B}"/>
    <dgm:cxn modelId="{1955F1A2-88E9-40DB-A613-0098161BF404}" type="presOf" srcId="{2ECC98D3-367B-4CFE-8AB6-E34FD1ABCECE}" destId="{59117684-6456-422D-A0A8-0F3E7C70EB8B}" srcOrd="0" destOrd="0" presId="urn:microsoft.com/office/officeart/2005/8/layout/chevron2"/>
    <dgm:cxn modelId="{EA9A07AF-A01E-47FE-B9DF-29789C2F0D61}" srcId="{45D13F44-9F05-463A-BB19-9211185720E2}" destId="{7F924B01-5194-408C-836F-B7BAD5BAE34F}" srcOrd="1" destOrd="0" parTransId="{3D57404A-A4BD-47A5-8C3F-D0D802D0DF90}" sibTransId="{09076CA1-5C03-4C19-BCEA-D62F74E99E12}"/>
    <dgm:cxn modelId="{EEE7FBBA-88D8-45F5-9879-09EABE6C97DA}" type="presOf" srcId="{14C89687-36AC-460B-9058-0E0602C1BE72}" destId="{AA46241E-3A39-4F18-9578-979FD7EA6A03}" srcOrd="0" destOrd="0" presId="urn:microsoft.com/office/officeart/2005/8/layout/chevron2"/>
    <dgm:cxn modelId="{55198FC2-EABB-498A-BF51-F242CCEE1473}" type="presOf" srcId="{98585631-9988-4A07-BB3E-EC889A659C98}" destId="{7FC424B6-C0CB-444C-A5D9-6AA9DDAE436A}" srcOrd="0" destOrd="0" presId="urn:microsoft.com/office/officeart/2005/8/layout/chevron2"/>
    <dgm:cxn modelId="{3C71A9C5-0765-4AA7-9A97-4FF51BD6122B}" srcId="{EE85AFF3-E5B5-4853-8E7B-2BD6CE9D5F2B}" destId="{98585631-9988-4A07-BB3E-EC889A659C98}" srcOrd="0" destOrd="0" parTransId="{79142B95-635C-4658-8AE9-5374151870B4}" sibTransId="{F84AFBD3-5185-4C7B-859D-3A906E830D1C}"/>
    <dgm:cxn modelId="{3F6D47C8-14A7-4CA1-81B8-E092919DC403}" type="presOf" srcId="{E495C5C7-65ED-4B2B-9EBD-02652BC9A0D6}" destId="{44E58623-E194-4DA9-B298-FE175F791088}" srcOrd="0" destOrd="0" presId="urn:microsoft.com/office/officeart/2005/8/layout/chevron2"/>
    <dgm:cxn modelId="{5B45D7CF-1F2B-41B9-BDF6-53A3812A0F8A}" srcId="{2ECC98D3-367B-4CFE-8AB6-E34FD1ABCECE}" destId="{A70F92FB-CAB2-4500-BA49-CD4CE9972CE0}" srcOrd="0" destOrd="0" parTransId="{A5581DB8-B69D-4ED7-81C0-B35C379622AB}" sibTransId="{445BCA5B-F6D6-40FB-BD32-7541ECFA34DF}"/>
    <dgm:cxn modelId="{C92335DD-E42B-46C7-ABA3-9BAB0127B693}" srcId="{45D13F44-9F05-463A-BB19-9211185720E2}" destId="{14C89687-36AC-460B-9058-0E0602C1BE72}" srcOrd="0" destOrd="0" parTransId="{4A8C64E2-7C5E-4AAC-9C6D-FEECFA7B3A2F}" sibTransId="{BB3FA7D8-52AC-4255-9C62-15407A377B4C}"/>
    <dgm:cxn modelId="{3B2DFBF3-0695-423F-8EB7-A19D3C73F8EC}" type="presOf" srcId="{45D13F44-9F05-463A-BB19-9211185720E2}" destId="{1AAD8BCB-180B-44FE-ABED-BEC9289F0D17}" srcOrd="0" destOrd="0" presId="urn:microsoft.com/office/officeart/2005/8/layout/chevron2"/>
    <dgm:cxn modelId="{EEF45AFA-0101-49F9-8FB2-AA047380F761}" type="presOf" srcId="{7F924B01-5194-408C-836F-B7BAD5BAE34F}" destId="{8B69F776-BC03-43A7-BA24-E203044AABBA}" srcOrd="0" destOrd="0" presId="urn:microsoft.com/office/officeart/2005/8/layout/chevron2"/>
    <dgm:cxn modelId="{2CC1D2D7-110F-47ED-A021-F663A80EBD44}" type="presParOf" srcId="{1AAD8BCB-180B-44FE-ABED-BEC9289F0D17}" destId="{4D5507D1-A51E-4B64-812D-103B41C00522}" srcOrd="0" destOrd="0" presId="urn:microsoft.com/office/officeart/2005/8/layout/chevron2"/>
    <dgm:cxn modelId="{E043080A-7794-48A2-BC73-4328F1753A63}" type="presParOf" srcId="{4D5507D1-A51E-4B64-812D-103B41C00522}" destId="{AA46241E-3A39-4F18-9578-979FD7EA6A03}" srcOrd="0" destOrd="0" presId="urn:microsoft.com/office/officeart/2005/8/layout/chevron2"/>
    <dgm:cxn modelId="{2A2E374C-B3DA-4503-A22C-A33A431046ED}" type="presParOf" srcId="{4D5507D1-A51E-4B64-812D-103B41C00522}" destId="{44E58623-E194-4DA9-B298-FE175F791088}" srcOrd="1" destOrd="0" presId="urn:microsoft.com/office/officeart/2005/8/layout/chevron2"/>
    <dgm:cxn modelId="{7BF68C40-3A17-44E6-91DD-B745AB51A03B}" type="presParOf" srcId="{1AAD8BCB-180B-44FE-ABED-BEC9289F0D17}" destId="{092A4D8A-5EAF-4430-99D2-EA5D478851A5}" srcOrd="1" destOrd="0" presId="urn:microsoft.com/office/officeart/2005/8/layout/chevron2"/>
    <dgm:cxn modelId="{51D2D9AC-B474-481F-8497-9615869E745B}" type="presParOf" srcId="{1AAD8BCB-180B-44FE-ABED-BEC9289F0D17}" destId="{C66024DF-78DE-4D2C-B03D-4A405D260435}" srcOrd="2" destOrd="0" presId="urn:microsoft.com/office/officeart/2005/8/layout/chevron2"/>
    <dgm:cxn modelId="{43ABC059-C9B0-4164-9AEE-CE59F46E843D}" type="presParOf" srcId="{C66024DF-78DE-4D2C-B03D-4A405D260435}" destId="{8B69F776-BC03-43A7-BA24-E203044AABBA}" srcOrd="0" destOrd="0" presId="urn:microsoft.com/office/officeart/2005/8/layout/chevron2"/>
    <dgm:cxn modelId="{98459976-FD85-46DF-9566-CFC7844B316C}" type="presParOf" srcId="{C66024DF-78DE-4D2C-B03D-4A405D260435}" destId="{55D6E700-33E5-4272-AF11-077A44CBCB46}" srcOrd="1" destOrd="0" presId="urn:microsoft.com/office/officeart/2005/8/layout/chevron2"/>
    <dgm:cxn modelId="{ACED4AF4-0920-4033-A72E-C9FE8D16EEA9}" type="presParOf" srcId="{1AAD8BCB-180B-44FE-ABED-BEC9289F0D17}" destId="{2F5E35FB-FFDC-4516-AE14-F47BA28C3B43}" srcOrd="3" destOrd="0" presId="urn:microsoft.com/office/officeart/2005/8/layout/chevron2"/>
    <dgm:cxn modelId="{1C3AB522-1B9B-404C-A435-77EBC1914A2D}" type="presParOf" srcId="{1AAD8BCB-180B-44FE-ABED-BEC9289F0D17}" destId="{1E65DC89-2D5D-425D-87A5-9BE72272623D}" srcOrd="4" destOrd="0" presId="urn:microsoft.com/office/officeart/2005/8/layout/chevron2"/>
    <dgm:cxn modelId="{BC4EE3C2-23E2-4EFC-90E9-852920EF9ACA}" type="presParOf" srcId="{1E65DC89-2D5D-425D-87A5-9BE72272623D}" destId="{59117684-6456-422D-A0A8-0F3E7C70EB8B}" srcOrd="0" destOrd="0" presId="urn:microsoft.com/office/officeart/2005/8/layout/chevron2"/>
    <dgm:cxn modelId="{F466AD3F-7672-4B6F-B6C7-87E5ACB9AE6E}" type="presParOf" srcId="{1E65DC89-2D5D-425D-87A5-9BE72272623D}" destId="{1F92A4F9-CD65-428B-BA8A-6108A2D8FC9B}" srcOrd="1" destOrd="0" presId="urn:microsoft.com/office/officeart/2005/8/layout/chevron2"/>
    <dgm:cxn modelId="{F90A3A7E-8D88-4C0A-AB35-43136616679E}" type="presParOf" srcId="{1AAD8BCB-180B-44FE-ABED-BEC9289F0D17}" destId="{ED1BC3DE-4E80-4F6B-8C8C-ECB8ADF00EA4}" srcOrd="5" destOrd="0" presId="urn:microsoft.com/office/officeart/2005/8/layout/chevron2"/>
    <dgm:cxn modelId="{502B36B1-725C-42D2-8F79-0F08CEE80F88}" type="presParOf" srcId="{1AAD8BCB-180B-44FE-ABED-BEC9289F0D17}" destId="{46DE3384-A949-422C-BC7A-884A807AADBB}" srcOrd="6" destOrd="0" presId="urn:microsoft.com/office/officeart/2005/8/layout/chevron2"/>
    <dgm:cxn modelId="{E6DF605B-AEA6-4552-AE88-D0016DBF79C4}" type="presParOf" srcId="{46DE3384-A949-422C-BC7A-884A807AADBB}" destId="{07FB8063-309B-4866-8A9F-1597C530270D}" srcOrd="0" destOrd="0" presId="urn:microsoft.com/office/officeart/2005/8/layout/chevron2"/>
    <dgm:cxn modelId="{2ED6F40C-8278-47AE-B8B2-18A6B76DE22E}" type="presParOf" srcId="{46DE3384-A949-422C-BC7A-884A807AADBB}" destId="{7FC424B6-C0CB-444C-A5D9-6AA9DDAE436A}"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00329C-CE72-4314-8A4D-448CFC2629E4}">
      <dsp:nvSpPr>
        <dsp:cNvPr id="0" name=""/>
        <dsp:cNvSpPr/>
      </dsp:nvSpPr>
      <dsp:spPr>
        <a:xfrm>
          <a:off x="1283" y="507350"/>
          <a:ext cx="4505585" cy="2861046"/>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5EE712-A4EA-4FD4-B52A-6C5B6196E9DA}">
      <dsp:nvSpPr>
        <dsp:cNvPr id="0" name=""/>
        <dsp:cNvSpPr/>
      </dsp:nvSpPr>
      <dsp:spPr>
        <a:xfrm>
          <a:off x="501904" y="982940"/>
          <a:ext cx="4505585" cy="2861046"/>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IN" sz="2700" kern="1200" dirty="0">
              <a:latin typeface="+mj-lt"/>
            </a:rPr>
            <a:t>Dataset description: Superstore </a:t>
          </a:r>
        </a:p>
      </dsp:txBody>
      <dsp:txXfrm>
        <a:off x="585701" y="1066737"/>
        <a:ext cx="4337991" cy="2693452"/>
      </dsp:txXfrm>
    </dsp:sp>
    <dsp:sp modelId="{18211D19-7016-47DD-B02F-C56E1F8FE03B}">
      <dsp:nvSpPr>
        <dsp:cNvPr id="0" name=""/>
        <dsp:cNvSpPr/>
      </dsp:nvSpPr>
      <dsp:spPr>
        <a:xfrm>
          <a:off x="5508110" y="507350"/>
          <a:ext cx="4505585" cy="2861046"/>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61E208-567F-421F-BD54-1E88D1F0C23D}">
      <dsp:nvSpPr>
        <dsp:cNvPr id="0" name=""/>
        <dsp:cNvSpPr/>
      </dsp:nvSpPr>
      <dsp:spPr>
        <a:xfrm>
          <a:off x="6008730" y="982940"/>
          <a:ext cx="4505585" cy="2861046"/>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latin typeface="Courier New" panose="02070309020205020404" pitchFamily="49" charset="0"/>
            </a:rPr>
            <a:t>The dataset contains sales details of different stores of a supermarket chain that has multiple stores in different parts of the US.</a:t>
          </a:r>
        </a:p>
      </dsp:txBody>
      <dsp:txXfrm>
        <a:off x="6092527" y="1066737"/>
        <a:ext cx="4337991" cy="26934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6FF8F2-2800-4250-85F5-5E64253A9B87}">
      <dsp:nvSpPr>
        <dsp:cNvPr id="0" name=""/>
        <dsp:cNvSpPr/>
      </dsp:nvSpPr>
      <dsp:spPr>
        <a:xfrm>
          <a:off x="0" y="0"/>
          <a:ext cx="8414428" cy="664092"/>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Import the dataset: Load the data into your analysis environment.</a:t>
          </a:r>
        </a:p>
      </dsp:txBody>
      <dsp:txXfrm>
        <a:off x="19451" y="19451"/>
        <a:ext cx="7620120" cy="625190"/>
      </dsp:txXfrm>
    </dsp:sp>
    <dsp:sp modelId="{F34AF069-5BD8-47D2-8BFB-80727E6CD5F7}">
      <dsp:nvSpPr>
        <dsp:cNvPr id="0" name=""/>
        <dsp:cNvSpPr/>
      </dsp:nvSpPr>
      <dsp:spPr>
        <a:xfrm>
          <a:off x="628350" y="756328"/>
          <a:ext cx="8414428" cy="664092"/>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Font typeface="+mj-lt"/>
            <a:buNone/>
          </a:pPr>
          <a:r>
            <a:rPr lang="en-US" sz="1800" kern="1200"/>
            <a:t>Display records: Show the first 5 and last 5 records of the dataset.</a:t>
          </a:r>
          <a:endParaRPr lang="en-IN" sz="1800" kern="1200"/>
        </a:p>
      </dsp:txBody>
      <dsp:txXfrm>
        <a:off x="647801" y="775779"/>
        <a:ext cx="7315515" cy="625190"/>
      </dsp:txXfrm>
    </dsp:sp>
    <dsp:sp modelId="{890218B3-C423-408C-9886-57E9AD163F1E}">
      <dsp:nvSpPr>
        <dsp:cNvPr id="0" name=""/>
        <dsp:cNvSpPr/>
      </dsp:nvSpPr>
      <dsp:spPr>
        <a:xfrm>
          <a:off x="1256700" y="1512656"/>
          <a:ext cx="8414428" cy="664092"/>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Font typeface="+mj-lt"/>
            <a:buNone/>
          </a:pPr>
          <a:r>
            <a:rPr lang="en-US" sz="1800" kern="1200"/>
            <a:t>Identify data types: Check and note the data types for each variable.</a:t>
          </a:r>
          <a:endParaRPr lang="en-IN" sz="1800" kern="1200"/>
        </a:p>
      </dsp:txBody>
      <dsp:txXfrm>
        <a:off x="1276151" y="1532107"/>
        <a:ext cx="7315515" cy="625190"/>
      </dsp:txXfrm>
    </dsp:sp>
    <dsp:sp modelId="{0C88424F-2DAC-467B-81E6-3B17595CA235}">
      <dsp:nvSpPr>
        <dsp:cNvPr id="0" name=""/>
        <dsp:cNvSpPr/>
      </dsp:nvSpPr>
      <dsp:spPr>
        <a:xfrm>
          <a:off x="1885050" y="2268984"/>
          <a:ext cx="8414428" cy="664092"/>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Font typeface="+mj-lt"/>
            <a:buNone/>
          </a:pPr>
          <a:r>
            <a:rPr lang="en-US" sz="1800" kern="1200"/>
            <a:t>Missing entries: Determine the number of missing entries per variable.</a:t>
          </a:r>
          <a:endParaRPr lang="en-IN" sz="1800" kern="1200"/>
        </a:p>
      </dsp:txBody>
      <dsp:txXfrm>
        <a:off x="1904501" y="2288435"/>
        <a:ext cx="7315515" cy="625190"/>
      </dsp:txXfrm>
    </dsp:sp>
    <dsp:sp modelId="{227EDA7D-16CC-4FF4-ADFA-0A38191E07FB}">
      <dsp:nvSpPr>
        <dsp:cNvPr id="0" name=""/>
        <dsp:cNvSpPr/>
      </dsp:nvSpPr>
      <dsp:spPr>
        <a:xfrm>
          <a:off x="2513400" y="3025312"/>
          <a:ext cx="8414428" cy="664092"/>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Font typeface="+mj-lt"/>
            <a:buNone/>
          </a:pPr>
          <a:r>
            <a:rPr lang="en-US" sz="1800" kern="1200"/>
            <a:t>Duplicate records: Identify and count any duplicate records.</a:t>
          </a:r>
          <a:endParaRPr lang="en-IN" sz="1800" kern="1200"/>
        </a:p>
      </dsp:txBody>
      <dsp:txXfrm>
        <a:off x="2532851" y="3044763"/>
        <a:ext cx="7315515" cy="625190"/>
      </dsp:txXfrm>
    </dsp:sp>
    <dsp:sp modelId="{498B2B54-E458-4EB2-9EAB-6248E3310B96}">
      <dsp:nvSpPr>
        <dsp:cNvPr id="0" name=""/>
        <dsp:cNvSpPr/>
      </dsp:nvSpPr>
      <dsp:spPr>
        <a:xfrm>
          <a:off x="7982767" y="485156"/>
          <a:ext cx="431660" cy="431660"/>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8079890" y="485156"/>
        <a:ext cx="237414" cy="324824"/>
      </dsp:txXfrm>
    </dsp:sp>
    <dsp:sp modelId="{8BC24924-0546-4BF4-9301-1274937B284B}">
      <dsp:nvSpPr>
        <dsp:cNvPr id="0" name=""/>
        <dsp:cNvSpPr/>
      </dsp:nvSpPr>
      <dsp:spPr>
        <a:xfrm>
          <a:off x="8611118" y="1241484"/>
          <a:ext cx="431660" cy="431660"/>
        </a:xfrm>
        <a:prstGeom prst="downArrow">
          <a:avLst>
            <a:gd name="adj1" fmla="val 55000"/>
            <a:gd name="adj2" fmla="val 45000"/>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IN" sz="1900" kern="1200"/>
        </a:p>
      </dsp:txBody>
      <dsp:txXfrm>
        <a:off x="8708241" y="1241484"/>
        <a:ext cx="237414" cy="324824"/>
      </dsp:txXfrm>
    </dsp:sp>
    <dsp:sp modelId="{4EBF125C-C027-42C4-B5CF-59631F7139B7}">
      <dsp:nvSpPr>
        <dsp:cNvPr id="0" name=""/>
        <dsp:cNvSpPr/>
      </dsp:nvSpPr>
      <dsp:spPr>
        <a:xfrm>
          <a:off x="9239468" y="1986744"/>
          <a:ext cx="431660" cy="431660"/>
        </a:xfrm>
        <a:prstGeom prst="downArrow">
          <a:avLst>
            <a:gd name="adj1" fmla="val 55000"/>
            <a:gd name="adj2" fmla="val 45000"/>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IN" sz="1900" kern="1200"/>
        </a:p>
      </dsp:txBody>
      <dsp:txXfrm>
        <a:off x="9336591" y="1986744"/>
        <a:ext cx="237414" cy="324824"/>
      </dsp:txXfrm>
    </dsp:sp>
    <dsp:sp modelId="{03F55B30-8C04-49C6-AC06-ADA2AE445EDE}">
      <dsp:nvSpPr>
        <dsp:cNvPr id="0" name=""/>
        <dsp:cNvSpPr/>
      </dsp:nvSpPr>
      <dsp:spPr>
        <a:xfrm>
          <a:off x="9867818" y="2750451"/>
          <a:ext cx="431660" cy="431660"/>
        </a:xfrm>
        <a:prstGeom prst="downArrow">
          <a:avLst>
            <a:gd name="adj1" fmla="val 55000"/>
            <a:gd name="adj2" fmla="val 45000"/>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IN" sz="1900" kern="1200"/>
        </a:p>
      </dsp:txBody>
      <dsp:txXfrm>
        <a:off x="9964941" y="2750451"/>
        <a:ext cx="237414" cy="32482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46241E-3A39-4F18-9578-979FD7EA6A03}">
      <dsp:nvSpPr>
        <dsp:cNvPr id="0" name=""/>
        <dsp:cNvSpPr/>
      </dsp:nvSpPr>
      <dsp:spPr>
        <a:xfrm rot="5400000">
          <a:off x="-214391" y="215036"/>
          <a:ext cx="1429279" cy="1000495"/>
        </a:xfrm>
        <a:prstGeom prst="chevron">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Sales &amp; Profit Relationship</a:t>
          </a:r>
          <a:endParaRPr lang="en-IN" sz="1200" kern="1200" dirty="0"/>
        </a:p>
      </dsp:txBody>
      <dsp:txXfrm rot="-5400000">
        <a:off x="2" y="500892"/>
        <a:ext cx="1000495" cy="428784"/>
      </dsp:txXfrm>
    </dsp:sp>
    <dsp:sp modelId="{44E58623-E194-4DA9-B298-FE175F791088}">
      <dsp:nvSpPr>
        <dsp:cNvPr id="0" name=""/>
        <dsp:cNvSpPr/>
      </dsp:nvSpPr>
      <dsp:spPr>
        <a:xfrm rot="5400000">
          <a:off x="4843474" y="-3842979"/>
          <a:ext cx="929031" cy="8614990"/>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a:t>A moderately strong correlation confirms that higher sales generally lead to higher profits.</a:t>
          </a:r>
          <a:endParaRPr lang="en-IN" sz="1600" kern="1200" dirty="0"/>
        </a:p>
      </dsp:txBody>
      <dsp:txXfrm rot="-5400000">
        <a:off x="1000495" y="45352"/>
        <a:ext cx="8569638" cy="838327"/>
      </dsp:txXfrm>
    </dsp:sp>
    <dsp:sp modelId="{8B69F776-BC03-43A7-BA24-E203044AABBA}">
      <dsp:nvSpPr>
        <dsp:cNvPr id="0" name=""/>
        <dsp:cNvSpPr/>
      </dsp:nvSpPr>
      <dsp:spPr>
        <a:xfrm rot="5400000">
          <a:off x="-214391" y="1499410"/>
          <a:ext cx="1429279" cy="1000495"/>
        </a:xfrm>
        <a:prstGeom prst="chevron">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Impact of Discounts</a:t>
          </a:r>
          <a:endParaRPr lang="en-IN" sz="1200" kern="1200" dirty="0"/>
        </a:p>
      </dsp:txBody>
      <dsp:txXfrm rot="-5400000">
        <a:off x="2" y="1785266"/>
        <a:ext cx="1000495" cy="428784"/>
      </dsp:txXfrm>
    </dsp:sp>
    <dsp:sp modelId="{55D6E700-33E5-4272-AF11-077A44CBCB46}">
      <dsp:nvSpPr>
        <dsp:cNvPr id="0" name=""/>
        <dsp:cNvSpPr/>
      </dsp:nvSpPr>
      <dsp:spPr>
        <a:xfrm rot="5400000">
          <a:off x="4843474" y="-2557961"/>
          <a:ext cx="929031" cy="8614990"/>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Excessive discounts negatively affect profitability, meaning a careful discounting strategy is crucial.</a:t>
          </a:r>
          <a:endParaRPr lang="en-IN" sz="1600" kern="1200" dirty="0"/>
        </a:p>
      </dsp:txBody>
      <dsp:txXfrm rot="-5400000">
        <a:off x="1000495" y="1330370"/>
        <a:ext cx="8569638" cy="838327"/>
      </dsp:txXfrm>
    </dsp:sp>
    <dsp:sp modelId="{59117684-6456-422D-A0A8-0F3E7C70EB8B}">
      <dsp:nvSpPr>
        <dsp:cNvPr id="0" name=""/>
        <dsp:cNvSpPr/>
      </dsp:nvSpPr>
      <dsp:spPr>
        <a:xfrm rot="5400000">
          <a:off x="-214391" y="2783784"/>
          <a:ext cx="1429279" cy="1000495"/>
        </a:xfrm>
        <a:prstGeom prst="chevron">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Quantity Sold</a:t>
          </a:r>
          <a:endParaRPr lang="en-IN" sz="1200" kern="1200" dirty="0"/>
        </a:p>
      </dsp:txBody>
      <dsp:txXfrm rot="-5400000">
        <a:off x="2" y="3069640"/>
        <a:ext cx="1000495" cy="428784"/>
      </dsp:txXfrm>
    </dsp:sp>
    <dsp:sp modelId="{1F92A4F9-CD65-428B-BA8A-6108A2D8FC9B}">
      <dsp:nvSpPr>
        <dsp:cNvPr id="0" name=""/>
        <dsp:cNvSpPr/>
      </dsp:nvSpPr>
      <dsp:spPr>
        <a:xfrm rot="5400000">
          <a:off x="4843474" y="-1273587"/>
          <a:ext cx="929031" cy="8614990"/>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a:t>Selling more items does not significantly boost revenue or profit, suggesting that pricing and product mix are more important than sheer volume.</a:t>
          </a:r>
          <a:endParaRPr lang="en-IN" sz="1600" kern="1200" dirty="0"/>
        </a:p>
      </dsp:txBody>
      <dsp:txXfrm rot="-5400000">
        <a:off x="1000495" y="2614744"/>
        <a:ext cx="8569638" cy="838327"/>
      </dsp:txXfrm>
    </dsp:sp>
    <dsp:sp modelId="{07FB8063-309B-4866-8A9F-1597C530270D}">
      <dsp:nvSpPr>
        <dsp:cNvPr id="0" name=""/>
        <dsp:cNvSpPr/>
      </dsp:nvSpPr>
      <dsp:spPr>
        <a:xfrm rot="5400000">
          <a:off x="-214391" y="4068157"/>
          <a:ext cx="1429279" cy="1000495"/>
        </a:xfrm>
        <a:prstGeom prst="chevron">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Predictive Modelling</a:t>
          </a:r>
        </a:p>
      </dsp:txBody>
      <dsp:txXfrm rot="-5400000">
        <a:off x="2" y="4354013"/>
        <a:ext cx="1000495" cy="428784"/>
      </dsp:txXfrm>
    </dsp:sp>
    <dsp:sp modelId="{7FC424B6-C0CB-444C-A5D9-6AA9DDAE436A}">
      <dsp:nvSpPr>
        <dsp:cNvPr id="0" name=""/>
        <dsp:cNvSpPr/>
      </dsp:nvSpPr>
      <dsp:spPr>
        <a:xfrm rot="5400000">
          <a:off x="4843474" y="10786"/>
          <a:ext cx="929031" cy="8614990"/>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b="1" kern="1200" dirty="0"/>
            <a:t>Logistic Regression:</a:t>
          </a:r>
          <a:r>
            <a:rPr lang="en-US" sz="1600" kern="1200" dirty="0"/>
            <a:t> The model performed exceptionally well in classifying product categories</a:t>
          </a:r>
        </a:p>
        <a:p>
          <a:pPr marL="171450" lvl="1" indent="-171450" algn="l" defTabSz="711200">
            <a:lnSpc>
              <a:spcPct val="90000"/>
            </a:lnSpc>
            <a:spcBef>
              <a:spcPct val="0"/>
            </a:spcBef>
            <a:spcAft>
              <a:spcPct val="15000"/>
            </a:spcAft>
            <a:buChar char="•"/>
          </a:pPr>
          <a:r>
            <a:rPr lang="en-US" sz="1600" b="1" kern="1200" dirty="0"/>
            <a:t>Linear Regression:</a:t>
          </a:r>
          <a:r>
            <a:rPr lang="en-US" sz="1600" kern="1200" dirty="0"/>
            <a:t> Sales predictions showed inconsistent performance, suggesting non-linear relationships.</a:t>
          </a:r>
        </a:p>
      </dsp:txBody>
      <dsp:txXfrm rot="-5400000">
        <a:off x="1000495" y="3899117"/>
        <a:ext cx="8569638" cy="83832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5473CA-2FAD-4ABF-8715-D02E818E38ED}" type="datetimeFigureOut">
              <a:rPr lang="en-CA" smtClean="0"/>
              <a:t>2025-02-19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02B4BF-EE6B-4A11-90E7-4DF673DD815B}" type="slidenum">
              <a:rPr lang="en-CA" smtClean="0"/>
              <a:t>‹#›</a:t>
            </a:fld>
            <a:endParaRPr lang="en-CA"/>
          </a:p>
        </p:txBody>
      </p:sp>
    </p:spTree>
    <p:extLst>
      <p:ext uri="{BB962C8B-B14F-4D97-AF65-F5344CB8AC3E}">
        <p14:creationId xmlns:p14="http://schemas.microsoft.com/office/powerpoint/2010/main" val="1492164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5302B4BF-EE6B-4A11-90E7-4DF673DD815B}" type="slidenum">
              <a:rPr lang="en-CA" smtClean="0"/>
              <a:t>5</a:t>
            </a:fld>
            <a:endParaRPr lang="en-CA"/>
          </a:p>
        </p:txBody>
      </p:sp>
    </p:spTree>
    <p:extLst>
      <p:ext uri="{BB962C8B-B14F-4D97-AF65-F5344CB8AC3E}">
        <p14:creationId xmlns:p14="http://schemas.microsoft.com/office/powerpoint/2010/main" val="35511997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521DD-4BD1-DB48-374B-92AF740EAD8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687E1C57-962A-9F73-13D2-DB6AA38DF7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FD3467BD-27C9-3107-EEB0-31A5380F0C25}"/>
              </a:ext>
            </a:extLst>
          </p:cNvPr>
          <p:cNvSpPr>
            <a:spLocks noGrp="1"/>
          </p:cNvSpPr>
          <p:nvPr>
            <p:ph type="dt" sz="half" idx="10"/>
          </p:nvPr>
        </p:nvSpPr>
        <p:spPr/>
        <p:txBody>
          <a:bodyPr/>
          <a:lstStyle/>
          <a:p>
            <a:fld id="{45426874-EAA2-4A0B-B968-1A392CFF3AD5}" type="datetimeFigureOut">
              <a:rPr lang="en-CA" smtClean="0"/>
              <a:t>2025-02-19</a:t>
            </a:fld>
            <a:endParaRPr lang="en-CA"/>
          </a:p>
        </p:txBody>
      </p:sp>
      <p:sp>
        <p:nvSpPr>
          <p:cNvPr id="5" name="Footer Placeholder 4">
            <a:extLst>
              <a:ext uri="{FF2B5EF4-FFF2-40B4-BE49-F238E27FC236}">
                <a16:creationId xmlns:a16="http://schemas.microsoft.com/office/drawing/2014/main" id="{A6AA2D7B-4014-8BE1-BFFC-B703972C007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521843B-7345-A58A-CF4C-322F30376020}"/>
              </a:ext>
            </a:extLst>
          </p:cNvPr>
          <p:cNvSpPr>
            <a:spLocks noGrp="1"/>
          </p:cNvSpPr>
          <p:nvPr>
            <p:ph type="sldNum" sz="quarter" idx="12"/>
          </p:nvPr>
        </p:nvSpPr>
        <p:spPr/>
        <p:txBody>
          <a:bodyPr/>
          <a:lstStyle/>
          <a:p>
            <a:fld id="{BD03AF83-BD32-4AF7-93D9-331ACB01C665}" type="slidenum">
              <a:rPr lang="en-CA" smtClean="0"/>
              <a:t>‹#›</a:t>
            </a:fld>
            <a:endParaRPr lang="en-CA"/>
          </a:p>
        </p:txBody>
      </p:sp>
    </p:spTree>
    <p:extLst>
      <p:ext uri="{BB962C8B-B14F-4D97-AF65-F5344CB8AC3E}">
        <p14:creationId xmlns:p14="http://schemas.microsoft.com/office/powerpoint/2010/main" val="2314945959"/>
      </p:ext>
    </p:extLst>
  </p:cSld>
  <p:clrMapOvr>
    <a:masterClrMapping/>
  </p:clrMapOvr>
  <mc:AlternateContent xmlns:mc="http://schemas.openxmlformats.org/markup-compatibility/2006" xmlns:p14="http://schemas.microsoft.com/office/powerpoint/2010/main">
    <mc:Choice Requires="p14">
      <p:transition spd="slow" p14:dur="1500">
        <p:checker/>
      </p:transition>
    </mc:Choice>
    <mc:Fallback xmlns="">
      <p:transition spd="slow">
        <p:checker/>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1B96A-D8E8-9027-78A2-AD6FBB93AEB4}"/>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F51319C6-CE49-DE63-4C39-6D64DB255C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19FA75F0-AA54-30CD-AE30-6A26416BD92E}"/>
              </a:ext>
            </a:extLst>
          </p:cNvPr>
          <p:cNvSpPr>
            <a:spLocks noGrp="1"/>
          </p:cNvSpPr>
          <p:nvPr>
            <p:ph type="dt" sz="half" idx="10"/>
          </p:nvPr>
        </p:nvSpPr>
        <p:spPr/>
        <p:txBody>
          <a:bodyPr/>
          <a:lstStyle/>
          <a:p>
            <a:fld id="{45426874-EAA2-4A0B-B968-1A392CFF3AD5}" type="datetimeFigureOut">
              <a:rPr lang="en-CA" smtClean="0"/>
              <a:t>2025-02-19</a:t>
            </a:fld>
            <a:endParaRPr lang="en-CA"/>
          </a:p>
        </p:txBody>
      </p:sp>
      <p:sp>
        <p:nvSpPr>
          <p:cNvPr id="5" name="Footer Placeholder 4">
            <a:extLst>
              <a:ext uri="{FF2B5EF4-FFF2-40B4-BE49-F238E27FC236}">
                <a16:creationId xmlns:a16="http://schemas.microsoft.com/office/drawing/2014/main" id="{BE04BD89-50FD-0AF2-BAB5-2F77199BB92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DEB521A-CA7B-77D3-DDCE-EE57AA268B52}"/>
              </a:ext>
            </a:extLst>
          </p:cNvPr>
          <p:cNvSpPr>
            <a:spLocks noGrp="1"/>
          </p:cNvSpPr>
          <p:nvPr>
            <p:ph type="sldNum" sz="quarter" idx="12"/>
          </p:nvPr>
        </p:nvSpPr>
        <p:spPr/>
        <p:txBody>
          <a:bodyPr/>
          <a:lstStyle/>
          <a:p>
            <a:fld id="{BD03AF83-BD32-4AF7-93D9-331ACB01C665}" type="slidenum">
              <a:rPr lang="en-CA" smtClean="0"/>
              <a:t>‹#›</a:t>
            </a:fld>
            <a:endParaRPr lang="en-CA"/>
          </a:p>
        </p:txBody>
      </p:sp>
    </p:spTree>
    <p:extLst>
      <p:ext uri="{BB962C8B-B14F-4D97-AF65-F5344CB8AC3E}">
        <p14:creationId xmlns:p14="http://schemas.microsoft.com/office/powerpoint/2010/main" val="1770717828"/>
      </p:ext>
    </p:extLst>
  </p:cSld>
  <p:clrMapOvr>
    <a:masterClrMapping/>
  </p:clrMapOvr>
  <mc:AlternateContent xmlns:mc="http://schemas.openxmlformats.org/markup-compatibility/2006" xmlns:p14="http://schemas.microsoft.com/office/powerpoint/2010/main">
    <mc:Choice Requires="p14">
      <p:transition spd="slow" p14:dur="1500">
        <p:checker/>
      </p:transition>
    </mc:Choice>
    <mc:Fallback xmlns="">
      <p:transition spd="slow">
        <p:checker/>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3E988-9735-233C-CE9B-3014D11E751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C18C6214-5D3F-C125-D411-ADAD41915A2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F7142A-A933-FC79-28CB-11DF573C2CBF}"/>
              </a:ext>
            </a:extLst>
          </p:cNvPr>
          <p:cNvSpPr>
            <a:spLocks noGrp="1"/>
          </p:cNvSpPr>
          <p:nvPr>
            <p:ph type="dt" sz="half" idx="10"/>
          </p:nvPr>
        </p:nvSpPr>
        <p:spPr/>
        <p:txBody>
          <a:bodyPr/>
          <a:lstStyle/>
          <a:p>
            <a:fld id="{45426874-EAA2-4A0B-B968-1A392CFF3AD5}" type="datetimeFigureOut">
              <a:rPr lang="en-CA" smtClean="0"/>
              <a:t>2025-02-19</a:t>
            </a:fld>
            <a:endParaRPr lang="en-CA"/>
          </a:p>
        </p:txBody>
      </p:sp>
      <p:sp>
        <p:nvSpPr>
          <p:cNvPr id="5" name="Footer Placeholder 4">
            <a:extLst>
              <a:ext uri="{FF2B5EF4-FFF2-40B4-BE49-F238E27FC236}">
                <a16:creationId xmlns:a16="http://schemas.microsoft.com/office/drawing/2014/main" id="{F73A39FD-E457-3DC9-1F29-493F57D99F9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EBD1FF1-8155-05A6-1D43-E979E835E0FB}"/>
              </a:ext>
            </a:extLst>
          </p:cNvPr>
          <p:cNvSpPr>
            <a:spLocks noGrp="1"/>
          </p:cNvSpPr>
          <p:nvPr>
            <p:ph type="sldNum" sz="quarter" idx="12"/>
          </p:nvPr>
        </p:nvSpPr>
        <p:spPr/>
        <p:txBody>
          <a:bodyPr/>
          <a:lstStyle/>
          <a:p>
            <a:fld id="{BD03AF83-BD32-4AF7-93D9-331ACB01C665}" type="slidenum">
              <a:rPr lang="en-CA" smtClean="0"/>
              <a:t>‹#›</a:t>
            </a:fld>
            <a:endParaRPr lang="en-CA"/>
          </a:p>
        </p:txBody>
      </p:sp>
    </p:spTree>
    <p:extLst>
      <p:ext uri="{BB962C8B-B14F-4D97-AF65-F5344CB8AC3E}">
        <p14:creationId xmlns:p14="http://schemas.microsoft.com/office/powerpoint/2010/main" val="1922032226"/>
      </p:ext>
    </p:extLst>
  </p:cSld>
  <p:clrMapOvr>
    <a:masterClrMapping/>
  </p:clrMapOvr>
  <mc:AlternateContent xmlns:mc="http://schemas.openxmlformats.org/markup-compatibility/2006" xmlns:p14="http://schemas.microsoft.com/office/powerpoint/2010/main">
    <mc:Choice Requires="p14">
      <p:transition spd="slow" p14:dur="1500">
        <p:checker/>
      </p:transition>
    </mc:Choice>
    <mc:Fallback xmlns="">
      <p:transition spd="slow">
        <p:checker/>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60857-BCE3-C50D-BCDF-020D089EF337}"/>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6EA6F5EB-D42B-4DC1-E9B2-8D2143827BC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94739DA9-38B4-107B-2A6E-6640C0778E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4E533F08-1C17-B45C-5C02-0C4D1243DB1F}"/>
              </a:ext>
            </a:extLst>
          </p:cNvPr>
          <p:cNvSpPr>
            <a:spLocks noGrp="1"/>
          </p:cNvSpPr>
          <p:nvPr>
            <p:ph type="dt" sz="half" idx="10"/>
          </p:nvPr>
        </p:nvSpPr>
        <p:spPr/>
        <p:txBody>
          <a:bodyPr/>
          <a:lstStyle/>
          <a:p>
            <a:fld id="{45426874-EAA2-4A0B-B968-1A392CFF3AD5}" type="datetimeFigureOut">
              <a:rPr lang="en-CA" smtClean="0"/>
              <a:t>2025-02-19</a:t>
            </a:fld>
            <a:endParaRPr lang="en-CA"/>
          </a:p>
        </p:txBody>
      </p:sp>
      <p:sp>
        <p:nvSpPr>
          <p:cNvPr id="6" name="Footer Placeholder 5">
            <a:extLst>
              <a:ext uri="{FF2B5EF4-FFF2-40B4-BE49-F238E27FC236}">
                <a16:creationId xmlns:a16="http://schemas.microsoft.com/office/drawing/2014/main" id="{7778EEB8-E931-64AF-7BBC-961021692443}"/>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D8EAD0BB-56B1-FBD2-9253-ACD026BBE912}"/>
              </a:ext>
            </a:extLst>
          </p:cNvPr>
          <p:cNvSpPr>
            <a:spLocks noGrp="1"/>
          </p:cNvSpPr>
          <p:nvPr>
            <p:ph type="sldNum" sz="quarter" idx="12"/>
          </p:nvPr>
        </p:nvSpPr>
        <p:spPr/>
        <p:txBody>
          <a:bodyPr/>
          <a:lstStyle/>
          <a:p>
            <a:fld id="{BD03AF83-BD32-4AF7-93D9-331ACB01C665}" type="slidenum">
              <a:rPr lang="en-CA" smtClean="0"/>
              <a:t>‹#›</a:t>
            </a:fld>
            <a:endParaRPr lang="en-CA"/>
          </a:p>
        </p:txBody>
      </p:sp>
    </p:spTree>
    <p:extLst>
      <p:ext uri="{BB962C8B-B14F-4D97-AF65-F5344CB8AC3E}">
        <p14:creationId xmlns:p14="http://schemas.microsoft.com/office/powerpoint/2010/main" val="177907757"/>
      </p:ext>
    </p:extLst>
  </p:cSld>
  <p:clrMapOvr>
    <a:masterClrMapping/>
  </p:clrMapOvr>
  <mc:AlternateContent xmlns:mc="http://schemas.openxmlformats.org/markup-compatibility/2006" xmlns:p14="http://schemas.microsoft.com/office/powerpoint/2010/main">
    <mc:Choice Requires="p14">
      <p:transition spd="slow" p14:dur="1500">
        <p:checker/>
      </p:transition>
    </mc:Choice>
    <mc:Fallback xmlns="">
      <p:transition spd="slow">
        <p:checker/>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DC345-F56F-811C-B44A-78C5EF07F6B8}"/>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8258CFC1-F0AD-035E-986F-CF2CD9EEFE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9AE6ADE-13C8-1EF4-D2F2-F69977CF37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06F6062B-577C-8A6F-02C4-4CF9469B97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B4CC15-11E9-644E-C05C-625E16565B6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7EE384D4-F490-3000-58FA-1F59AA1C418C}"/>
              </a:ext>
            </a:extLst>
          </p:cNvPr>
          <p:cNvSpPr>
            <a:spLocks noGrp="1"/>
          </p:cNvSpPr>
          <p:nvPr>
            <p:ph type="dt" sz="half" idx="10"/>
          </p:nvPr>
        </p:nvSpPr>
        <p:spPr/>
        <p:txBody>
          <a:bodyPr/>
          <a:lstStyle/>
          <a:p>
            <a:fld id="{45426874-EAA2-4A0B-B968-1A392CFF3AD5}" type="datetimeFigureOut">
              <a:rPr lang="en-CA" smtClean="0"/>
              <a:t>2025-02-19</a:t>
            </a:fld>
            <a:endParaRPr lang="en-CA"/>
          </a:p>
        </p:txBody>
      </p:sp>
      <p:sp>
        <p:nvSpPr>
          <p:cNvPr id="8" name="Footer Placeholder 7">
            <a:extLst>
              <a:ext uri="{FF2B5EF4-FFF2-40B4-BE49-F238E27FC236}">
                <a16:creationId xmlns:a16="http://schemas.microsoft.com/office/drawing/2014/main" id="{DB5A5D74-5E29-2F5B-0D06-9D89F04FC1CA}"/>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BFD9E1E1-63E6-17F0-D375-8F04EDA100C0}"/>
              </a:ext>
            </a:extLst>
          </p:cNvPr>
          <p:cNvSpPr>
            <a:spLocks noGrp="1"/>
          </p:cNvSpPr>
          <p:nvPr>
            <p:ph type="sldNum" sz="quarter" idx="12"/>
          </p:nvPr>
        </p:nvSpPr>
        <p:spPr/>
        <p:txBody>
          <a:bodyPr/>
          <a:lstStyle/>
          <a:p>
            <a:fld id="{BD03AF83-BD32-4AF7-93D9-331ACB01C665}" type="slidenum">
              <a:rPr lang="en-CA" smtClean="0"/>
              <a:t>‹#›</a:t>
            </a:fld>
            <a:endParaRPr lang="en-CA"/>
          </a:p>
        </p:txBody>
      </p:sp>
    </p:spTree>
    <p:extLst>
      <p:ext uri="{BB962C8B-B14F-4D97-AF65-F5344CB8AC3E}">
        <p14:creationId xmlns:p14="http://schemas.microsoft.com/office/powerpoint/2010/main" val="3937833045"/>
      </p:ext>
    </p:extLst>
  </p:cSld>
  <p:clrMapOvr>
    <a:masterClrMapping/>
  </p:clrMapOvr>
  <mc:AlternateContent xmlns:mc="http://schemas.openxmlformats.org/markup-compatibility/2006" xmlns:p14="http://schemas.microsoft.com/office/powerpoint/2010/main">
    <mc:Choice Requires="p14">
      <p:transition spd="slow" p14:dur="1500">
        <p:checker/>
      </p:transition>
    </mc:Choice>
    <mc:Fallback xmlns="">
      <p:transition spd="slow">
        <p:checker/>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5D725-2AAF-73D4-7951-A37F2DBED76C}"/>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640FF7F6-220F-A62C-6D8D-F2984974FEE9}"/>
              </a:ext>
            </a:extLst>
          </p:cNvPr>
          <p:cNvSpPr>
            <a:spLocks noGrp="1"/>
          </p:cNvSpPr>
          <p:nvPr>
            <p:ph type="dt" sz="half" idx="10"/>
          </p:nvPr>
        </p:nvSpPr>
        <p:spPr/>
        <p:txBody>
          <a:bodyPr/>
          <a:lstStyle/>
          <a:p>
            <a:fld id="{45426874-EAA2-4A0B-B968-1A392CFF3AD5}" type="datetimeFigureOut">
              <a:rPr lang="en-CA" smtClean="0"/>
              <a:t>2025-02-19</a:t>
            </a:fld>
            <a:endParaRPr lang="en-CA"/>
          </a:p>
        </p:txBody>
      </p:sp>
      <p:sp>
        <p:nvSpPr>
          <p:cNvPr id="4" name="Footer Placeholder 3">
            <a:extLst>
              <a:ext uri="{FF2B5EF4-FFF2-40B4-BE49-F238E27FC236}">
                <a16:creationId xmlns:a16="http://schemas.microsoft.com/office/drawing/2014/main" id="{FE5F0C41-0330-E0CA-A8A4-D9CAEA4FAB06}"/>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276B6710-38FE-75BE-CC2C-FD90DC8B5243}"/>
              </a:ext>
            </a:extLst>
          </p:cNvPr>
          <p:cNvSpPr>
            <a:spLocks noGrp="1"/>
          </p:cNvSpPr>
          <p:nvPr>
            <p:ph type="sldNum" sz="quarter" idx="12"/>
          </p:nvPr>
        </p:nvSpPr>
        <p:spPr/>
        <p:txBody>
          <a:bodyPr/>
          <a:lstStyle/>
          <a:p>
            <a:fld id="{BD03AF83-BD32-4AF7-93D9-331ACB01C665}" type="slidenum">
              <a:rPr lang="en-CA" smtClean="0"/>
              <a:t>‹#›</a:t>
            </a:fld>
            <a:endParaRPr lang="en-CA"/>
          </a:p>
        </p:txBody>
      </p:sp>
    </p:spTree>
    <p:extLst>
      <p:ext uri="{BB962C8B-B14F-4D97-AF65-F5344CB8AC3E}">
        <p14:creationId xmlns:p14="http://schemas.microsoft.com/office/powerpoint/2010/main" val="439405307"/>
      </p:ext>
    </p:extLst>
  </p:cSld>
  <p:clrMapOvr>
    <a:masterClrMapping/>
  </p:clrMapOvr>
  <mc:AlternateContent xmlns:mc="http://schemas.openxmlformats.org/markup-compatibility/2006" xmlns:p14="http://schemas.microsoft.com/office/powerpoint/2010/main">
    <mc:Choice Requires="p14">
      <p:transition spd="slow" p14:dur="1500">
        <p:checker/>
      </p:transition>
    </mc:Choice>
    <mc:Fallback xmlns="">
      <p:transition spd="slow">
        <p:checker/>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C90B0D-4427-D7BE-7380-F6EF29CC59B0}"/>
              </a:ext>
            </a:extLst>
          </p:cNvPr>
          <p:cNvSpPr>
            <a:spLocks noGrp="1"/>
          </p:cNvSpPr>
          <p:nvPr>
            <p:ph type="dt" sz="half" idx="10"/>
          </p:nvPr>
        </p:nvSpPr>
        <p:spPr/>
        <p:txBody>
          <a:bodyPr/>
          <a:lstStyle/>
          <a:p>
            <a:fld id="{45426874-EAA2-4A0B-B968-1A392CFF3AD5}" type="datetimeFigureOut">
              <a:rPr lang="en-CA" smtClean="0"/>
              <a:t>2025-02-19</a:t>
            </a:fld>
            <a:endParaRPr lang="en-CA"/>
          </a:p>
        </p:txBody>
      </p:sp>
      <p:sp>
        <p:nvSpPr>
          <p:cNvPr id="3" name="Footer Placeholder 2">
            <a:extLst>
              <a:ext uri="{FF2B5EF4-FFF2-40B4-BE49-F238E27FC236}">
                <a16:creationId xmlns:a16="http://schemas.microsoft.com/office/drawing/2014/main" id="{550413B6-8BCE-4377-BC66-5A8EB7CCEEDB}"/>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0D4D7504-7117-51E2-669A-BD9984A8B14E}"/>
              </a:ext>
            </a:extLst>
          </p:cNvPr>
          <p:cNvSpPr>
            <a:spLocks noGrp="1"/>
          </p:cNvSpPr>
          <p:nvPr>
            <p:ph type="sldNum" sz="quarter" idx="12"/>
          </p:nvPr>
        </p:nvSpPr>
        <p:spPr/>
        <p:txBody>
          <a:bodyPr/>
          <a:lstStyle/>
          <a:p>
            <a:fld id="{BD03AF83-BD32-4AF7-93D9-331ACB01C665}" type="slidenum">
              <a:rPr lang="en-CA" smtClean="0"/>
              <a:t>‹#›</a:t>
            </a:fld>
            <a:endParaRPr lang="en-CA"/>
          </a:p>
        </p:txBody>
      </p:sp>
    </p:spTree>
    <p:extLst>
      <p:ext uri="{BB962C8B-B14F-4D97-AF65-F5344CB8AC3E}">
        <p14:creationId xmlns:p14="http://schemas.microsoft.com/office/powerpoint/2010/main" val="2968181507"/>
      </p:ext>
    </p:extLst>
  </p:cSld>
  <p:clrMapOvr>
    <a:masterClrMapping/>
  </p:clrMapOvr>
  <mc:AlternateContent xmlns:mc="http://schemas.openxmlformats.org/markup-compatibility/2006" xmlns:p14="http://schemas.microsoft.com/office/powerpoint/2010/main">
    <mc:Choice Requires="p14">
      <p:transition spd="slow" p14:dur="1500">
        <p:checker/>
      </p:transition>
    </mc:Choice>
    <mc:Fallback xmlns="">
      <p:transition spd="slow">
        <p:checker/>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782A6-95E7-288E-D0E4-0AFF6C632A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BF9B9568-89F4-5EAF-333A-F4C107A2F1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D7D89EB6-0558-2EE8-1996-A784B99C95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3580BB-5F8D-60A9-DC03-A440AFBFCF36}"/>
              </a:ext>
            </a:extLst>
          </p:cNvPr>
          <p:cNvSpPr>
            <a:spLocks noGrp="1"/>
          </p:cNvSpPr>
          <p:nvPr>
            <p:ph type="dt" sz="half" idx="10"/>
          </p:nvPr>
        </p:nvSpPr>
        <p:spPr/>
        <p:txBody>
          <a:bodyPr/>
          <a:lstStyle/>
          <a:p>
            <a:fld id="{45426874-EAA2-4A0B-B968-1A392CFF3AD5}" type="datetimeFigureOut">
              <a:rPr lang="en-CA" smtClean="0"/>
              <a:t>2025-02-19</a:t>
            </a:fld>
            <a:endParaRPr lang="en-CA"/>
          </a:p>
        </p:txBody>
      </p:sp>
      <p:sp>
        <p:nvSpPr>
          <p:cNvPr id="6" name="Footer Placeholder 5">
            <a:extLst>
              <a:ext uri="{FF2B5EF4-FFF2-40B4-BE49-F238E27FC236}">
                <a16:creationId xmlns:a16="http://schemas.microsoft.com/office/drawing/2014/main" id="{060AFA77-C4C5-72A1-4B8C-A8604E592732}"/>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F7B90188-8FB0-9420-B5BB-BE8BC78C5F68}"/>
              </a:ext>
            </a:extLst>
          </p:cNvPr>
          <p:cNvSpPr>
            <a:spLocks noGrp="1"/>
          </p:cNvSpPr>
          <p:nvPr>
            <p:ph type="sldNum" sz="quarter" idx="12"/>
          </p:nvPr>
        </p:nvSpPr>
        <p:spPr/>
        <p:txBody>
          <a:bodyPr/>
          <a:lstStyle/>
          <a:p>
            <a:fld id="{BD03AF83-BD32-4AF7-93D9-331ACB01C665}" type="slidenum">
              <a:rPr lang="en-CA" smtClean="0"/>
              <a:t>‹#›</a:t>
            </a:fld>
            <a:endParaRPr lang="en-CA"/>
          </a:p>
        </p:txBody>
      </p:sp>
    </p:spTree>
    <p:extLst>
      <p:ext uri="{BB962C8B-B14F-4D97-AF65-F5344CB8AC3E}">
        <p14:creationId xmlns:p14="http://schemas.microsoft.com/office/powerpoint/2010/main" val="2893584532"/>
      </p:ext>
    </p:extLst>
  </p:cSld>
  <p:clrMapOvr>
    <a:masterClrMapping/>
  </p:clrMapOvr>
  <mc:AlternateContent xmlns:mc="http://schemas.openxmlformats.org/markup-compatibility/2006" xmlns:p14="http://schemas.microsoft.com/office/powerpoint/2010/main">
    <mc:Choice Requires="p14">
      <p:transition spd="slow" p14:dur="1500">
        <p:checker/>
      </p:transition>
    </mc:Choice>
    <mc:Fallback xmlns="">
      <p:transition spd="slow">
        <p:checker/>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28040-C6CF-CD43-7155-B9938151A4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EDFAB205-37E5-3A88-158E-26EB07F790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707DCA85-E9F3-8C35-338A-61C8EED61F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265BB8-42CD-C2E8-BABE-AE2D34FE6794}"/>
              </a:ext>
            </a:extLst>
          </p:cNvPr>
          <p:cNvSpPr>
            <a:spLocks noGrp="1"/>
          </p:cNvSpPr>
          <p:nvPr>
            <p:ph type="dt" sz="half" idx="10"/>
          </p:nvPr>
        </p:nvSpPr>
        <p:spPr/>
        <p:txBody>
          <a:bodyPr/>
          <a:lstStyle/>
          <a:p>
            <a:fld id="{45426874-EAA2-4A0B-B968-1A392CFF3AD5}" type="datetimeFigureOut">
              <a:rPr lang="en-CA" smtClean="0"/>
              <a:t>2025-02-19</a:t>
            </a:fld>
            <a:endParaRPr lang="en-CA"/>
          </a:p>
        </p:txBody>
      </p:sp>
      <p:sp>
        <p:nvSpPr>
          <p:cNvPr id="6" name="Footer Placeholder 5">
            <a:extLst>
              <a:ext uri="{FF2B5EF4-FFF2-40B4-BE49-F238E27FC236}">
                <a16:creationId xmlns:a16="http://schemas.microsoft.com/office/drawing/2014/main" id="{385067E5-107B-4DDF-4104-D957DF59A0B9}"/>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4BF3359-AC2B-5E53-BCCC-8D077A59209C}"/>
              </a:ext>
            </a:extLst>
          </p:cNvPr>
          <p:cNvSpPr>
            <a:spLocks noGrp="1"/>
          </p:cNvSpPr>
          <p:nvPr>
            <p:ph type="sldNum" sz="quarter" idx="12"/>
          </p:nvPr>
        </p:nvSpPr>
        <p:spPr/>
        <p:txBody>
          <a:bodyPr/>
          <a:lstStyle/>
          <a:p>
            <a:fld id="{BD03AF83-BD32-4AF7-93D9-331ACB01C665}" type="slidenum">
              <a:rPr lang="en-CA" smtClean="0"/>
              <a:t>‹#›</a:t>
            </a:fld>
            <a:endParaRPr lang="en-CA"/>
          </a:p>
        </p:txBody>
      </p:sp>
    </p:spTree>
    <p:extLst>
      <p:ext uri="{BB962C8B-B14F-4D97-AF65-F5344CB8AC3E}">
        <p14:creationId xmlns:p14="http://schemas.microsoft.com/office/powerpoint/2010/main" val="2407968530"/>
      </p:ext>
    </p:extLst>
  </p:cSld>
  <p:clrMapOvr>
    <a:masterClrMapping/>
  </p:clrMapOvr>
  <mc:AlternateContent xmlns:mc="http://schemas.openxmlformats.org/markup-compatibility/2006" xmlns:p14="http://schemas.microsoft.com/office/powerpoint/2010/main">
    <mc:Choice Requires="p14">
      <p:transition spd="slow" p14:dur="1500">
        <p:checker/>
      </p:transition>
    </mc:Choice>
    <mc:Fallback xmlns="">
      <p:transition spd="slow">
        <p:checker/>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E6FBF-0426-72D2-6387-0B5AB8A899A5}"/>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766FCC0F-EFD9-5A24-E7AE-AD0A7A33B8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409D4F6-6BFB-DC23-3529-AD0DE20B58D7}"/>
              </a:ext>
            </a:extLst>
          </p:cNvPr>
          <p:cNvSpPr>
            <a:spLocks noGrp="1"/>
          </p:cNvSpPr>
          <p:nvPr>
            <p:ph type="dt" sz="half" idx="10"/>
          </p:nvPr>
        </p:nvSpPr>
        <p:spPr/>
        <p:txBody>
          <a:bodyPr/>
          <a:lstStyle/>
          <a:p>
            <a:fld id="{45426874-EAA2-4A0B-B968-1A392CFF3AD5}" type="datetimeFigureOut">
              <a:rPr lang="en-CA" smtClean="0"/>
              <a:t>2025-02-19</a:t>
            </a:fld>
            <a:endParaRPr lang="en-CA"/>
          </a:p>
        </p:txBody>
      </p:sp>
      <p:sp>
        <p:nvSpPr>
          <p:cNvPr id="5" name="Footer Placeholder 4">
            <a:extLst>
              <a:ext uri="{FF2B5EF4-FFF2-40B4-BE49-F238E27FC236}">
                <a16:creationId xmlns:a16="http://schemas.microsoft.com/office/drawing/2014/main" id="{8889F818-B8DA-0AA8-ED19-662923027AD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D728884-1643-7A10-89A4-84F4F7BE513B}"/>
              </a:ext>
            </a:extLst>
          </p:cNvPr>
          <p:cNvSpPr>
            <a:spLocks noGrp="1"/>
          </p:cNvSpPr>
          <p:nvPr>
            <p:ph type="sldNum" sz="quarter" idx="12"/>
          </p:nvPr>
        </p:nvSpPr>
        <p:spPr/>
        <p:txBody>
          <a:bodyPr/>
          <a:lstStyle/>
          <a:p>
            <a:fld id="{BD03AF83-BD32-4AF7-93D9-331ACB01C665}" type="slidenum">
              <a:rPr lang="en-CA" smtClean="0"/>
              <a:t>‹#›</a:t>
            </a:fld>
            <a:endParaRPr lang="en-CA"/>
          </a:p>
        </p:txBody>
      </p:sp>
    </p:spTree>
    <p:extLst>
      <p:ext uri="{BB962C8B-B14F-4D97-AF65-F5344CB8AC3E}">
        <p14:creationId xmlns:p14="http://schemas.microsoft.com/office/powerpoint/2010/main" val="2478100148"/>
      </p:ext>
    </p:extLst>
  </p:cSld>
  <p:clrMapOvr>
    <a:masterClrMapping/>
  </p:clrMapOvr>
  <mc:AlternateContent xmlns:mc="http://schemas.openxmlformats.org/markup-compatibility/2006" xmlns:p14="http://schemas.microsoft.com/office/powerpoint/2010/main">
    <mc:Choice Requires="p14">
      <p:transition spd="slow" p14:dur="1500">
        <p:checker/>
      </p:transition>
    </mc:Choice>
    <mc:Fallback xmlns="">
      <p:transition spd="slow">
        <p:checker/>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D895B5-EB62-B258-743E-8A6A6D61DAD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6F847676-B0A8-1AC8-CDF7-A9116F4190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D0570E3-11EB-298D-2BD5-40454F8E6397}"/>
              </a:ext>
            </a:extLst>
          </p:cNvPr>
          <p:cNvSpPr>
            <a:spLocks noGrp="1"/>
          </p:cNvSpPr>
          <p:nvPr>
            <p:ph type="dt" sz="half" idx="10"/>
          </p:nvPr>
        </p:nvSpPr>
        <p:spPr/>
        <p:txBody>
          <a:bodyPr/>
          <a:lstStyle/>
          <a:p>
            <a:fld id="{45426874-EAA2-4A0B-B968-1A392CFF3AD5}" type="datetimeFigureOut">
              <a:rPr lang="en-CA" smtClean="0"/>
              <a:t>2025-02-19</a:t>
            </a:fld>
            <a:endParaRPr lang="en-CA"/>
          </a:p>
        </p:txBody>
      </p:sp>
      <p:sp>
        <p:nvSpPr>
          <p:cNvPr id="5" name="Footer Placeholder 4">
            <a:extLst>
              <a:ext uri="{FF2B5EF4-FFF2-40B4-BE49-F238E27FC236}">
                <a16:creationId xmlns:a16="http://schemas.microsoft.com/office/drawing/2014/main" id="{850D5275-6E53-AB90-A03F-8AF53BFA92F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CC165AA-FC1B-1A97-7BBD-EF0BC25E2DAF}"/>
              </a:ext>
            </a:extLst>
          </p:cNvPr>
          <p:cNvSpPr>
            <a:spLocks noGrp="1"/>
          </p:cNvSpPr>
          <p:nvPr>
            <p:ph type="sldNum" sz="quarter" idx="12"/>
          </p:nvPr>
        </p:nvSpPr>
        <p:spPr/>
        <p:txBody>
          <a:bodyPr/>
          <a:lstStyle/>
          <a:p>
            <a:fld id="{BD03AF83-BD32-4AF7-93D9-331ACB01C665}" type="slidenum">
              <a:rPr lang="en-CA" smtClean="0"/>
              <a:t>‹#›</a:t>
            </a:fld>
            <a:endParaRPr lang="en-CA"/>
          </a:p>
        </p:txBody>
      </p:sp>
    </p:spTree>
    <p:extLst>
      <p:ext uri="{BB962C8B-B14F-4D97-AF65-F5344CB8AC3E}">
        <p14:creationId xmlns:p14="http://schemas.microsoft.com/office/powerpoint/2010/main" val="3249056937"/>
      </p:ext>
    </p:extLst>
  </p:cSld>
  <p:clrMapOvr>
    <a:masterClrMapping/>
  </p:clrMapOvr>
  <mc:AlternateContent xmlns:mc="http://schemas.openxmlformats.org/markup-compatibility/2006" xmlns:p14="http://schemas.microsoft.com/office/powerpoint/2010/main">
    <mc:Choice Requires="p14">
      <p:transition spd="slow" p14:dur="1500">
        <p:checker/>
      </p:transition>
    </mc:Choice>
    <mc:Fallback xmlns="">
      <p:transition spd="slow">
        <p:checker/>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80A0A4-8998-0A94-6218-EE3555A628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538EC11E-6B12-6E69-5CCF-27CE3B6890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FEABA36-3785-0D6C-DEAC-104130C773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5426874-EAA2-4A0B-B968-1A392CFF3AD5}" type="datetimeFigureOut">
              <a:rPr lang="en-CA" smtClean="0"/>
              <a:t>2025-02-19</a:t>
            </a:fld>
            <a:endParaRPr lang="en-CA"/>
          </a:p>
        </p:txBody>
      </p:sp>
      <p:sp>
        <p:nvSpPr>
          <p:cNvPr id="5" name="Footer Placeholder 4">
            <a:extLst>
              <a:ext uri="{FF2B5EF4-FFF2-40B4-BE49-F238E27FC236}">
                <a16:creationId xmlns:a16="http://schemas.microsoft.com/office/drawing/2014/main" id="{5C802F9E-27BE-3E38-4BD4-073F8D4429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5141C978-2873-6601-1C76-98CB5DEB5F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D03AF83-BD32-4AF7-93D9-331ACB01C665}" type="slidenum">
              <a:rPr lang="en-CA" smtClean="0"/>
              <a:t>‹#›</a:t>
            </a:fld>
            <a:endParaRPr lang="en-CA"/>
          </a:p>
        </p:txBody>
      </p:sp>
    </p:spTree>
    <p:extLst>
      <p:ext uri="{BB962C8B-B14F-4D97-AF65-F5344CB8AC3E}">
        <p14:creationId xmlns:p14="http://schemas.microsoft.com/office/powerpoint/2010/main" val="4618107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500">
        <p:checker/>
      </p:transition>
    </mc:Choice>
    <mc:Fallback xmlns="">
      <p:transition spd="slow">
        <p:checker/>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950AD4C-6AF3-49F8-94E1-DBCAFB3947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Meiryo"/>
            </a:endParaRPr>
          </a:p>
        </p:txBody>
      </p:sp>
      <p:sp>
        <p:nvSpPr>
          <p:cNvPr id="12" name="Freeform: Shape 11">
            <a:extLst>
              <a:ext uri="{FF2B5EF4-FFF2-40B4-BE49-F238E27FC236}">
                <a16:creationId xmlns:a16="http://schemas.microsoft.com/office/drawing/2014/main" id="{8DBEAE55-3EA1-41D7-A212-5F7D8986C1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212206"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CFC5F0E7-644F-4101-BE72-12825CF537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417551"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6" name="Freeform: Shape 15">
            <a:extLst>
              <a:ext uri="{FF2B5EF4-FFF2-40B4-BE49-F238E27FC236}">
                <a16:creationId xmlns:a16="http://schemas.microsoft.com/office/drawing/2014/main" id="{B1F9B6B4-B0C4-45C6-A086-901C960D03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644774" y="0"/>
            <a:ext cx="2756893" cy="6858000"/>
          </a:xfrm>
          <a:custGeom>
            <a:avLst/>
            <a:gdLst>
              <a:gd name="connsiteX0" fmla="*/ 1133870 w 2756893"/>
              <a:gd name="connsiteY0" fmla="*/ 0 h 6858000"/>
              <a:gd name="connsiteX1" fmla="*/ 898082 w 2756893"/>
              <a:gd name="connsiteY1" fmla="*/ 0 h 6858000"/>
              <a:gd name="connsiteX2" fmla="*/ 920668 w 2756893"/>
              <a:gd name="connsiteY2" fmla="*/ 14997 h 6858000"/>
              <a:gd name="connsiteX3" fmla="*/ 2554961 w 2756893"/>
              <a:gd name="connsiteY3" fmla="*/ 3621656 h 6858000"/>
              <a:gd name="connsiteX4" fmla="*/ 641513 w 2756893"/>
              <a:gd name="connsiteY4" fmla="*/ 6374814 h 6858000"/>
              <a:gd name="connsiteX5" fmla="*/ 114086 w 2756893"/>
              <a:gd name="connsiteY5" fmla="*/ 6780599 h 6858000"/>
              <a:gd name="connsiteX6" fmla="*/ 0 w 2756893"/>
              <a:gd name="connsiteY6" fmla="*/ 6858000 h 6858000"/>
              <a:gd name="connsiteX7" fmla="*/ 40637 w 2756893"/>
              <a:gd name="connsiteY7" fmla="*/ 6858000 h 6858000"/>
              <a:gd name="connsiteX8" fmla="*/ 254139 w 2756893"/>
              <a:gd name="connsiteY8" fmla="*/ 6858000 h 6858000"/>
              <a:gd name="connsiteX9" fmla="*/ 365895 w 2756893"/>
              <a:gd name="connsiteY9" fmla="*/ 6780599 h 6858000"/>
              <a:gd name="connsiteX10" fmla="*/ 882543 w 2756893"/>
              <a:gd name="connsiteY10" fmla="*/ 6374814 h 6858000"/>
              <a:gd name="connsiteX11" fmla="*/ 2756893 w 2756893"/>
              <a:gd name="connsiteY11" fmla="*/ 3621656 h 6858000"/>
              <a:gd name="connsiteX12" fmla="*/ 1155994 w 2756893"/>
              <a:gd name="connsiteY12"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56893" h="6858000">
                <a:moveTo>
                  <a:pt x="1133870" y="0"/>
                </a:moveTo>
                <a:lnTo>
                  <a:pt x="898082" y="0"/>
                </a:lnTo>
                <a:lnTo>
                  <a:pt x="920668" y="14997"/>
                </a:lnTo>
                <a:cubicBezTo>
                  <a:pt x="1969257" y="754641"/>
                  <a:pt x="2554961" y="2093192"/>
                  <a:pt x="2554961" y="3621656"/>
                </a:cubicBezTo>
                <a:cubicBezTo>
                  <a:pt x="2554961" y="4969131"/>
                  <a:pt x="1606863" y="5602839"/>
                  <a:pt x="641513" y="6374814"/>
                </a:cubicBezTo>
                <a:cubicBezTo>
                  <a:pt x="465717" y="6515397"/>
                  <a:pt x="291531" y="6653108"/>
                  <a:pt x="114086" y="6780599"/>
                </a:cubicBezTo>
                <a:lnTo>
                  <a:pt x="0" y="6858000"/>
                </a:lnTo>
                <a:lnTo>
                  <a:pt x="40637" y="6858000"/>
                </a:lnTo>
                <a:lnTo>
                  <a:pt x="254139" y="6858000"/>
                </a:lnTo>
                <a:lnTo>
                  <a:pt x="365895" y="6780599"/>
                </a:lnTo>
                <a:cubicBezTo>
                  <a:pt x="539713" y="6653108"/>
                  <a:pt x="710340" y="6515397"/>
                  <a:pt x="882543" y="6374814"/>
                </a:cubicBezTo>
                <a:cubicBezTo>
                  <a:pt x="1828168" y="5602839"/>
                  <a:pt x="2756893" y="4969131"/>
                  <a:pt x="2756893" y="3621656"/>
                </a:cubicBezTo>
                <a:cubicBezTo>
                  <a:pt x="2756893" y="2093192"/>
                  <a:pt x="2183157" y="754641"/>
                  <a:pt x="1155994" y="14997"/>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3" name="Picture 12">
            <a:extLst>
              <a:ext uri="{FF2B5EF4-FFF2-40B4-BE49-F238E27FC236}">
                <a16:creationId xmlns:a16="http://schemas.microsoft.com/office/drawing/2014/main" id="{9F656FD7-36CE-CF9E-7195-66A5DE6FF5B9}"/>
              </a:ext>
            </a:extLst>
          </p:cNvPr>
          <p:cNvPicPr>
            <a:picLocks noChangeAspect="1"/>
          </p:cNvPicPr>
          <p:nvPr/>
        </p:nvPicPr>
        <p:blipFill>
          <a:blip r:embed="rId2"/>
          <a:stretch>
            <a:fillRect/>
          </a:stretch>
        </p:blipFill>
        <p:spPr>
          <a:xfrm>
            <a:off x="4799708" y="0"/>
            <a:ext cx="7392292" cy="6858000"/>
          </a:xfrm>
          <a:prstGeom prst="rect">
            <a:avLst/>
          </a:prstGeom>
        </p:spPr>
      </p:pic>
      <p:sp>
        <p:nvSpPr>
          <p:cNvPr id="15" name="TextBox 14">
            <a:extLst>
              <a:ext uri="{FF2B5EF4-FFF2-40B4-BE49-F238E27FC236}">
                <a16:creationId xmlns:a16="http://schemas.microsoft.com/office/drawing/2014/main" id="{2FB6C936-2011-1F07-8B57-160AEE58CC37}"/>
              </a:ext>
            </a:extLst>
          </p:cNvPr>
          <p:cNvSpPr txBox="1"/>
          <p:nvPr/>
        </p:nvSpPr>
        <p:spPr>
          <a:xfrm>
            <a:off x="57779" y="5473004"/>
            <a:ext cx="4445576" cy="1384995"/>
          </a:xfrm>
          <a:prstGeom prst="rect">
            <a:avLst/>
          </a:prstGeom>
          <a:noFill/>
        </p:spPr>
        <p:txBody>
          <a:bodyPr wrap="none" rtlCol="0">
            <a:spAutoFit/>
          </a:bodyPr>
          <a:lstStyle/>
          <a:p>
            <a:r>
              <a:rPr lang="en-IN" sz="2800" dirty="0">
                <a:solidFill>
                  <a:schemeClr val="accent1">
                    <a:lumMod val="50000"/>
                  </a:schemeClr>
                </a:solidFill>
                <a:latin typeface="Arial Rounded MT Bold" panose="020F0704030504030204" pitchFamily="34" charset="0"/>
              </a:rPr>
              <a:t>Data Mining:</a:t>
            </a:r>
          </a:p>
          <a:p>
            <a:r>
              <a:rPr lang="en-IN" sz="2800" dirty="0">
                <a:solidFill>
                  <a:schemeClr val="accent1">
                    <a:lumMod val="50000"/>
                  </a:schemeClr>
                </a:solidFill>
                <a:latin typeface="Arial Rounded MT Bold" panose="020F0704030504030204" pitchFamily="34" charset="0"/>
              </a:rPr>
              <a:t>Project Presentation By:</a:t>
            </a:r>
          </a:p>
          <a:p>
            <a:r>
              <a:rPr lang="en-IN" sz="2800" dirty="0">
                <a:solidFill>
                  <a:schemeClr val="accent1">
                    <a:lumMod val="50000"/>
                  </a:schemeClr>
                </a:solidFill>
                <a:latin typeface="Arial Rounded MT Bold" panose="020F0704030504030204" pitchFamily="34" charset="0"/>
              </a:rPr>
              <a:t>Rashpinder Kaur Chahal</a:t>
            </a:r>
          </a:p>
        </p:txBody>
      </p:sp>
    </p:spTree>
    <p:extLst>
      <p:ext uri="{BB962C8B-B14F-4D97-AF65-F5344CB8AC3E}">
        <p14:creationId xmlns:p14="http://schemas.microsoft.com/office/powerpoint/2010/main" val="2117450247"/>
      </p:ext>
    </p:extLst>
  </p:cSld>
  <p:clrMapOvr>
    <a:masterClrMapping/>
  </p:clrMapOvr>
  <mc:AlternateContent xmlns:mc="http://schemas.openxmlformats.org/markup-compatibility/2006" xmlns:p14="http://schemas.microsoft.com/office/powerpoint/2010/main">
    <mc:Choice Requires="p14">
      <p:transition spd="slow" p14:dur="1500">
        <p:checker/>
      </p:transition>
    </mc:Choice>
    <mc:Fallback xmlns="">
      <p:transition spd="slow">
        <p:checker/>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E2D80F-FA88-3C23-1D70-3548BCD9BFAD}"/>
              </a:ext>
            </a:extLst>
          </p:cNvPr>
          <p:cNvSpPr>
            <a:spLocks noGrp="1"/>
          </p:cNvSpPr>
          <p:nvPr>
            <p:ph type="title"/>
          </p:nvPr>
        </p:nvSpPr>
        <p:spPr>
          <a:xfrm>
            <a:off x="838200" y="556995"/>
            <a:ext cx="10515600" cy="1133693"/>
          </a:xfrm>
        </p:spPr>
        <p:txBody>
          <a:bodyPr vert="horz" lIns="91440" tIns="45720" rIns="91440" bIns="45720" rtlCol="0" anchor="ctr">
            <a:normAutofit/>
          </a:bodyPr>
          <a:lstStyle/>
          <a:p>
            <a:r>
              <a:rPr lang="en-US" sz="4800" kern="1200" dirty="0">
                <a:solidFill>
                  <a:schemeClr val="tx1"/>
                </a:solidFill>
                <a:latin typeface="+mj-lt"/>
                <a:ea typeface="+mj-ea"/>
                <a:cs typeface="+mj-cs"/>
              </a:rPr>
              <a:t>INTRODUCTION</a:t>
            </a:r>
            <a:endParaRPr lang="en-US" sz="5200" kern="1200" dirty="0">
              <a:solidFill>
                <a:schemeClr val="tx1"/>
              </a:solidFill>
              <a:latin typeface="+mj-lt"/>
              <a:ea typeface="+mj-ea"/>
              <a:cs typeface="+mj-cs"/>
            </a:endParaRPr>
          </a:p>
        </p:txBody>
      </p:sp>
      <p:graphicFrame>
        <p:nvGraphicFramePr>
          <p:cNvPr id="8" name="TextBox 5">
            <a:extLst>
              <a:ext uri="{FF2B5EF4-FFF2-40B4-BE49-F238E27FC236}">
                <a16:creationId xmlns:a16="http://schemas.microsoft.com/office/drawing/2014/main" id="{59921F70-3A98-8D95-2631-FA61329E835D}"/>
              </a:ext>
            </a:extLst>
          </p:cNvPr>
          <p:cNvGraphicFramePr/>
          <p:nvPr>
            <p:extLst>
              <p:ext uri="{D42A27DB-BD31-4B8C-83A1-F6EECF244321}">
                <p14:modId xmlns:p14="http://schemas.microsoft.com/office/powerpoint/2010/main" val="362270251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24881042"/>
      </p:ext>
    </p:extLst>
  </p:cSld>
  <p:clrMapOvr>
    <a:masterClrMapping/>
  </p:clrMapOvr>
  <mc:AlternateContent xmlns:mc="http://schemas.openxmlformats.org/markup-compatibility/2006" xmlns:p14="http://schemas.microsoft.com/office/powerpoint/2010/main">
    <mc:Choice Requires="p14">
      <p:transition spd="slow" p14:dur="1500">
        <p:checker/>
      </p:transition>
    </mc:Choice>
    <mc:Fallback xmlns="">
      <p:transition spd="slow">
        <p:checker/>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46EFE0A-46A5-F665-A334-FB69154EA3DE}"/>
            </a:ext>
          </a:extLst>
        </p:cNvPr>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0289CC6-7EEA-68DE-D5FE-ED22B3C4149D}"/>
              </a:ext>
            </a:extLst>
          </p:cNvPr>
          <p:cNvSpPr>
            <a:spLocks noGrp="1"/>
          </p:cNvSpPr>
          <p:nvPr>
            <p:ph type="title"/>
          </p:nvPr>
        </p:nvSpPr>
        <p:spPr>
          <a:xfrm>
            <a:off x="1383564" y="348865"/>
            <a:ext cx="9718111" cy="1576446"/>
          </a:xfrm>
        </p:spPr>
        <p:txBody>
          <a:bodyPr vert="horz" lIns="91440" tIns="45720" rIns="91440" bIns="45720" rtlCol="0" anchor="ctr">
            <a:normAutofit/>
          </a:bodyPr>
          <a:lstStyle/>
          <a:p>
            <a:r>
              <a:rPr lang="en-US" sz="4000" kern="1200" dirty="0">
                <a:solidFill>
                  <a:srgbClr val="FFFFFF"/>
                </a:solidFill>
                <a:latin typeface="+mj-lt"/>
                <a:ea typeface="+mj-ea"/>
                <a:cs typeface="+mj-cs"/>
              </a:rPr>
              <a:t>STEPS TAKEN TO IMPORT AND CLEAN DATA</a:t>
            </a:r>
          </a:p>
        </p:txBody>
      </p:sp>
      <p:graphicFrame>
        <p:nvGraphicFramePr>
          <p:cNvPr id="37" name="TextBox 3">
            <a:extLst>
              <a:ext uri="{FF2B5EF4-FFF2-40B4-BE49-F238E27FC236}">
                <a16:creationId xmlns:a16="http://schemas.microsoft.com/office/drawing/2014/main" id="{D7A4647D-825D-8C81-F0DF-21CF22EBD3BB}"/>
              </a:ext>
            </a:extLst>
          </p:cNvPr>
          <p:cNvGraphicFramePr/>
          <p:nvPr>
            <p:extLst>
              <p:ext uri="{D42A27DB-BD31-4B8C-83A1-F6EECF244321}">
                <p14:modId xmlns:p14="http://schemas.microsoft.com/office/powerpoint/2010/main" val="3330911442"/>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46069044"/>
      </p:ext>
    </p:extLst>
  </p:cSld>
  <p:clrMapOvr>
    <a:masterClrMapping/>
  </p:clrMapOvr>
  <mc:AlternateContent xmlns:mc="http://schemas.openxmlformats.org/markup-compatibility/2006" xmlns:p14="http://schemas.microsoft.com/office/powerpoint/2010/main">
    <mc:Choice Requires="p14">
      <p:transition spd="slow" p14:dur="1500">
        <p:checker/>
      </p:transition>
    </mc:Choice>
    <mc:Fallback xmlns="">
      <p:transition spd="slow">
        <p:checker/>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BCA1B5-0A91-F3A6-6C59-D0590D6D2D7D}"/>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A20D63-6EBB-32F7-0433-57A78F588BFD}"/>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dirty="0">
                <a:solidFill>
                  <a:srgbClr val="FFFFFF"/>
                </a:solidFill>
              </a:rPr>
              <a:t>Retail Dataset </a:t>
            </a:r>
            <a:endParaRPr lang="en-US" sz="3700" kern="1200" dirty="0">
              <a:solidFill>
                <a:srgbClr val="FFFFFF"/>
              </a:solidFill>
              <a:latin typeface="+mj-lt"/>
              <a:ea typeface="+mj-ea"/>
              <a:cs typeface="+mj-cs"/>
            </a:endParaRPr>
          </a:p>
        </p:txBody>
      </p:sp>
      <p:sp>
        <p:nvSpPr>
          <p:cNvPr id="17" name="TextBox 16">
            <a:extLst>
              <a:ext uri="{FF2B5EF4-FFF2-40B4-BE49-F238E27FC236}">
                <a16:creationId xmlns:a16="http://schemas.microsoft.com/office/drawing/2014/main" id="{32321A31-AB43-63CE-EBD9-3E863A947B10}"/>
              </a:ext>
            </a:extLst>
          </p:cNvPr>
          <p:cNvSpPr txBox="1"/>
          <p:nvPr/>
        </p:nvSpPr>
        <p:spPr>
          <a:xfrm>
            <a:off x="8572499" y="390832"/>
            <a:ext cx="3233585" cy="873612"/>
          </a:xfrm>
          <a:prstGeom prst="rect">
            <a:avLst/>
          </a:prstGeom>
        </p:spPr>
        <p:txBody>
          <a:bodyPr vert="horz" lIns="91440" tIns="45720" rIns="91440" bIns="45720" rtlCol="0" anchor="ctr">
            <a:normAutofit/>
          </a:bodyPr>
          <a:lstStyle/>
          <a:p>
            <a:pPr>
              <a:lnSpc>
                <a:spcPct val="90000"/>
              </a:lnSpc>
              <a:spcBef>
                <a:spcPts val="1000"/>
              </a:spcBef>
            </a:pPr>
            <a:r>
              <a:rPr lang="en-US" sz="1900" b="0" i="0" kern="1200" dirty="0">
                <a:solidFill>
                  <a:srgbClr val="FFFFFF"/>
                </a:solidFill>
                <a:effectLst/>
                <a:latin typeface="+mn-lt"/>
                <a:ea typeface="+mn-ea"/>
                <a:cs typeface="+mn-cs"/>
              </a:rPr>
              <a:t>Head and Tail view</a:t>
            </a:r>
          </a:p>
        </p:txBody>
      </p:sp>
      <p:pic>
        <p:nvPicPr>
          <p:cNvPr id="5" name="Picture 4">
            <a:extLst>
              <a:ext uri="{FF2B5EF4-FFF2-40B4-BE49-F238E27FC236}">
                <a16:creationId xmlns:a16="http://schemas.microsoft.com/office/drawing/2014/main" id="{AA37EBB4-725E-81B7-D4AE-D80B1E548E52}"/>
              </a:ext>
            </a:extLst>
          </p:cNvPr>
          <p:cNvPicPr>
            <a:picLocks noChangeAspect="1"/>
          </p:cNvPicPr>
          <p:nvPr/>
        </p:nvPicPr>
        <p:blipFill>
          <a:blip r:embed="rId2"/>
          <a:stretch>
            <a:fillRect/>
          </a:stretch>
        </p:blipFill>
        <p:spPr>
          <a:xfrm>
            <a:off x="216722" y="1965142"/>
            <a:ext cx="11758551" cy="4341467"/>
          </a:xfrm>
          <a:prstGeom prst="rect">
            <a:avLst/>
          </a:prstGeom>
        </p:spPr>
      </p:pic>
    </p:spTree>
    <p:extLst>
      <p:ext uri="{BB962C8B-B14F-4D97-AF65-F5344CB8AC3E}">
        <p14:creationId xmlns:p14="http://schemas.microsoft.com/office/powerpoint/2010/main" val="1766453034"/>
      </p:ext>
    </p:extLst>
  </p:cSld>
  <p:clrMapOvr>
    <a:masterClrMapping/>
  </p:clrMapOvr>
  <mc:AlternateContent xmlns:mc="http://schemas.openxmlformats.org/markup-compatibility/2006" xmlns:p14="http://schemas.microsoft.com/office/powerpoint/2010/main">
    <mc:Choice Requires="p14">
      <p:transition spd="slow" p14:dur="1500">
        <p:checker/>
      </p:transition>
    </mc:Choice>
    <mc:Fallback xmlns="">
      <p:transition spd="slow">
        <p:checker/>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808882-B534-D497-049B-9F948515988E}"/>
            </a:ext>
          </a:extLst>
        </p:cNvPr>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0" name="Rectangle 39">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7E58B4-3D95-3AFE-F8D8-0B4D335B631B}"/>
              </a:ext>
            </a:extLst>
          </p:cNvPr>
          <p:cNvSpPr>
            <a:spLocks noGrp="1"/>
          </p:cNvSpPr>
          <p:nvPr>
            <p:ph type="title"/>
          </p:nvPr>
        </p:nvSpPr>
        <p:spPr>
          <a:xfrm>
            <a:off x="699714" y="353160"/>
            <a:ext cx="10512572" cy="898581"/>
          </a:xfrm>
        </p:spPr>
        <p:txBody>
          <a:bodyPr vert="horz" lIns="91440" tIns="45720" rIns="91440" bIns="45720" rtlCol="0" anchor="ctr">
            <a:normAutofit/>
          </a:bodyPr>
          <a:lstStyle/>
          <a:p>
            <a:pPr marL="0" lvl="0" indent="0" algn="ctr">
              <a:spcAft>
                <a:spcPts val="0"/>
              </a:spcAft>
              <a:buClr>
                <a:srgbClr val="193E43"/>
              </a:buClr>
              <a:buSzPts val="1800"/>
            </a:pPr>
            <a:r>
              <a:rPr lang="en-US" sz="3700" b="1" i="0" u="none" dirty="0">
                <a:solidFill>
                  <a:srgbClr val="FFFFFF"/>
                </a:solidFill>
                <a:sym typeface="Poppins"/>
              </a:rPr>
              <a:t> </a:t>
            </a:r>
            <a:r>
              <a:rPr lang="en-US" sz="3700" b="1" dirty="0">
                <a:solidFill>
                  <a:srgbClr val="FFFFFF"/>
                </a:solidFill>
                <a:sym typeface="Poppins"/>
              </a:rPr>
              <a:t>UNIVARIATE ANALYSIS</a:t>
            </a:r>
            <a:endParaRPr lang="en-US" sz="3700" b="1" i="0" u="none" dirty="0">
              <a:solidFill>
                <a:srgbClr val="FFFFFF"/>
              </a:solidFill>
              <a:sym typeface="Poppins"/>
            </a:endParaRPr>
          </a:p>
        </p:txBody>
      </p:sp>
      <p:sp>
        <p:nvSpPr>
          <p:cNvPr id="6" name="Rectangle: Rounded Corners 5">
            <a:extLst>
              <a:ext uri="{FF2B5EF4-FFF2-40B4-BE49-F238E27FC236}">
                <a16:creationId xmlns:a16="http://schemas.microsoft.com/office/drawing/2014/main" id="{A9D23495-07D7-9E2D-A74A-091670BA7E78}"/>
              </a:ext>
            </a:extLst>
          </p:cNvPr>
          <p:cNvSpPr/>
          <p:nvPr/>
        </p:nvSpPr>
        <p:spPr>
          <a:xfrm>
            <a:off x="1371600" y="2132745"/>
            <a:ext cx="4057650" cy="2814638"/>
          </a:xfrm>
          <a:prstGeom prst="roundRect">
            <a:avLst/>
          </a:prstGeom>
          <a:effectLst>
            <a:outerShdw blurRad="152400" dist="317500" dir="5400000" sx="90000" sy="-19000"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bg1">
                    <a:lumMod val="95000"/>
                  </a:schemeClr>
                </a:solidFill>
              </a:rPr>
              <a:t>Numerical variables:</a:t>
            </a:r>
          </a:p>
          <a:p>
            <a:pPr algn="ctr"/>
            <a:endParaRPr lang="en-IN" dirty="0">
              <a:solidFill>
                <a:schemeClr val="bg1">
                  <a:lumMod val="95000"/>
                </a:schemeClr>
              </a:solidFill>
            </a:endParaRPr>
          </a:p>
          <a:p>
            <a:pPr algn="ctr"/>
            <a:r>
              <a:rPr lang="en-IN" dirty="0">
                <a:solidFill>
                  <a:schemeClr val="bg1">
                    <a:lumMod val="95000"/>
                  </a:schemeClr>
                </a:solidFill>
              </a:rPr>
              <a:t>Sales</a:t>
            </a:r>
          </a:p>
          <a:p>
            <a:pPr algn="ctr"/>
            <a:r>
              <a:rPr lang="en-IN" dirty="0">
                <a:solidFill>
                  <a:schemeClr val="bg1">
                    <a:lumMod val="95000"/>
                  </a:schemeClr>
                </a:solidFill>
              </a:rPr>
              <a:t>Quantity</a:t>
            </a:r>
          </a:p>
          <a:p>
            <a:pPr algn="ctr"/>
            <a:r>
              <a:rPr lang="en-IN" dirty="0">
                <a:solidFill>
                  <a:schemeClr val="bg1">
                    <a:lumMod val="95000"/>
                  </a:schemeClr>
                </a:solidFill>
              </a:rPr>
              <a:t>Discount</a:t>
            </a:r>
          </a:p>
          <a:p>
            <a:pPr algn="ctr"/>
            <a:r>
              <a:rPr lang="en-IN" dirty="0">
                <a:solidFill>
                  <a:schemeClr val="bg1">
                    <a:lumMod val="95000"/>
                  </a:schemeClr>
                </a:solidFill>
              </a:rPr>
              <a:t>Profit</a:t>
            </a:r>
          </a:p>
        </p:txBody>
      </p:sp>
      <p:sp>
        <p:nvSpPr>
          <p:cNvPr id="9" name="Rectangle: Rounded Corners 8">
            <a:extLst>
              <a:ext uri="{FF2B5EF4-FFF2-40B4-BE49-F238E27FC236}">
                <a16:creationId xmlns:a16="http://schemas.microsoft.com/office/drawing/2014/main" id="{C5A1AD74-0178-4CFE-D495-E31076C0AA46}"/>
              </a:ext>
            </a:extLst>
          </p:cNvPr>
          <p:cNvSpPr/>
          <p:nvPr/>
        </p:nvSpPr>
        <p:spPr>
          <a:xfrm>
            <a:off x="6429375" y="2132745"/>
            <a:ext cx="4057650" cy="2814638"/>
          </a:xfrm>
          <a:prstGeom prst="roundRect">
            <a:avLst/>
          </a:prstGeom>
          <a:effectLst>
            <a:outerShdw blurRad="152400" dist="317500" dir="5400000" sx="90000" sy="-19000"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bg1">
                    <a:lumMod val="95000"/>
                  </a:schemeClr>
                </a:solidFill>
              </a:rPr>
              <a:t>Categorical variables:</a:t>
            </a:r>
          </a:p>
          <a:p>
            <a:pPr algn="ctr"/>
            <a:endParaRPr lang="en-IN" sz="2400" dirty="0">
              <a:solidFill>
                <a:schemeClr val="bg1">
                  <a:lumMod val="95000"/>
                </a:schemeClr>
              </a:solidFill>
            </a:endParaRPr>
          </a:p>
          <a:p>
            <a:pPr algn="ctr"/>
            <a:r>
              <a:rPr lang="en-IN" dirty="0">
                <a:solidFill>
                  <a:schemeClr val="bg1">
                    <a:lumMod val="95000"/>
                  </a:schemeClr>
                </a:solidFill>
              </a:rPr>
              <a:t>Ship Mode </a:t>
            </a:r>
          </a:p>
          <a:p>
            <a:pPr algn="ctr"/>
            <a:r>
              <a:rPr lang="en-IN" dirty="0">
                <a:solidFill>
                  <a:schemeClr val="bg1">
                    <a:lumMod val="95000"/>
                  </a:schemeClr>
                </a:solidFill>
              </a:rPr>
              <a:t>Segment </a:t>
            </a:r>
          </a:p>
          <a:p>
            <a:pPr algn="ctr"/>
            <a:r>
              <a:rPr lang="en-IN" dirty="0">
                <a:solidFill>
                  <a:schemeClr val="bg1">
                    <a:lumMod val="95000"/>
                  </a:schemeClr>
                </a:solidFill>
              </a:rPr>
              <a:t>Region </a:t>
            </a:r>
          </a:p>
          <a:p>
            <a:pPr algn="ctr"/>
            <a:r>
              <a:rPr lang="en-IN" dirty="0">
                <a:solidFill>
                  <a:schemeClr val="bg1">
                    <a:lumMod val="95000"/>
                  </a:schemeClr>
                </a:solidFill>
              </a:rPr>
              <a:t>Category </a:t>
            </a:r>
          </a:p>
          <a:p>
            <a:pPr algn="ctr"/>
            <a:r>
              <a:rPr lang="en-IN" dirty="0">
                <a:solidFill>
                  <a:schemeClr val="bg1">
                    <a:lumMod val="95000"/>
                  </a:schemeClr>
                </a:solidFill>
              </a:rPr>
              <a:t>Sub-Category</a:t>
            </a:r>
          </a:p>
        </p:txBody>
      </p:sp>
    </p:spTree>
    <p:extLst>
      <p:ext uri="{BB962C8B-B14F-4D97-AF65-F5344CB8AC3E}">
        <p14:creationId xmlns:p14="http://schemas.microsoft.com/office/powerpoint/2010/main" val="3584421593"/>
      </p:ext>
    </p:extLst>
  </p:cSld>
  <p:clrMapOvr>
    <a:masterClrMapping/>
  </p:clrMapOvr>
  <mc:AlternateContent xmlns:mc="http://schemas.openxmlformats.org/markup-compatibility/2006" xmlns:p14="http://schemas.microsoft.com/office/powerpoint/2010/main">
    <mc:Choice Requires="p14">
      <p:transition spd="slow" p14:dur="1500">
        <p:checker/>
      </p:transition>
    </mc:Choice>
    <mc:Fallback xmlns="">
      <p:transition spd="slow">
        <p:checker/>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A847E2-7AD6-26CE-4546-C7A85DEC6554}"/>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B41CE3EF-6022-254F-8B6A-70AC791F55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BCD2712-AF20-5FC2-6BE6-8B0646A408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4D026EB1-781E-4C8C-E326-A4DE79FFDC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6295E682-84D7-E9C5-38DB-EC9ADF3467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46BE8B-3FDB-C51D-3E87-0CFC55340584}"/>
              </a:ext>
            </a:extLst>
          </p:cNvPr>
          <p:cNvSpPr>
            <a:spLocks noGrp="1"/>
          </p:cNvSpPr>
          <p:nvPr>
            <p:ph type="title"/>
          </p:nvPr>
        </p:nvSpPr>
        <p:spPr>
          <a:xfrm>
            <a:off x="111884" y="272370"/>
            <a:ext cx="12080114" cy="1001259"/>
          </a:xfrm>
        </p:spPr>
        <p:txBody>
          <a:bodyPr vert="horz" lIns="91440" tIns="45720" rIns="91440" bIns="45720" rtlCol="0" anchor="ctr">
            <a:normAutofit/>
          </a:bodyPr>
          <a:lstStyle/>
          <a:p>
            <a:pPr algn="ctr"/>
            <a:r>
              <a:rPr lang="en-US" sz="4000" b="1" dirty="0">
                <a:solidFill>
                  <a:schemeClr val="bg1"/>
                </a:solidFill>
                <a:latin typeface="Poppins"/>
                <a:ea typeface="Poppins"/>
                <a:cs typeface="Poppins"/>
                <a:sym typeface="Poppins"/>
              </a:rPr>
              <a:t> Numerical Univariate Analysis</a:t>
            </a:r>
            <a:endParaRPr lang="en-US" sz="3700" kern="1200" dirty="0">
              <a:solidFill>
                <a:schemeClr val="bg1"/>
              </a:solidFill>
              <a:latin typeface="+mj-lt"/>
              <a:ea typeface="+mj-ea"/>
              <a:cs typeface="+mj-cs"/>
            </a:endParaRPr>
          </a:p>
        </p:txBody>
      </p:sp>
      <p:sp>
        <p:nvSpPr>
          <p:cNvPr id="5" name="TextBox 4">
            <a:extLst>
              <a:ext uri="{FF2B5EF4-FFF2-40B4-BE49-F238E27FC236}">
                <a16:creationId xmlns:a16="http://schemas.microsoft.com/office/drawing/2014/main" id="{0B09422F-8FEE-FC76-1231-D4CA812DB92C}"/>
              </a:ext>
            </a:extLst>
          </p:cNvPr>
          <p:cNvSpPr txBox="1"/>
          <p:nvPr/>
        </p:nvSpPr>
        <p:spPr>
          <a:xfrm>
            <a:off x="277398" y="5603994"/>
            <a:ext cx="11074173" cy="1237839"/>
          </a:xfrm>
          <a:prstGeom prst="rect">
            <a:avLst/>
          </a:prstGeom>
          <a:noFill/>
        </p:spPr>
        <p:txBody>
          <a:bodyPr wrap="square" rtlCol="0">
            <a:spAutoFit/>
          </a:bodyPr>
          <a:lstStyle/>
          <a:p>
            <a:pPr>
              <a:lnSpc>
                <a:spcPct val="107000"/>
              </a:lnSpc>
              <a:spcAft>
                <a:spcPts val="800"/>
              </a:spcAft>
            </a:pPr>
            <a:r>
              <a:rPr lang="en-IN" sz="1600" kern="0" dirty="0">
                <a:effectLst/>
                <a:latin typeface="Times New Roman" panose="02020603050405020304" pitchFamily="18" charset="0"/>
                <a:ea typeface="Times New Roman" panose="02020603050405020304" pitchFamily="18" charset="0"/>
                <a:cs typeface="Times New Roman" panose="02020603050405020304" pitchFamily="18" charset="0"/>
              </a:rPr>
              <a:t>Skewness is positive which indicates that the outliers exist in the right side of the data</a:t>
            </a:r>
            <a:r>
              <a:rPr lang="en-IN" sz="1600" kern="0" dirty="0">
                <a:latin typeface="Times New Roman" panose="02020603050405020304" pitchFamily="18" charset="0"/>
                <a:ea typeface="Times New Roman" panose="02020603050405020304" pitchFamily="18" charset="0"/>
                <a:cs typeface="Times New Roman" panose="02020603050405020304" pitchFamily="18" charset="0"/>
              </a:rPr>
              <a:t> </a:t>
            </a:r>
            <a:r>
              <a:rPr lang="en-IN" sz="1600" kern="0" dirty="0">
                <a:effectLst/>
                <a:latin typeface="Times New Roman" panose="02020603050405020304" pitchFamily="18" charset="0"/>
                <a:ea typeface="Times New Roman" panose="02020603050405020304" pitchFamily="18" charset="0"/>
                <a:cs typeface="Times New Roman" panose="02020603050405020304" pitchFamily="18" charset="0"/>
              </a:rPr>
              <a:t>(can be seen by whiskers in box plot as well as tail in density curve).</a:t>
            </a:r>
          </a:p>
          <a:p>
            <a:pPr>
              <a:lnSpc>
                <a:spcPct val="107000"/>
              </a:lnSpc>
              <a:spcAft>
                <a:spcPts val="800"/>
              </a:spcAft>
            </a:pPr>
            <a:r>
              <a:rPr lang="en-IN" sz="1600" kern="0" dirty="0">
                <a:effectLst/>
                <a:latin typeface="Times New Roman" panose="02020603050405020304" pitchFamily="18" charset="0"/>
                <a:ea typeface="Times New Roman" panose="02020603050405020304" pitchFamily="18" charset="0"/>
                <a:cs typeface="Times New Roman" panose="02020603050405020304" pitchFamily="18" charset="0"/>
              </a:rPr>
              <a:t>Mean and median values are not approximately similar (we can see that in box plot) which indicates that the value of mean is affected by the outliers and that the data distribution is not normal. </a:t>
            </a:r>
            <a:endParaRPr lang="en-CA" sz="2000" dirty="0"/>
          </a:p>
        </p:txBody>
      </p:sp>
      <p:pic>
        <p:nvPicPr>
          <p:cNvPr id="6" name="Picture 5">
            <a:extLst>
              <a:ext uri="{FF2B5EF4-FFF2-40B4-BE49-F238E27FC236}">
                <a16:creationId xmlns:a16="http://schemas.microsoft.com/office/drawing/2014/main" id="{C14D3674-B2CB-7140-5586-56B3A2BC8AE6}"/>
              </a:ext>
            </a:extLst>
          </p:cNvPr>
          <p:cNvPicPr>
            <a:picLocks noChangeAspect="1"/>
          </p:cNvPicPr>
          <p:nvPr/>
        </p:nvPicPr>
        <p:blipFill>
          <a:blip r:embed="rId2"/>
          <a:stretch>
            <a:fillRect/>
          </a:stretch>
        </p:blipFill>
        <p:spPr>
          <a:xfrm>
            <a:off x="321682" y="1725495"/>
            <a:ext cx="5492803" cy="3944012"/>
          </a:xfrm>
          <a:prstGeom prst="rect">
            <a:avLst/>
          </a:prstGeom>
        </p:spPr>
      </p:pic>
      <p:pic>
        <p:nvPicPr>
          <p:cNvPr id="8" name="Picture 7">
            <a:extLst>
              <a:ext uri="{FF2B5EF4-FFF2-40B4-BE49-F238E27FC236}">
                <a16:creationId xmlns:a16="http://schemas.microsoft.com/office/drawing/2014/main" id="{4D7D014C-490B-96A4-3CA1-500E56CFA982}"/>
              </a:ext>
            </a:extLst>
          </p:cNvPr>
          <p:cNvPicPr>
            <a:picLocks noChangeAspect="1"/>
          </p:cNvPicPr>
          <p:nvPr/>
        </p:nvPicPr>
        <p:blipFill>
          <a:blip r:embed="rId3"/>
          <a:stretch>
            <a:fillRect/>
          </a:stretch>
        </p:blipFill>
        <p:spPr>
          <a:xfrm>
            <a:off x="6095998" y="1791008"/>
            <a:ext cx="5445841" cy="3812986"/>
          </a:xfrm>
          <a:prstGeom prst="rect">
            <a:avLst/>
          </a:prstGeom>
        </p:spPr>
      </p:pic>
    </p:spTree>
    <p:extLst>
      <p:ext uri="{BB962C8B-B14F-4D97-AF65-F5344CB8AC3E}">
        <p14:creationId xmlns:p14="http://schemas.microsoft.com/office/powerpoint/2010/main" val="3168708631"/>
      </p:ext>
    </p:extLst>
  </p:cSld>
  <p:clrMapOvr>
    <a:masterClrMapping/>
  </p:clrMapOvr>
  <mc:AlternateContent xmlns:mc="http://schemas.openxmlformats.org/markup-compatibility/2006" xmlns:p14="http://schemas.microsoft.com/office/powerpoint/2010/main">
    <mc:Choice Requires="p14">
      <p:transition spd="slow" p14:dur="1500">
        <p:checker/>
      </p:transition>
    </mc:Choice>
    <mc:Fallback xmlns="">
      <p:transition spd="slow">
        <p:checker/>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D003289-9F27-76E4-F819-493B2ADC384A}"/>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C199B92B-787A-18ED-8E13-C852AC4F65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4CF7B839-E279-3E3B-63CD-AFC852FF0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CDA4D03-1BF4-78C5-0DAC-07B2094D22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FEDB73DA-F5AA-DD1F-A677-D41FE3606C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3D44BE-D968-D81E-A398-AB902F0F0E37}"/>
              </a:ext>
            </a:extLst>
          </p:cNvPr>
          <p:cNvSpPr>
            <a:spLocks noGrp="1"/>
          </p:cNvSpPr>
          <p:nvPr>
            <p:ph type="title"/>
          </p:nvPr>
        </p:nvSpPr>
        <p:spPr>
          <a:xfrm>
            <a:off x="111884" y="272370"/>
            <a:ext cx="12080114" cy="1001259"/>
          </a:xfrm>
        </p:spPr>
        <p:txBody>
          <a:bodyPr vert="horz" lIns="91440" tIns="45720" rIns="91440" bIns="45720" rtlCol="0" anchor="ctr">
            <a:normAutofit/>
          </a:bodyPr>
          <a:lstStyle/>
          <a:p>
            <a:pPr algn="ctr"/>
            <a:r>
              <a:rPr lang="en-US" sz="4000" b="1" dirty="0">
                <a:solidFill>
                  <a:schemeClr val="bg1"/>
                </a:solidFill>
                <a:latin typeface="Poppins"/>
                <a:ea typeface="Poppins"/>
                <a:cs typeface="Poppins"/>
                <a:sym typeface="Poppins"/>
              </a:rPr>
              <a:t> Numerical Univariate Analysis</a:t>
            </a:r>
            <a:endParaRPr lang="en-US" sz="3700" kern="1200" dirty="0">
              <a:solidFill>
                <a:schemeClr val="bg1"/>
              </a:solidFill>
              <a:latin typeface="+mj-lt"/>
              <a:ea typeface="+mj-ea"/>
              <a:cs typeface="+mj-cs"/>
            </a:endParaRPr>
          </a:p>
        </p:txBody>
      </p:sp>
      <p:sp>
        <p:nvSpPr>
          <p:cNvPr id="5" name="TextBox 4">
            <a:extLst>
              <a:ext uri="{FF2B5EF4-FFF2-40B4-BE49-F238E27FC236}">
                <a16:creationId xmlns:a16="http://schemas.microsoft.com/office/drawing/2014/main" id="{D07EA6BC-4037-A60C-D9B4-FA23FCF3A551}"/>
              </a:ext>
            </a:extLst>
          </p:cNvPr>
          <p:cNvSpPr txBox="1"/>
          <p:nvPr/>
        </p:nvSpPr>
        <p:spPr>
          <a:xfrm>
            <a:off x="6041454" y="2258323"/>
            <a:ext cx="4846547" cy="3477875"/>
          </a:xfrm>
          <a:prstGeom prst="rect">
            <a:avLst/>
          </a:prstGeom>
          <a:noFill/>
        </p:spPr>
        <p:txBody>
          <a:bodyPr wrap="square" rtlCol="0">
            <a:spAutoFit/>
          </a:bodyPr>
          <a:lstStyle/>
          <a:p>
            <a:r>
              <a:rPr lang="en-IN" sz="2000" dirty="0"/>
              <a:t>Total observation are 9994 with </a:t>
            </a:r>
          </a:p>
          <a:p>
            <a:r>
              <a:rPr lang="en-IN" sz="2000" dirty="0"/>
              <a:t>average quantity is 3.7895 for all the observations.</a:t>
            </a:r>
          </a:p>
          <a:p>
            <a:endParaRPr lang="en-IN" sz="2000" dirty="0"/>
          </a:p>
          <a:p>
            <a:r>
              <a:rPr lang="en-IN" sz="2000" dirty="0"/>
              <a:t>The value of Q1=2 </a:t>
            </a:r>
          </a:p>
          <a:p>
            <a:r>
              <a:rPr lang="en-IN" sz="2000" dirty="0"/>
              <a:t>(75% data have quantity value more than 2 and 25% data have less than 2)</a:t>
            </a:r>
          </a:p>
          <a:p>
            <a:endParaRPr lang="en-IN" sz="2000" dirty="0"/>
          </a:p>
          <a:p>
            <a:r>
              <a:rPr lang="en-IN" sz="2000" dirty="0"/>
              <a:t>Similarly, Q3=5 </a:t>
            </a:r>
          </a:p>
          <a:p>
            <a:r>
              <a:rPr lang="en-IN" sz="2000" dirty="0"/>
              <a:t>(25% data for quantity is more than 5 and 75% data for quantity is less than 5)</a:t>
            </a:r>
          </a:p>
        </p:txBody>
      </p:sp>
      <p:pic>
        <p:nvPicPr>
          <p:cNvPr id="4" name="Picture 3">
            <a:extLst>
              <a:ext uri="{FF2B5EF4-FFF2-40B4-BE49-F238E27FC236}">
                <a16:creationId xmlns:a16="http://schemas.microsoft.com/office/drawing/2014/main" id="{3325803D-9425-D0B7-4C00-78B67456B04E}"/>
              </a:ext>
            </a:extLst>
          </p:cNvPr>
          <p:cNvPicPr>
            <a:picLocks noChangeAspect="1"/>
          </p:cNvPicPr>
          <p:nvPr/>
        </p:nvPicPr>
        <p:blipFill>
          <a:blip r:embed="rId2"/>
          <a:stretch>
            <a:fillRect/>
          </a:stretch>
        </p:blipFill>
        <p:spPr>
          <a:xfrm>
            <a:off x="691736" y="2258323"/>
            <a:ext cx="4045720" cy="2712828"/>
          </a:xfrm>
          <a:prstGeom prst="rect">
            <a:avLst/>
          </a:prstGeom>
        </p:spPr>
      </p:pic>
    </p:spTree>
    <p:extLst>
      <p:ext uri="{BB962C8B-B14F-4D97-AF65-F5344CB8AC3E}">
        <p14:creationId xmlns:p14="http://schemas.microsoft.com/office/powerpoint/2010/main" val="2342030356"/>
      </p:ext>
    </p:extLst>
  </p:cSld>
  <p:clrMapOvr>
    <a:masterClrMapping/>
  </p:clrMapOvr>
  <mc:AlternateContent xmlns:mc="http://schemas.openxmlformats.org/markup-compatibility/2006" xmlns:p14="http://schemas.microsoft.com/office/powerpoint/2010/main">
    <mc:Choice Requires="p14">
      <p:transition spd="slow" p14:dur="1500">
        <p:checker/>
      </p:transition>
    </mc:Choice>
    <mc:Fallback xmlns="">
      <p:transition spd="slow">
        <p:checker/>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CB94C74-F2CB-102C-7992-A62D53C5115F}"/>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DBFFB9E6-C225-88F7-793B-B6419451C1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8D8DB1C8-CD3E-2879-7EF8-96A20B16B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523F8557-E11B-351A-6962-2FF022E85E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A8C4DF57-4B49-D135-96C4-051686240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EC4768-1E44-4DF3-6175-6C84721E9DA9}"/>
              </a:ext>
            </a:extLst>
          </p:cNvPr>
          <p:cNvSpPr>
            <a:spLocks noGrp="1"/>
          </p:cNvSpPr>
          <p:nvPr>
            <p:ph type="title"/>
          </p:nvPr>
        </p:nvSpPr>
        <p:spPr>
          <a:xfrm>
            <a:off x="699713" y="248038"/>
            <a:ext cx="11060061" cy="1159200"/>
          </a:xfrm>
        </p:spPr>
        <p:txBody>
          <a:bodyPr vert="horz" lIns="91440" tIns="45720" rIns="91440" bIns="45720" rtlCol="0" anchor="ctr">
            <a:normAutofit/>
          </a:bodyPr>
          <a:lstStyle/>
          <a:p>
            <a:r>
              <a:rPr lang="en-US" sz="4000" b="1" i="0" u="none" dirty="0">
                <a:solidFill>
                  <a:schemeClr val="bg1"/>
                </a:solidFill>
                <a:latin typeface="Poppins"/>
                <a:ea typeface="Poppins"/>
                <a:cs typeface="Poppins"/>
                <a:sym typeface="Poppins"/>
              </a:rPr>
              <a:t>Univariate Analysis Categorical</a:t>
            </a:r>
            <a:endParaRPr lang="en-US" sz="3700" kern="1200" dirty="0">
              <a:solidFill>
                <a:schemeClr val="bg1"/>
              </a:solidFill>
              <a:latin typeface="+mj-lt"/>
              <a:ea typeface="+mj-ea"/>
              <a:cs typeface="+mj-cs"/>
            </a:endParaRPr>
          </a:p>
        </p:txBody>
      </p:sp>
      <p:pic>
        <p:nvPicPr>
          <p:cNvPr id="6" name="Picture 5">
            <a:extLst>
              <a:ext uri="{FF2B5EF4-FFF2-40B4-BE49-F238E27FC236}">
                <a16:creationId xmlns:a16="http://schemas.microsoft.com/office/drawing/2014/main" id="{E21C8362-583F-ED38-946A-5E654AC48523}"/>
              </a:ext>
            </a:extLst>
          </p:cNvPr>
          <p:cNvPicPr>
            <a:picLocks noChangeAspect="1"/>
          </p:cNvPicPr>
          <p:nvPr/>
        </p:nvPicPr>
        <p:blipFill>
          <a:blip r:embed="rId2"/>
          <a:stretch>
            <a:fillRect/>
          </a:stretch>
        </p:blipFill>
        <p:spPr>
          <a:xfrm>
            <a:off x="562782" y="1988929"/>
            <a:ext cx="4166435" cy="3345167"/>
          </a:xfrm>
          <a:prstGeom prst="rect">
            <a:avLst/>
          </a:prstGeom>
        </p:spPr>
      </p:pic>
      <p:pic>
        <p:nvPicPr>
          <p:cNvPr id="8" name="Picture 7">
            <a:extLst>
              <a:ext uri="{FF2B5EF4-FFF2-40B4-BE49-F238E27FC236}">
                <a16:creationId xmlns:a16="http://schemas.microsoft.com/office/drawing/2014/main" id="{C2E93E6A-4631-18B6-AD48-AED91A892E19}"/>
              </a:ext>
            </a:extLst>
          </p:cNvPr>
          <p:cNvPicPr>
            <a:picLocks noChangeAspect="1"/>
          </p:cNvPicPr>
          <p:nvPr/>
        </p:nvPicPr>
        <p:blipFill>
          <a:blip r:embed="rId3"/>
          <a:stretch>
            <a:fillRect/>
          </a:stretch>
        </p:blipFill>
        <p:spPr>
          <a:xfrm>
            <a:off x="5962877" y="2085557"/>
            <a:ext cx="5250144" cy="2195556"/>
          </a:xfrm>
          <a:prstGeom prst="rect">
            <a:avLst/>
          </a:prstGeom>
        </p:spPr>
      </p:pic>
      <p:sp>
        <p:nvSpPr>
          <p:cNvPr id="11" name="TextBox 10">
            <a:extLst>
              <a:ext uri="{FF2B5EF4-FFF2-40B4-BE49-F238E27FC236}">
                <a16:creationId xmlns:a16="http://schemas.microsoft.com/office/drawing/2014/main" id="{E1B0234C-781F-29BE-3BB4-36DD53B10AEC}"/>
              </a:ext>
            </a:extLst>
          </p:cNvPr>
          <p:cNvSpPr txBox="1"/>
          <p:nvPr/>
        </p:nvSpPr>
        <p:spPr>
          <a:xfrm>
            <a:off x="1128712" y="5520531"/>
            <a:ext cx="9450921" cy="646331"/>
          </a:xfrm>
          <a:prstGeom prst="rect">
            <a:avLst/>
          </a:prstGeom>
          <a:noFill/>
        </p:spPr>
        <p:txBody>
          <a:bodyPr wrap="none" rtlCol="0">
            <a:spAutoFit/>
          </a:bodyPr>
          <a:lstStyle/>
          <a:p>
            <a:r>
              <a:rPr lang="en-IN" dirty="0"/>
              <a:t>The Shipment mode, have four levels:  First Class, Second Class, Standard Class, Same Day.</a:t>
            </a:r>
          </a:p>
          <a:p>
            <a:r>
              <a:rPr lang="en-IN" dirty="0"/>
              <a:t>Standard Class is top mode of shipment with frequency of 5968 out of 9994 total observations.</a:t>
            </a:r>
          </a:p>
        </p:txBody>
      </p:sp>
    </p:spTree>
    <p:extLst>
      <p:ext uri="{BB962C8B-B14F-4D97-AF65-F5344CB8AC3E}">
        <p14:creationId xmlns:p14="http://schemas.microsoft.com/office/powerpoint/2010/main" val="1931303564"/>
      </p:ext>
    </p:extLst>
  </p:cSld>
  <p:clrMapOvr>
    <a:masterClrMapping/>
  </p:clrMapOvr>
  <mc:AlternateContent xmlns:mc="http://schemas.openxmlformats.org/markup-compatibility/2006" xmlns:p14="http://schemas.microsoft.com/office/powerpoint/2010/main">
    <mc:Choice Requires="p14">
      <p:transition spd="slow" p14:dur="1500">
        <p:checker/>
      </p:transition>
    </mc:Choice>
    <mc:Fallback xmlns="">
      <p:transition spd="slow">
        <p:checker/>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9360C3-C77E-CE37-96B4-A3F7BD13A449}"/>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476CCDA9-2A8C-DA09-3443-2BC987F5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491CB4C-EC1F-6E80-8C50-59448C249E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D0856A3-0D5C-3B69-EEFD-C2CE7D2A9C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08A68713-E027-DF16-50F5-664CAF4DCE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6A9197-2C9A-5A29-742E-3AF0E9106273}"/>
              </a:ext>
            </a:extLst>
          </p:cNvPr>
          <p:cNvSpPr>
            <a:spLocks noGrp="1"/>
          </p:cNvSpPr>
          <p:nvPr>
            <p:ph type="title"/>
          </p:nvPr>
        </p:nvSpPr>
        <p:spPr>
          <a:xfrm>
            <a:off x="217714" y="248038"/>
            <a:ext cx="11767457" cy="1159200"/>
          </a:xfrm>
        </p:spPr>
        <p:txBody>
          <a:bodyPr vert="horz" lIns="91440" tIns="45720" rIns="91440" bIns="45720" rtlCol="0" anchor="ctr">
            <a:normAutofit/>
          </a:bodyPr>
          <a:lstStyle/>
          <a:p>
            <a:pPr algn="ctr"/>
            <a:r>
              <a:rPr lang="en-US" sz="4000" b="1" dirty="0">
                <a:solidFill>
                  <a:srgbClr val="FFFFFF"/>
                </a:solidFill>
                <a:latin typeface="Poppins" panose="00000500000000000000" pitchFamily="2" charset="0"/>
                <a:cs typeface="Poppins" panose="00000500000000000000" pitchFamily="2" charset="0"/>
              </a:rPr>
              <a:t> Bivariate: </a:t>
            </a:r>
            <a:r>
              <a:rPr lang="en-US" sz="4000" b="1" i="0" u="none" dirty="0">
                <a:solidFill>
                  <a:schemeClr val="bg1"/>
                </a:solidFill>
                <a:latin typeface="Poppins"/>
                <a:ea typeface="Poppins"/>
                <a:cs typeface="Poppins"/>
                <a:sym typeface="Poppins"/>
              </a:rPr>
              <a:t>Correlation Analysis</a:t>
            </a:r>
            <a:endParaRPr lang="en-US" sz="3700" kern="1200" dirty="0">
              <a:solidFill>
                <a:schemeClr val="bg1"/>
              </a:solidFill>
              <a:latin typeface="+mj-lt"/>
              <a:ea typeface="+mj-ea"/>
              <a:cs typeface="+mj-cs"/>
            </a:endParaRPr>
          </a:p>
        </p:txBody>
      </p:sp>
      <p:pic>
        <p:nvPicPr>
          <p:cNvPr id="8" name="Picture 7">
            <a:extLst>
              <a:ext uri="{FF2B5EF4-FFF2-40B4-BE49-F238E27FC236}">
                <a16:creationId xmlns:a16="http://schemas.microsoft.com/office/drawing/2014/main" id="{7D64059F-0D64-2F76-0E13-254998926D57}"/>
              </a:ext>
            </a:extLst>
          </p:cNvPr>
          <p:cNvPicPr>
            <a:picLocks noChangeAspect="1"/>
          </p:cNvPicPr>
          <p:nvPr/>
        </p:nvPicPr>
        <p:blipFill>
          <a:blip r:embed="rId2"/>
          <a:stretch>
            <a:fillRect/>
          </a:stretch>
        </p:blipFill>
        <p:spPr>
          <a:xfrm>
            <a:off x="6653785" y="1688585"/>
            <a:ext cx="4136152" cy="2835609"/>
          </a:xfrm>
          <a:prstGeom prst="rect">
            <a:avLst/>
          </a:prstGeom>
        </p:spPr>
      </p:pic>
      <p:pic>
        <p:nvPicPr>
          <p:cNvPr id="10" name="Picture 9">
            <a:extLst>
              <a:ext uri="{FF2B5EF4-FFF2-40B4-BE49-F238E27FC236}">
                <a16:creationId xmlns:a16="http://schemas.microsoft.com/office/drawing/2014/main" id="{86B1E28B-3A62-1312-9972-A99FBE35B6B5}"/>
              </a:ext>
            </a:extLst>
          </p:cNvPr>
          <p:cNvPicPr>
            <a:picLocks noChangeAspect="1"/>
          </p:cNvPicPr>
          <p:nvPr/>
        </p:nvPicPr>
        <p:blipFill>
          <a:blip r:embed="rId3"/>
          <a:stretch>
            <a:fillRect/>
          </a:stretch>
        </p:blipFill>
        <p:spPr>
          <a:xfrm>
            <a:off x="514351" y="1688585"/>
            <a:ext cx="4772025" cy="3022664"/>
          </a:xfrm>
          <a:prstGeom prst="rect">
            <a:avLst/>
          </a:prstGeom>
        </p:spPr>
      </p:pic>
      <p:sp>
        <p:nvSpPr>
          <p:cNvPr id="12" name="TextBox 11">
            <a:extLst>
              <a:ext uri="{FF2B5EF4-FFF2-40B4-BE49-F238E27FC236}">
                <a16:creationId xmlns:a16="http://schemas.microsoft.com/office/drawing/2014/main" id="{76C99500-81FA-202E-C120-A5E3CC617749}"/>
              </a:ext>
            </a:extLst>
          </p:cNvPr>
          <p:cNvSpPr txBox="1"/>
          <p:nvPr/>
        </p:nvSpPr>
        <p:spPr>
          <a:xfrm>
            <a:off x="0" y="4826675"/>
            <a:ext cx="11656558" cy="2031325"/>
          </a:xfrm>
          <a:prstGeom prst="rect">
            <a:avLst/>
          </a:prstGeom>
          <a:noFill/>
        </p:spPr>
        <p:txBody>
          <a:bodyPr wrap="square">
            <a:spAutoFit/>
          </a:bodyPr>
          <a:lstStyle/>
          <a:p>
            <a:r>
              <a:rPr lang="en-US" b="1" dirty="0"/>
              <a:t>Key Takeaways</a:t>
            </a:r>
          </a:p>
          <a:p>
            <a:pPr>
              <a:buFont typeface="Arial" panose="020B0604020202020204" pitchFamily="34" charset="0"/>
              <a:buChar char="•"/>
            </a:pPr>
            <a:r>
              <a:rPr lang="en-US" dirty="0"/>
              <a:t>Increasing </a:t>
            </a:r>
            <a:r>
              <a:rPr lang="en-US" b="1" dirty="0"/>
              <a:t>sales</a:t>
            </a:r>
            <a:r>
              <a:rPr lang="en-US" dirty="0"/>
              <a:t> generally leads to </a:t>
            </a:r>
            <a:r>
              <a:rPr lang="en-US" b="1" dirty="0"/>
              <a:t>higher profit</a:t>
            </a:r>
            <a:r>
              <a:rPr lang="en-US" dirty="0"/>
              <a:t>.</a:t>
            </a:r>
          </a:p>
          <a:p>
            <a:pPr>
              <a:buFont typeface="Arial" panose="020B0604020202020204" pitchFamily="34" charset="0"/>
              <a:buChar char="•"/>
            </a:pPr>
            <a:r>
              <a:rPr lang="en-US" dirty="0"/>
              <a:t>Discounts have a </a:t>
            </a:r>
            <a:r>
              <a:rPr lang="en-US" b="1" dirty="0"/>
              <a:t>negative impact on profit</a:t>
            </a:r>
            <a:r>
              <a:rPr lang="en-US" dirty="0"/>
              <a:t>, meaning excessive discounting reduces profitability.</a:t>
            </a:r>
          </a:p>
          <a:p>
            <a:pPr>
              <a:buFont typeface="Arial" panose="020B0604020202020204" pitchFamily="34" charset="0"/>
              <a:buChar char="•"/>
            </a:pPr>
            <a:r>
              <a:rPr lang="en-US" dirty="0"/>
              <a:t>The number of items sold (</a:t>
            </a:r>
            <a:r>
              <a:rPr lang="en-US" b="1" dirty="0"/>
              <a:t>Quantity</a:t>
            </a:r>
            <a:r>
              <a:rPr lang="en-US" dirty="0"/>
              <a:t>) has a weak effect on both </a:t>
            </a:r>
            <a:r>
              <a:rPr lang="en-US" b="1" dirty="0"/>
              <a:t>Sales and Profit</a:t>
            </a:r>
            <a:r>
              <a:rPr lang="en-US" dirty="0"/>
              <a:t>, suggesting that selling more items doesn't necessarily guarantee significantly higher revenue or profit.</a:t>
            </a:r>
          </a:p>
          <a:p>
            <a:pPr>
              <a:buFont typeface="Arial" panose="020B0604020202020204" pitchFamily="34" charset="0"/>
              <a:buChar char="•"/>
            </a:pPr>
            <a:r>
              <a:rPr lang="en-US" dirty="0"/>
              <a:t>Discounts and quantity have almost no relationship, implying that increasing discounts doesn't necessarily increase the number of items sold.</a:t>
            </a:r>
          </a:p>
        </p:txBody>
      </p:sp>
    </p:spTree>
    <p:extLst>
      <p:ext uri="{BB962C8B-B14F-4D97-AF65-F5344CB8AC3E}">
        <p14:creationId xmlns:p14="http://schemas.microsoft.com/office/powerpoint/2010/main" val="3567843254"/>
      </p:ext>
    </p:extLst>
  </p:cSld>
  <p:clrMapOvr>
    <a:masterClrMapping/>
  </p:clrMapOvr>
  <mc:AlternateContent xmlns:mc="http://schemas.openxmlformats.org/markup-compatibility/2006" xmlns:p14="http://schemas.microsoft.com/office/powerpoint/2010/main">
    <mc:Choice Requires="p14">
      <p:transition spd="slow" p14:dur="1500">
        <p:checker/>
      </p:transition>
    </mc:Choice>
    <mc:Fallback xmlns="">
      <p:transition spd="slow">
        <p:checker/>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7CBC83-A97E-6D70-EEC3-5F72CDEB6744}"/>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025BC619-49EB-7D87-BE00-E7D3F263ED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B6A23DEC-D3DB-E395-7AC0-15F4F3DC8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DEA7ECB-E839-E05A-0FBD-DB0F086A84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04BB918F-5503-AEA1-576C-1EAE36AB46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62A803-6186-73FB-106E-5AC24F759FE1}"/>
              </a:ext>
            </a:extLst>
          </p:cNvPr>
          <p:cNvSpPr>
            <a:spLocks noGrp="1"/>
          </p:cNvSpPr>
          <p:nvPr>
            <p:ph type="title"/>
          </p:nvPr>
        </p:nvSpPr>
        <p:spPr>
          <a:xfrm>
            <a:off x="217714" y="248038"/>
            <a:ext cx="11767457" cy="1159200"/>
          </a:xfrm>
        </p:spPr>
        <p:txBody>
          <a:bodyPr vert="horz" lIns="91440" tIns="45720" rIns="91440" bIns="45720" rtlCol="0" anchor="ctr">
            <a:normAutofit fontScale="90000"/>
          </a:bodyPr>
          <a:lstStyle/>
          <a:p>
            <a:pPr algn="ctr"/>
            <a:r>
              <a:rPr lang="en-US" sz="3600" b="1" i="0" dirty="0">
                <a:solidFill>
                  <a:schemeClr val="bg1"/>
                </a:solidFill>
                <a:effectLst/>
              </a:rPr>
              <a:t> </a:t>
            </a:r>
            <a:r>
              <a:rPr lang="en-US" sz="3600" b="1" dirty="0">
                <a:solidFill>
                  <a:schemeClr val="bg1"/>
                </a:solidFill>
              </a:rPr>
              <a:t>Sales and Profit (Correlation)</a:t>
            </a:r>
            <a:br>
              <a:rPr lang="en-US" sz="3600" b="1" dirty="0">
                <a:solidFill>
                  <a:schemeClr val="bg1"/>
                </a:solidFill>
              </a:rPr>
            </a:br>
            <a:br>
              <a:rPr lang="en-US" sz="1600" b="1" dirty="0">
                <a:solidFill>
                  <a:schemeClr val="bg1"/>
                </a:solidFill>
              </a:rPr>
            </a:br>
            <a:r>
              <a:rPr lang="en-US" sz="2000" b="1" dirty="0">
                <a:solidFill>
                  <a:schemeClr val="bg1"/>
                </a:solidFill>
              </a:rPr>
              <a:t>Null Hypothesis (H₀): There is no relationship between Sales and Profit (correlation = 0).</a:t>
            </a:r>
            <a:br>
              <a:rPr lang="en-US" sz="2000" b="1" dirty="0">
                <a:solidFill>
                  <a:schemeClr val="bg1"/>
                </a:solidFill>
              </a:rPr>
            </a:br>
            <a:r>
              <a:rPr lang="en-US" sz="2000" b="1" dirty="0">
                <a:solidFill>
                  <a:schemeClr val="bg1"/>
                </a:solidFill>
              </a:rPr>
              <a:t>Alternative Hypothesis (H₁): There is a relationship between Sales and Profit (correlation ≠ 0).</a:t>
            </a:r>
            <a:endParaRPr lang="en-US" sz="2000" kern="1200" dirty="0">
              <a:solidFill>
                <a:schemeClr val="bg1"/>
              </a:solidFill>
              <a:ea typeface="+mj-ea"/>
              <a:cs typeface="+mj-cs"/>
            </a:endParaRPr>
          </a:p>
        </p:txBody>
      </p:sp>
      <p:sp>
        <p:nvSpPr>
          <p:cNvPr id="6" name="TextBox 5">
            <a:extLst>
              <a:ext uri="{FF2B5EF4-FFF2-40B4-BE49-F238E27FC236}">
                <a16:creationId xmlns:a16="http://schemas.microsoft.com/office/drawing/2014/main" id="{A922F35D-46F7-3A8C-94A4-5302A297A76F}"/>
              </a:ext>
            </a:extLst>
          </p:cNvPr>
          <p:cNvSpPr txBox="1"/>
          <p:nvPr/>
        </p:nvSpPr>
        <p:spPr>
          <a:xfrm>
            <a:off x="7149873" y="1818113"/>
            <a:ext cx="3635829" cy="3785652"/>
          </a:xfrm>
          <a:prstGeom prst="rect">
            <a:avLst/>
          </a:prstGeom>
          <a:noFill/>
        </p:spPr>
        <p:txBody>
          <a:bodyPr wrap="square" rtlCol="0">
            <a:spAutoFit/>
          </a:bodyPr>
          <a:lstStyle/>
          <a:p>
            <a:pPr>
              <a:buFont typeface="Arial" panose="020B0604020202020204" pitchFamily="34" charset="0"/>
              <a:buChar char="•"/>
            </a:pPr>
            <a:r>
              <a:rPr lang="en-US" sz="2000" dirty="0"/>
              <a:t>A </a:t>
            </a:r>
            <a:r>
              <a:rPr lang="en-US" sz="2000" b="1" dirty="0"/>
              <a:t>0.5793 correlation</a:t>
            </a:r>
            <a:r>
              <a:rPr lang="en-US" sz="2000" dirty="0"/>
              <a:t> suggests a moderately strong relationship</a:t>
            </a:r>
          </a:p>
          <a:p>
            <a:pPr>
              <a:buFont typeface="Arial" panose="020B0604020202020204" pitchFamily="34" charset="0"/>
              <a:buChar char="•"/>
            </a:pPr>
            <a:endParaRPr lang="en-US" sz="2000" dirty="0"/>
          </a:p>
          <a:p>
            <a:pPr>
              <a:buFont typeface="Arial" panose="020B0604020202020204" pitchFamily="34" charset="0"/>
              <a:buChar char="•"/>
            </a:pPr>
            <a:r>
              <a:rPr lang="en-US" sz="2000" dirty="0"/>
              <a:t>The </a:t>
            </a:r>
            <a:r>
              <a:rPr lang="en-US" sz="2000" b="1" dirty="0"/>
              <a:t>statistical significance (p-value = 0.0)</a:t>
            </a:r>
            <a:r>
              <a:rPr lang="en-US" sz="2000" dirty="0"/>
              <a:t> confirms that this result is reliable.</a:t>
            </a:r>
          </a:p>
          <a:p>
            <a:pPr>
              <a:buFont typeface="Arial" panose="020B0604020202020204" pitchFamily="34" charset="0"/>
              <a:buChar char="•"/>
            </a:pPr>
            <a:endParaRPr lang="en-US" sz="2000" dirty="0"/>
          </a:p>
          <a:p>
            <a:endParaRPr lang="en-US" sz="2000" dirty="0"/>
          </a:p>
          <a:p>
            <a:r>
              <a:rPr lang="en-US" sz="2000" dirty="0"/>
              <a:t>So, it confirms that </a:t>
            </a:r>
            <a:r>
              <a:rPr lang="en-US" sz="2000" b="1" dirty="0"/>
              <a:t>higher sales generally lead to higher profits</a:t>
            </a:r>
            <a:r>
              <a:rPr lang="en-US" sz="2000" dirty="0"/>
              <a:t>.</a:t>
            </a:r>
            <a:endParaRPr lang="en-US" sz="1800" b="0" i="0" u="none" dirty="0">
              <a:solidFill>
                <a:schemeClr val="dk1"/>
              </a:solidFill>
              <a:latin typeface="Montserrat"/>
              <a:ea typeface="Montserrat"/>
              <a:cs typeface="Montserrat"/>
              <a:sym typeface="Montserrat"/>
            </a:endParaRPr>
          </a:p>
        </p:txBody>
      </p:sp>
      <p:pic>
        <p:nvPicPr>
          <p:cNvPr id="4" name="Picture 3">
            <a:extLst>
              <a:ext uri="{FF2B5EF4-FFF2-40B4-BE49-F238E27FC236}">
                <a16:creationId xmlns:a16="http://schemas.microsoft.com/office/drawing/2014/main" id="{582A426F-A977-B888-2060-415F9ED3D134}"/>
              </a:ext>
            </a:extLst>
          </p:cNvPr>
          <p:cNvPicPr>
            <a:picLocks noChangeAspect="1"/>
          </p:cNvPicPr>
          <p:nvPr/>
        </p:nvPicPr>
        <p:blipFill>
          <a:blip r:embed="rId2"/>
          <a:stretch>
            <a:fillRect/>
          </a:stretch>
        </p:blipFill>
        <p:spPr>
          <a:xfrm>
            <a:off x="217714" y="5978139"/>
            <a:ext cx="8021902" cy="631823"/>
          </a:xfrm>
          <a:prstGeom prst="rect">
            <a:avLst/>
          </a:prstGeom>
        </p:spPr>
      </p:pic>
      <p:pic>
        <p:nvPicPr>
          <p:cNvPr id="8" name="Picture 7">
            <a:extLst>
              <a:ext uri="{FF2B5EF4-FFF2-40B4-BE49-F238E27FC236}">
                <a16:creationId xmlns:a16="http://schemas.microsoft.com/office/drawing/2014/main" id="{B9150E47-BBE8-91E4-7D4B-0DC2F1DA427B}"/>
              </a:ext>
            </a:extLst>
          </p:cNvPr>
          <p:cNvPicPr>
            <a:picLocks noChangeAspect="1"/>
          </p:cNvPicPr>
          <p:nvPr/>
        </p:nvPicPr>
        <p:blipFill>
          <a:blip r:embed="rId3"/>
          <a:stretch>
            <a:fillRect/>
          </a:stretch>
        </p:blipFill>
        <p:spPr>
          <a:xfrm>
            <a:off x="481212" y="1822347"/>
            <a:ext cx="5262363" cy="3911989"/>
          </a:xfrm>
          <a:prstGeom prst="rect">
            <a:avLst/>
          </a:prstGeom>
        </p:spPr>
      </p:pic>
    </p:spTree>
    <p:extLst>
      <p:ext uri="{BB962C8B-B14F-4D97-AF65-F5344CB8AC3E}">
        <p14:creationId xmlns:p14="http://schemas.microsoft.com/office/powerpoint/2010/main" val="1860414080"/>
      </p:ext>
    </p:extLst>
  </p:cSld>
  <p:clrMapOvr>
    <a:masterClrMapping/>
  </p:clrMapOvr>
  <mc:AlternateContent xmlns:mc="http://schemas.openxmlformats.org/markup-compatibility/2006" xmlns:p14="http://schemas.microsoft.com/office/powerpoint/2010/main">
    <mc:Choice Requires="p14">
      <p:transition spd="slow" p14:dur="1500">
        <p:checker/>
      </p:transition>
    </mc:Choice>
    <mc:Fallback xmlns="">
      <p:transition spd="slow">
        <p:checker/>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92023C-6AE9-F5D3-FA7B-119ED162E7F6}"/>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DC4B036E-EE99-CD88-620D-5607C6D21E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187183B-7BFB-F19A-E1A2-F4A49C1DF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CC22D6CD-3375-C4B4-F00D-4B4BD505D3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8C6B598E-0174-AB1F-BC1E-3FACFE2348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437C86-A373-17B6-06CB-013B2B8E3101}"/>
              </a:ext>
            </a:extLst>
          </p:cNvPr>
          <p:cNvSpPr>
            <a:spLocks noGrp="1"/>
          </p:cNvSpPr>
          <p:nvPr>
            <p:ph type="title"/>
          </p:nvPr>
        </p:nvSpPr>
        <p:spPr>
          <a:xfrm>
            <a:off x="217714" y="248038"/>
            <a:ext cx="11767457" cy="1159200"/>
          </a:xfrm>
        </p:spPr>
        <p:txBody>
          <a:bodyPr vert="horz" lIns="91440" tIns="45720" rIns="91440" bIns="45720" rtlCol="0" anchor="ctr">
            <a:normAutofit/>
          </a:bodyPr>
          <a:lstStyle/>
          <a:p>
            <a:r>
              <a:rPr lang="en-US" sz="3700" b="1" kern="1200" dirty="0">
                <a:solidFill>
                  <a:srgbClr val="FFFFFF"/>
                </a:solidFill>
                <a:latin typeface="+mj-lt"/>
                <a:ea typeface="+mj-ea"/>
                <a:cs typeface="+mj-cs"/>
              </a:rPr>
              <a:t> </a:t>
            </a:r>
            <a:r>
              <a:rPr lang="en-US" sz="4000" b="1" kern="1200" dirty="0">
                <a:solidFill>
                  <a:schemeClr val="bg1"/>
                </a:solidFill>
                <a:latin typeface="Poppins"/>
                <a:cs typeface="Poppins"/>
                <a:sym typeface="Poppins"/>
              </a:rPr>
              <a:t>Logistic Regression (target=Category)</a:t>
            </a:r>
            <a:endParaRPr lang="en-US" sz="3700" kern="1200" dirty="0">
              <a:solidFill>
                <a:schemeClr val="bg1"/>
              </a:solidFill>
              <a:latin typeface="+mj-lt"/>
              <a:ea typeface="+mj-ea"/>
              <a:cs typeface="+mj-cs"/>
            </a:endParaRPr>
          </a:p>
        </p:txBody>
      </p:sp>
      <p:sp>
        <p:nvSpPr>
          <p:cNvPr id="6" name="TextBox 5">
            <a:extLst>
              <a:ext uri="{FF2B5EF4-FFF2-40B4-BE49-F238E27FC236}">
                <a16:creationId xmlns:a16="http://schemas.microsoft.com/office/drawing/2014/main" id="{409332C1-2820-CB3D-5343-C71A9A093686}"/>
              </a:ext>
            </a:extLst>
          </p:cNvPr>
          <p:cNvSpPr txBox="1"/>
          <p:nvPr/>
        </p:nvSpPr>
        <p:spPr>
          <a:xfrm>
            <a:off x="6291264" y="2217849"/>
            <a:ext cx="5424486" cy="3785652"/>
          </a:xfrm>
          <a:prstGeom prst="rect">
            <a:avLst/>
          </a:prstGeom>
          <a:noFill/>
        </p:spPr>
        <p:txBody>
          <a:bodyPr wrap="square" rtlCol="0">
            <a:spAutoFit/>
          </a:bodyPr>
          <a:lstStyle/>
          <a:p>
            <a:r>
              <a:rPr lang="en-US" sz="2000" dirty="0">
                <a:solidFill>
                  <a:schemeClr val="dk1"/>
                </a:solidFill>
                <a:latin typeface="+mj-lt"/>
                <a:ea typeface="Montserrat"/>
                <a:cs typeface="Montserrat"/>
                <a:sym typeface="Montserrat"/>
              </a:rPr>
              <a:t>         </a:t>
            </a:r>
            <a:r>
              <a:rPr lang="en-US" sz="2000" b="0" i="0" u="none" dirty="0">
                <a:solidFill>
                  <a:schemeClr val="dk1"/>
                </a:solidFill>
                <a:latin typeface="+mj-lt"/>
                <a:ea typeface="Montserrat"/>
                <a:cs typeface="Montserrat"/>
                <a:sym typeface="Montserrat"/>
              </a:rPr>
              <a:t>Training Set Performance: </a:t>
            </a:r>
          </a:p>
          <a:p>
            <a:endParaRPr lang="en-US" sz="2000" b="0" i="0" u="none" dirty="0">
              <a:solidFill>
                <a:schemeClr val="dk1"/>
              </a:solidFill>
              <a:latin typeface="+mj-lt"/>
              <a:ea typeface="Montserrat"/>
              <a:cs typeface="Montserrat"/>
              <a:sym typeface="Montserrat"/>
            </a:endParaRPr>
          </a:p>
          <a:p>
            <a:pPr marL="457200" indent="-457200">
              <a:buAutoNum type="arabicPeriod"/>
            </a:pPr>
            <a:r>
              <a:rPr lang="en-US" sz="2000" b="1" i="0" u="none" dirty="0">
                <a:solidFill>
                  <a:schemeClr val="dk1"/>
                </a:solidFill>
                <a:latin typeface="+mj-lt"/>
                <a:ea typeface="Montserrat"/>
                <a:cs typeface="Montserrat"/>
                <a:sym typeface="Montserrat"/>
              </a:rPr>
              <a:t>Overall Accuracy</a:t>
            </a:r>
            <a:r>
              <a:rPr lang="en-US" sz="2000" b="0" i="0" u="none" dirty="0">
                <a:solidFill>
                  <a:schemeClr val="dk1"/>
                </a:solidFill>
                <a:latin typeface="+mj-lt"/>
                <a:ea typeface="Montserrat"/>
                <a:cs typeface="Montserrat"/>
                <a:sym typeface="Montserrat"/>
              </a:rPr>
              <a:t>: 1.0 (100%)The model perfectly classified all training samples with no errors. </a:t>
            </a:r>
          </a:p>
          <a:p>
            <a:pPr marL="457200" indent="-457200">
              <a:buAutoNum type="arabicPeriod"/>
            </a:pPr>
            <a:r>
              <a:rPr lang="en-US" sz="2000" b="1" i="0" u="none" dirty="0">
                <a:solidFill>
                  <a:schemeClr val="dk1"/>
                </a:solidFill>
                <a:latin typeface="+mj-lt"/>
                <a:ea typeface="Montserrat"/>
                <a:cs typeface="Montserrat"/>
                <a:sym typeface="Montserrat"/>
              </a:rPr>
              <a:t>Confusion Matrix: </a:t>
            </a:r>
            <a:r>
              <a:rPr lang="en-US" sz="2000" b="0" i="0" u="none" dirty="0">
                <a:solidFill>
                  <a:schemeClr val="dk1"/>
                </a:solidFill>
                <a:latin typeface="+mj-lt"/>
                <a:ea typeface="Montserrat"/>
                <a:cs typeface="Montserrat"/>
                <a:sym typeface="Montserrat"/>
              </a:rPr>
              <a:t>Each diagonal element (e.g., 1304, 3585, 1107) represents correct classifications. </a:t>
            </a:r>
          </a:p>
          <a:p>
            <a:pPr marL="457200" indent="-457200">
              <a:buAutoNum type="arabicPeriod"/>
            </a:pPr>
            <a:r>
              <a:rPr lang="en-US" sz="2000" b="1" i="0" u="none" dirty="0">
                <a:solidFill>
                  <a:schemeClr val="dk1"/>
                </a:solidFill>
                <a:latin typeface="+mj-lt"/>
                <a:ea typeface="Montserrat"/>
                <a:cs typeface="Montserrat"/>
                <a:sym typeface="Montserrat"/>
              </a:rPr>
              <a:t>Possible Concern</a:t>
            </a:r>
            <a:r>
              <a:rPr lang="en-US" sz="2000" b="0" i="0" u="none" dirty="0">
                <a:solidFill>
                  <a:schemeClr val="dk1"/>
                </a:solidFill>
                <a:latin typeface="+mj-lt"/>
                <a:ea typeface="Montserrat"/>
                <a:cs typeface="Montserrat"/>
                <a:sym typeface="Montserrat"/>
              </a:rPr>
              <a:t>: Overfitting 100% accuracy on the training set suggests that the model may be memorizing the training data rather than learning general patterns.</a:t>
            </a:r>
            <a:endParaRPr lang="en-CA" dirty="0"/>
          </a:p>
        </p:txBody>
      </p:sp>
      <p:pic>
        <p:nvPicPr>
          <p:cNvPr id="4" name="Picture 3">
            <a:extLst>
              <a:ext uri="{FF2B5EF4-FFF2-40B4-BE49-F238E27FC236}">
                <a16:creationId xmlns:a16="http://schemas.microsoft.com/office/drawing/2014/main" id="{6AEF6BE5-10B1-1B02-550F-ED510BF48BB7}"/>
              </a:ext>
            </a:extLst>
          </p:cNvPr>
          <p:cNvPicPr>
            <a:picLocks noChangeAspect="1"/>
          </p:cNvPicPr>
          <p:nvPr/>
        </p:nvPicPr>
        <p:blipFill>
          <a:blip r:embed="rId2"/>
          <a:stretch>
            <a:fillRect/>
          </a:stretch>
        </p:blipFill>
        <p:spPr>
          <a:xfrm>
            <a:off x="217714" y="1822348"/>
            <a:ext cx="5683024" cy="3912902"/>
          </a:xfrm>
          <a:prstGeom prst="rect">
            <a:avLst/>
          </a:prstGeom>
        </p:spPr>
      </p:pic>
    </p:spTree>
    <p:extLst>
      <p:ext uri="{BB962C8B-B14F-4D97-AF65-F5344CB8AC3E}">
        <p14:creationId xmlns:p14="http://schemas.microsoft.com/office/powerpoint/2010/main" val="850278149"/>
      </p:ext>
    </p:extLst>
  </p:cSld>
  <p:clrMapOvr>
    <a:masterClrMapping/>
  </p:clrMapOvr>
  <mc:AlternateContent xmlns:mc="http://schemas.openxmlformats.org/markup-compatibility/2006" xmlns:p14="http://schemas.microsoft.com/office/powerpoint/2010/main">
    <mc:Choice Requires="p14">
      <p:transition spd="slow" p14:dur="1500">
        <p:checker/>
      </p:transition>
    </mc:Choice>
    <mc:Fallback xmlns="">
      <p:transition spd="slow">
        <p:checker/>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2456FF-0948-8300-1F2E-70DF196EF768}"/>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13E95DEC-F93D-5C5B-105F-EF74E39DE0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9AD856E8-BE1D-DFD8-0CC7-CE458DE41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8DEB5DD7-7672-6479-3ECF-3A9CB21BD3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5E3A2D05-BFA2-2D05-9A79-3002538ECE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2F3491-593D-3B8A-D521-0F95B9406064}"/>
              </a:ext>
            </a:extLst>
          </p:cNvPr>
          <p:cNvSpPr>
            <a:spLocks noGrp="1"/>
          </p:cNvSpPr>
          <p:nvPr>
            <p:ph type="title"/>
          </p:nvPr>
        </p:nvSpPr>
        <p:spPr>
          <a:xfrm>
            <a:off x="217714" y="248038"/>
            <a:ext cx="11767457" cy="1159200"/>
          </a:xfrm>
        </p:spPr>
        <p:txBody>
          <a:bodyPr vert="horz" lIns="91440" tIns="45720" rIns="91440" bIns="45720" rtlCol="0" anchor="ctr">
            <a:normAutofit/>
          </a:bodyPr>
          <a:lstStyle/>
          <a:p>
            <a:r>
              <a:rPr lang="en-US" sz="3700" b="1" kern="1200" dirty="0">
                <a:solidFill>
                  <a:srgbClr val="FFFFFF"/>
                </a:solidFill>
                <a:latin typeface="+mj-lt"/>
                <a:ea typeface="+mj-ea"/>
                <a:cs typeface="+mj-cs"/>
              </a:rPr>
              <a:t> </a:t>
            </a:r>
            <a:r>
              <a:rPr lang="en-US" sz="4000" b="1" kern="1200" dirty="0">
                <a:solidFill>
                  <a:schemeClr val="bg1"/>
                </a:solidFill>
                <a:latin typeface="Poppins"/>
                <a:cs typeface="Poppins"/>
                <a:sym typeface="Poppins"/>
              </a:rPr>
              <a:t>Logistic Regression (target=Category)</a:t>
            </a:r>
            <a:endParaRPr lang="en-US" sz="3700" kern="1200" dirty="0">
              <a:solidFill>
                <a:schemeClr val="bg1"/>
              </a:solidFill>
              <a:latin typeface="+mj-lt"/>
              <a:ea typeface="+mj-ea"/>
              <a:cs typeface="+mj-cs"/>
            </a:endParaRPr>
          </a:p>
        </p:txBody>
      </p:sp>
      <p:sp>
        <p:nvSpPr>
          <p:cNvPr id="6" name="TextBox 5">
            <a:extLst>
              <a:ext uri="{FF2B5EF4-FFF2-40B4-BE49-F238E27FC236}">
                <a16:creationId xmlns:a16="http://schemas.microsoft.com/office/drawing/2014/main" id="{90208FB6-721B-6AF5-DEE2-25BDAF0185EE}"/>
              </a:ext>
            </a:extLst>
          </p:cNvPr>
          <p:cNvSpPr txBox="1"/>
          <p:nvPr/>
        </p:nvSpPr>
        <p:spPr>
          <a:xfrm>
            <a:off x="5900737" y="1617001"/>
            <a:ext cx="6022049" cy="5016758"/>
          </a:xfrm>
          <a:prstGeom prst="rect">
            <a:avLst/>
          </a:prstGeom>
          <a:noFill/>
        </p:spPr>
        <p:txBody>
          <a:bodyPr wrap="square" rtlCol="0">
            <a:spAutoFit/>
          </a:bodyPr>
          <a:lstStyle/>
          <a:p>
            <a:r>
              <a:rPr lang="en-US" sz="2000" b="0" i="0" u="none" dirty="0">
                <a:solidFill>
                  <a:schemeClr val="dk1"/>
                </a:solidFill>
                <a:latin typeface="+mj-lt"/>
                <a:ea typeface="Montserrat"/>
                <a:cs typeface="Montserrat"/>
                <a:sym typeface="Montserrat"/>
              </a:rPr>
              <a:t>2. Test Set Performance: </a:t>
            </a:r>
          </a:p>
          <a:p>
            <a:r>
              <a:rPr lang="en-US" sz="2000" b="1" i="0" u="none" dirty="0">
                <a:solidFill>
                  <a:schemeClr val="dk1"/>
                </a:solidFill>
                <a:latin typeface="+mj-lt"/>
                <a:ea typeface="Montserrat"/>
                <a:cs typeface="Montserrat"/>
                <a:sym typeface="Montserrat"/>
              </a:rPr>
              <a:t>Overall Accuracy: </a:t>
            </a:r>
            <a:r>
              <a:rPr lang="en-US" sz="2000" b="0" i="0" u="none" dirty="0">
                <a:solidFill>
                  <a:schemeClr val="dk1"/>
                </a:solidFill>
                <a:latin typeface="+mj-lt"/>
                <a:ea typeface="Montserrat"/>
                <a:cs typeface="Montserrat"/>
                <a:sym typeface="Montserrat"/>
              </a:rPr>
              <a:t>99.45%The model performs extremely well on unseen data, meaning it's generalizing well. </a:t>
            </a:r>
          </a:p>
          <a:p>
            <a:r>
              <a:rPr lang="en-US" sz="2000" b="1" i="0" u="none" dirty="0">
                <a:solidFill>
                  <a:schemeClr val="dk1"/>
                </a:solidFill>
                <a:latin typeface="+mj-lt"/>
                <a:ea typeface="Montserrat"/>
                <a:cs typeface="Montserrat"/>
                <a:sym typeface="Montserrat"/>
              </a:rPr>
              <a:t>Class-wise Performance</a:t>
            </a:r>
            <a:r>
              <a:rPr lang="en-US" sz="2000" b="0" i="0" u="none" dirty="0">
                <a:solidFill>
                  <a:schemeClr val="dk1"/>
                </a:solidFill>
                <a:latin typeface="+mj-lt"/>
                <a:ea typeface="Montserrat"/>
                <a:cs typeface="Montserrat"/>
                <a:sym typeface="Montserrat"/>
              </a:rPr>
              <a:t>: </a:t>
            </a:r>
          </a:p>
          <a:p>
            <a:r>
              <a:rPr lang="en-US" sz="2000" b="0" i="0" u="none" dirty="0">
                <a:solidFill>
                  <a:schemeClr val="dk1"/>
                </a:solidFill>
                <a:latin typeface="+mj-lt"/>
                <a:ea typeface="Montserrat"/>
                <a:cs typeface="Montserrat"/>
                <a:sym typeface="Montserrat"/>
              </a:rPr>
              <a:t>Furniture: Perfect classification (100% precision and recall).</a:t>
            </a:r>
          </a:p>
          <a:p>
            <a:r>
              <a:rPr lang="en-US" sz="2000" b="0" i="0" u="none" dirty="0">
                <a:solidFill>
                  <a:schemeClr val="dk1"/>
                </a:solidFill>
                <a:latin typeface="+mj-lt"/>
                <a:ea typeface="Montserrat"/>
                <a:cs typeface="Montserrat"/>
                <a:sym typeface="Montserrat"/>
              </a:rPr>
              <a:t>Office Supplies: Small drop in recall (99%) due to 18 misclassified samples.</a:t>
            </a:r>
          </a:p>
          <a:p>
            <a:r>
              <a:rPr lang="en-US" sz="2000" b="0" i="0" u="none" dirty="0">
                <a:solidFill>
                  <a:schemeClr val="dk1"/>
                </a:solidFill>
                <a:latin typeface="+mj-lt"/>
                <a:ea typeface="Montserrat"/>
                <a:cs typeface="Montserrat"/>
                <a:sym typeface="Montserrat"/>
              </a:rPr>
              <a:t>Technology: Precision (98%) and recall (99%) indicate a few misclassifications.</a:t>
            </a:r>
          </a:p>
          <a:p>
            <a:r>
              <a:rPr lang="en-US" sz="2000" b="1" i="0" u="none" dirty="0">
                <a:solidFill>
                  <a:schemeClr val="dk1"/>
                </a:solidFill>
                <a:latin typeface="+mj-lt"/>
                <a:ea typeface="Montserrat"/>
                <a:cs typeface="Montserrat"/>
                <a:sym typeface="Montserrat"/>
              </a:rPr>
              <a:t>Confusion Matrix Observations</a:t>
            </a:r>
            <a:r>
              <a:rPr lang="en-US" sz="2000" b="0" i="0" u="none" dirty="0">
                <a:solidFill>
                  <a:schemeClr val="dk1"/>
                </a:solidFill>
                <a:latin typeface="+mj-lt"/>
                <a:ea typeface="Montserrat"/>
                <a:cs typeface="Montserrat"/>
                <a:sym typeface="Montserrat"/>
              </a:rPr>
              <a:t>: Furniture (817 correctly classified, 0 misclassified).Office Supplies (18 samples misclassified out of 2441).Technology (4 misclassified as other categories).Very few misclassifications overall.</a:t>
            </a:r>
          </a:p>
        </p:txBody>
      </p:sp>
      <p:pic>
        <p:nvPicPr>
          <p:cNvPr id="5" name="Picture 4">
            <a:extLst>
              <a:ext uri="{FF2B5EF4-FFF2-40B4-BE49-F238E27FC236}">
                <a16:creationId xmlns:a16="http://schemas.microsoft.com/office/drawing/2014/main" id="{D1BDE665-6622-41FF-5978-007617D4D078}"/>
              </a:ext>
            </a:extLst>
          </p:cNvPr>
          <p:cNvPicPr>
            <a:picLocks noChangeAspect="1"/>
          </p:cNvPicPr>
          <p:nvPr/>
        </p:nvPicPr>
        <p:blipFill>
          <a:blip r:embed="rId2"/>
          <a:stretch>
            <a:fillRect/>
          </a:stretch>
        </p:blipFill>
        <p:spPr>
          <a:xfrm>
            <a:off x="426375" y="2014124"/>
            <a:ext cx="5474362" cy="3686589"/>
          </a:xfrm>
          <a:prstGeom prst="rect">
            <a:avLst/>
          </a:prstGeom>
        </p:spPr>
      </p:pic>
    </p:spTree>
    <p:extLst>
      <p:ext uri="{BB962C8B-B14F-4D97-AF65-F5344CB8AC3E}">
        <p14:creationId xmlns:p14="http://schemas.microsoft.com/office/powerpoint/2010/main" val="1756242210"/>
      </p:ext>
    </p:extLst>
  </p:cSld>
  <p:clrMapOvr>
    <a:masterClrMapping/>
  </p:clrMapOvr>
  <mc:AlternateContent xmlns:mc="http://schemas.openxmlformats.org/markup-compatibility/2006" xmlns:p14="http://schemas.microsoft.com/office/powerpoint/2010/main">
    <mc:Choice Requires="p14">
      <p:transition spd="slow" p14:dur="1500">
        <p:checker/>
      </p:transition>
    </mc:Choice>
    <mc:Fallback xmlns="">
      <p:transition spd="slow">
        <p:checker/>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B8E39B4-F1EA-1E6A-5E00-59EE928DEF90}"/>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138EA80B-F3D4-20A7-DE0F-1E4FA99EE8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8F4E109-035A-AA3E-7E5F-F11C92585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345E5292-6634-E1EA-D9C3-5F1D49A06F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3B4C25F-001C-6906-6D4A-F5E135DF44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EF1C3C-DC35-F854-2DC3-75DDB60C9F70}"/>
              </a:ext>
            </a:extLst>
          </p:cNvPr>
          <p:cNvSpPr>
            <a:spLocks noGrp="1"/>
          </p:cNvSpPr>
          <p:nvPr>
            <p:ph type="title"/>
          </p:nvPr>
        </p:nvSpPr>
        <p:spPr>
          <a:xfrm>
            <a:off x="217714" y="248038"/>
            <a:ext cx="11767457" cy="1159200"/>
          </a:xfrm>
        </p:spPr>
        <p:txBody>
          <a:bodyPr vert="horz" lIns="91440" tIns="45720" rIns="91440" bIns="45720" rtlCol="0" anchor="ctr">
            <a:normAutofit/>
          </a:bodyPr>
          <a:lstStyle/>
          <a:p>
            <a:r>
              <a:rPr lang="en-US" sz="3700" b="1" kern="1200" dirty="0">
                <a:solidFill>
                  <a:srgbClr val="FFFFFF"/>
                </a:solidFill>
                <a:latin typeface="+mj-lt"/>
                <a:ea typeface="+mj-ea"/>
                <a:cs typeface="+mj-cs"/>
              </a:rPr>
              <a:t> </a:t>
            </a:r>
            <a:r>
              <a:rPr lang="en-US" sz="4000" b="1" kern="1200" dirty="0">
                <a:solidFill>
                  <a:schemeClr val="bg1"/>
                </a:solidFill>
                <a:latin typeface="Poppins"/>
                <a:cs typeface="Poppins"/>
                <a:sym typeface="Poppins"/>
              </a:rPr>
              <a:t>Linear Regression (target=</a:t>
            </a:r>
            <a:r>
              <a:rPr lang="en-US" sz="4000" b="1" dirty="0">
                <a:solidFill>
                  <a:schemeClr val="bg1"/>
                </a:solidFill>
                <a:latin typeface="Poppins"/>
                <a:cs typeface="Poppins"/>
                <a:sym typeface="Poppins"/>
              </a:rPr>
              <a:t>Sales</a:t>
            </a:r>
            <a:r>
              <a:rPr lang="en-US" sz="4000" b="1" kern="1200" dirty="0">
                <a:solidFill>
                  <a:schemeClr val="bg1"/>
                </a:solidFill>
                <a:latin typeface="Poppins"/>
                <a:cs typeface="Poppins"/>
                <a:sym typeface="Poppins"/>
              </a:rPr>
              <a:t>)</a:t>
            </a:r>
            <a:endParaRPr lang="en-US" sz="3700" kern="1200" dirty="0">
              <a:solidFill>
                <a:schemeClr val="bg1"/>
              </a:solidFill>
              <a:latin typeface="+mj-lt"/>
              <a:ea typeface="+mj-ea"/>
              <a:cs typeface="+mj-cs"/>
            </a:endParaRPr>
          </a:p>
        </p:txBody>
      </p:sp>
      <p:pic>
        <p:nvPicPr>
          <p:cNvPr id="8" name="Picture 7">
            <a:extLst>
              <a:ext uri="{FF2B5EF4-FFF2-40B4-BE49-F238E27FC236}">
                <a16:creationId xmlns:a16="http://schemas.microsoft.com/office/drawing/2014/main" id="{30D176AA-A727-0B12-6BA5-A2B5FF751193}"/>
              </a:ext>
            </a:extLst>
          </p:cNvPr>
          <p:cNvPicPr>
            <a:picLocks noChangeAspect="1"/>
          </p:cNvPicPr>
          <p:nvPr/>
        </p:nvPicPr>
        <p:blipFill>
          <a:blip r:embed="rId2"/>
          <a:stretch>
            <a:fillRect/>
          </a:stretch>
        </p:blipFill>
        <p:spPr>
          <a:xfrm>
            <a:off x="1502068" y="2467024"/>
            <a:ext cx="8912496" cy="2983008"/>
          </a:xfrm>
          <a:prstGeom prst="rect">
            <a:avLst/>
          </a:prstGeom>
        </p:spPr>
      </p:pic>
    </p:spTree>
    <p:extLst>
      <p:ext uri="{BB962C8B-B14F-4D97-AF65-F5344CB8AC3E}">
        <p14:creationId xmlns:p14="http://schemas.microsoft.com/office/powerpoint/2010/main" val="1409164516"/>
      </p:ext>
    </p:extLst>
  </p:cSld>
  <p:clrMapOvr>
    <a:masterClrMapping/>
  </p:clrMapOvr>
  <mc:AlternateContent xmlns:mc="http://schemas.openxmlformats.org/markup-compatibility/2006" xmlns:p14="http://schemas.microsoft.com/office/powerpoint/2010/main">
    <mc:Choice Requires="p14">
      <p:transition spd="slow" p14:dur="1500">
        <p:checker/>
      </p:transition>
    </mc:Choice>
    <mc:Fallback xmlns="">
      <p:transition spd="slow">
        <p:checker/>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029F8B-F49B-84D0-B158-48ADAC552529}"/>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CFD1A4F9-EDC5-22AD-1F1F-1C1FD4BC97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87C1D8E4-A710-4FBA-3960-2EC1E1D2D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6032BB09-2A35-6F90-90E2-B43AECFEED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99DAA522-0858-9039-F085-F628E0068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CD4F07-A77C-EB0A-41B8-FF23CDF44690}"/>
              </a:ext>
            </a:extLst>
          </p:cNvPr>
          <p:cNvSpPr>
            <a:spLocks noGrp="1"/>
          </p:cNvSpPr>
          <p:nvPr>
            <p:ph type="title"/>
          </p:nvPr>
        </p:nvSpPr>
        <p:spPr>
          <a:xfrm>
            <a:off x="217714" y="248038"/>
            <a:ext cx="11767457" cy="1159200"/>
          </a:xfrm>
        </p:spPr>
        <p:txBody>
          <a:bodyPr vert="horz" lIns="91440" tIns="45720" rIns="91440" bIns="45720" rtlCol="0" anchor="ctr">
            <a:normAutofit/>
          </a:bodyPr>
          <a:lstStyle/>
          <a:p>
            <a:r>
              <a:rPr lang="en-US" sz="3700" b="1" kern="1200" dirty="0">
                <a:solidFill>
                  <a:srgbClr val="FFFFFF"/>
                </a:solidFill>
                <a:latin typeface="+mj-lt"/>
                <a:ea typeface="+mj-ea"/>
                <a:cs typeface="+mj-cs"/>
              </a:rPr>
              <a:t> </a:t>
            </a:r>
            <a:r>
              <a:rPr lang="en-US" sz="4000" b="1" kern="1200" dirty="0">
                <a:solidFill>
                  <a:schemeClr val="bg1"/>
                </a:solidFill>
                <a:latin typeface="Poppins"/>
                <a:cs typeface="Poppins"/>
                <a:sym typeface="Poppins"/>
              </a:rPr>
              <a:t>Linear Regression (target=</a:t>
            </a:r>
            <a:r>
              <a:rPr lang="en-US" sz="4000" b="1" dirty="0">
                <a:solidFill>
                  <a:schemeClr val="bg1"/>
                </a:solidFill>
                <a:latin typeface="Poppins"/>
                <a:cs typeface="Poppins"/>
                <a:sym typeface="Poppins"/>
              </a:rPr>
              <a:t>Sales</a:t>
            </a:r>
            <a:r>
              <a:rPr lang="en-US" sz="4000" b="1" kern="1200" dirty="0">
                <a:solidFill>
                  <a:schemeClr val="bg1"/>
                </a:solidFill>
                <a:latin typeface="Poppins"/>
                <a:cs typeface="Poppins"/>
                <a:sym typeface="Poppins"/>
              </a:rPr>
              <a:t>)</a:t>
            </a:r>
            <a:endParaRPr lang="en-US" sz="3700" kern="1200" dirty="0">
              <a:solidFill>
                <a:schemeClr val="bg1"/>
              </a:solidFill>
              <a:latin typeface="+mj-lt"/>
              <a:ea typeface="+mj-ea"/>
              <a:cs typeface="+mj-cs"/>
            </a:endParaRPr>
          </a:p>
        </p:txBody>
      </p:sp>
      <p:pic>
        <p:nvPicPr>
          <p:cNvPr id="7" name="Picture 6">
            <a:extLst>
              <a:ext uri="{FF2B5EF4-FFF2-40B4-BE49-F238E27FC236}">
                <a16:creationId xmlns:a16="http://schemas.microsoft.com/office/drawing/2014/main" id="{997A7C03-D836-50D7-4803-44398855E9FB}"/>
              </a:ext>
            </a:extLst>
          </p:cNvPr>
          <p:cNvPicPr>
            <a:picLocks noChangeAspect="1"/>
          </p:cNvPicPr>
          <p:nvPr/>
        </p:nvPicPr>
        <p:blipFill>
          <a:blip r:embed="rId2"/>
          <a:stretch>
            <a:fillRect/>
          </a:stretch>
        </p:blipFill>
        <p:spPr>
          <a:xfrm>
            <a:off x="1246507" y="2733244"/>
            <a:ext cx="9698982" cy="2286000"/>
          </a:xfrm>
          <a:prstGeom prst="rect">
            <a:avLst/>
          </a:prstGeom>
        </p:spPr>
      </p:pic>
    </p:spTree>
    <p:extLst>
      <p:ext uri="{BB962C8B-B14F-4D97-AF65-F5344CB8AC3E}">
        <p14:creationId xmlns:p14="http://schemas.microsoft.com/office/powerpoint/2010/main" val="4110530711"/>
      </p:ext>
    </p:extLst>
  </p:cSld>
  <p:clrMapOvr>
    <a:masterClrMapping/>
  </p:clrMapOvr>
  <mc:AlternateContent xmlns:mc="http://schemas.openxmlformats.org/markup-compatibility/2006" xmlns:p14="http://schemas.microsoft.com/office/powerpoint/2010/main">
    <mc:Choice Requires="p14">
      <p:transition spd="slow" p14:dur="1500">
        <p:checker/>
      </p:transition>
    </mc:Choice>
    <mc:Fallback xmlns="">
      <p:transition spd="slow">
        <p:checker/>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80BF10-2F5B-E124-3400-46696C3E3569}"/>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C331B0BE-D81A-E912-BC89-DAEB7CBE0C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9BFFDE2A-75C7-D6C6-A5DD-F97C4AC81B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2C0BC2AC-E450-F10A-CE75-BE54A381BF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6B8B7D1C-40AC-A6BA-4F28-6E8D914F8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63E14F-BBBC-6407-958E-0D90BC7AB773}"/>
              </a:ext>
            </a:extLst>
          </p:cNvPr>
          <p:cNvSpPr>
            <a:spLocks noGrp="1"/>
          </p:cNvSpPr>
          <p:nvPr>
            <p:ph type="title"/>
          </p:nvPr>
        </p:nvSpPr>
        <p:spPr>
          <a:xfrm>
            <a:off x="217714" y="248038"/>
            <a:ext cx="11767457" cy="1159200"/>
          </a:xfrm>
        </p:spPr>
        <p:txBody>
          <a:bodyPr vert="horz" lIns="91440" tIns="45720" rIns="91440" bIns="45720" rtlCol="0" anchor="ctr">
            <a:normAutofit/>
          </a:bodyPr>
          <a:lstStyle/>
          <a:p>
            <a:pPr algn="ctr"/>
            <a:r>
              <a:rPr lang="en-US" sz="3700" b="1" kern="1200" dirty="0">
                <a:solidFill>
                  <a:srgbClr val="FFFFFF"/>
                </a:solidFill>
                <a:latin typeface="+mj-lt"/>
                <a:ea typeface="+mj-ea"/>
                <a:cs typeface="+mj-cs"/>
              </a:rPr>
              <a:t> </a:t>
            </a:r>
            <a:r>
              <a:rPr lang="en-US" sz="4000" b="1" dirty="0">
                <a:solidFill>
                  <a:schemeClr val="bg1"/>
                </a:solidFill>
                <a:latin typeface="Poppins"/>
                <a:ea typeface="+mj-ea"/>
                <a:cs typeface="Poppins"/>
                <a:sym typeface="Poppins"/>
              </a:rPr>
              <a:t>Conclusion</a:t>
            </a:r>
            <a:endParaRPr lang="en-US" sz="3700" kern="1200" dirty="0">
              <a:solidFill>
                <a:schemeClr val="bg1"/>
              </a:solidFill>
              <a:latin typeface="+mj-lt"/>
              <a:ea typeface="+mj-ea"/>
              <a:cs typeface="+mj-cs"/>
            </a:endParaRPr>
          </a:p>
        </p:txBody>
      </p:sp>
      <p:graphicFrame>
        <p:nvGraphicFramePr>
          <p:cNvPr id="7" name="Diagram 6">
            <a:extLst>
              <a:ext uri="{FF2B5EF4-FFF2-40B4-BE49-F238E27FC236}">
                <a16:creationId xmlns:a16="http://schemas.microsoft.com/office/drawing/2014/main" id="{C8BE5C03-147A-050F-BD5F-E79CA58ECE0E}"/>
              </a:ext>
            </a:extLst>
          </p:cNvPr>
          <p:cNvGraphicFramePr/>
          <p:nvPr>
            <p:extLst>
              <p:ext uri="{D42A27DB-BD31-4B8C-83A1-F6EECF244321}">
                <p14:modId xmlns:p14="http://schemas.microsoft.com/office/powerpoint/2010/main" val="536498052"/>
              </p:ext>
            </p:extLst>
          </p:nvPr>
        </p:nvGraphicFramePr>
        <p:xfrm>
          <a:off x="1500188" y="1574311"/>
          <a:ext cx="9615486" cy="52836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02375382"/>
      </p:ext>
    </p:extLst>
  </p:cSld>
  <p:clrMapOvr>
    <a:masterClrMapping/>
  </p:clrMapOvr>
  <mc:AlternateContent xmlns:mc="http://schemas.openxmlformats.org/markup-compatibility/2006" xmlns:p14="http://schemas.microsoft.com/office/powerpoint/2010/main">
    <mc:Choice Requires="p14">
      <p:transition spd="slow" p14:dur="1500">
        <p:checker/>
      </p:transition>
    </mc:Choice>
    <mc:Fallback xmlns="">
      <p:transition spd="slow">
        <p:checker/>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1374</TotalTime>
  <Words>780</Words>
  <Application>Microsoft Office PowerPoint</Application>
  <PresentationFormat>Widescreen</PresentationFormat>
  <Paragraphs>83</Paragraphs>
  <Slides>15</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Meiryo</vt:lpstr>
      <vt:lpstr>Aptos</vt:lpstr>
      <vt:lpstr>Aptos Display</vt:lpstr>
      <vt:lpstr>Arial</vt:lpstr>
      <vt:lpstr>Arial Rounded MT Bold</vt:lpstr>
      <vt:lpstr>Courier New</vt:lpstr>
      <vt:lpstr>Montserrat</vt:lpstr>
      <vt:lpstr>Poppins</vt:lpstr>
      <vt:lpstr>Times New Roman</vt:lpstr>
      <vt:lpstr>Office Theme</vt:lpstr>
      <vt:lpstr>PowerPoint Presentation</vt:lpstr>
      <vt:lpstr>INTRODUCTION</vt:lpstr>
      <vt:lpstr>STEPS TAKEN TO IMPORT AND CLEAN DATA</vt:lpstr>
      <vt:lpstr>Retail Dataset </vt:lpstr>
      <vt:lpstr> UNIVARIATE ANALYSIS</vt:lpstr>
      <vt:lpstr> Numerical Univariate Analysis</vt:lpstr>
      <vt:lpstr> Numerical Univariate Analysis</vt:lpstr>
      <vt:lpstr>Univariate Analysis Categorical</vt:lpstr>
      <vt:lpstr> Bivariate: Correlation Analysis</vt:lpstr>
      <vt:lpstr> Sales and Profit (Correlation)  Null Hypothesis (H₀): There is no relationship between Sales and Profit (correlation = 0). Alternative Hypothesis (H₁): There is a relationship between Sales and Profit (correlation ≠ 0).</vt:lpstr>
      <vt:lpstr> Logistic Regression (target=Category)</vt:lpstr>
      <vt:lpstr> Logistic Regression (target=Category)</vt:lpstr>
      <vt:lpstr> Linear Regression (target=Sales)</vt:lpstr>
      <vt:lpstr> Linear Regression (target=Sales)</vt:lpstr>
      <vt:lpstr>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Jaspreet Kaur</dc:creator>
  <cp:lastModifiedBy>Rashpinder Chahal</cp:lastModifiedBy>
  <cp:revision>8</cp:revision>
  <dcterms:created xsi:type="dcterms:W3CDTF">2025-01-22T01:11:40Z</dcterms:created>
  <dcterms:modified xsi:type="dcterms:W3CDTF">2025-02-19T19:23:43Z</dcterms:modified>
</cp:coreProperties>
</file>