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2"/>
  </p:notesMasterIdLst>
  <p:sldIdLst>
    <p:sldId id="298" r:id="rId5"/>
    <p:sldId id="302" r:id="rId6"/>
    <p:sldId id="303" r:id="rId7"/>
    <p:sldId id="304" r:id="rId8"/>
    <p:sldId id="305" r:id="rId9"/>
    <p:sldId id="355" r:id="rId10"/>
    <p:sldId id="321" r:id="rId11"/>
    <p:sldId id="322" r:id="rId12"/>
    <p:sldId id="363" r:id="rId13"/>
    <p:sldId id="323" r:id="rId14"/>
    <p:sldId id="330" r:id="rId15"/>
    <p:sldId id="331" r:id="rId16"/>
    <p:sldId id="332" r:id="rId17"/>
    <p:sldId id="339" r:id="rId18"/>
    <p:sldId id="340" r:id="rId19"/>
    <p:sldId id="343" r:id="rId20"/>
    <p:sldId id="333" r:id="rId21"/>
    <p:sldId id="344" r:id="rId22"/>
    <p:sldId id="342" r:id="rId23"/>
    <p:sldId id="345" r:id="rId24"/>
    <p:sldId id="338" r:id="rId25"/>
    <p:sldId id="346" r:id="rId26"/>
    <p:sldId id="347" r:id="rId27"/>
    <p:sldId id="348" r:id="rId28"/>
    <p:sldId id="349" r:id="rId29"/>
    <p:sldId id="350" r:id="rId30"/>
    <p:sldId id="352" r:id="rId31"/>
    <p:sldId id="351" r:id="rId32"/>
    <p:sldId id="353" r:id="rId33"/>
    <p:sldId id="354" r:id="rId34"/>
    <p:sldId id="356" r:id="rId35"/>
    <p:sldId id="358" r:id="rId36"/>
    <p:sldId id="357" r:id="rId37"/>
    <p:sldId id="360" r:id="rId38"/>
    <p:sldId id="359" r:id="rId39"/>
    <p:sldId id="361" r:id="rId40"/>
    <p:sldId id="36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24FAD4-8076-49F9-B8D7-705A632AA8DB}" type="datetimeFigureOut">
              <a:rPr lang="en-IN" smtClean="0"/>
              <a:t>31-03-2025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442B5-CCD9-41AF-85A8-F689864A1199}" type="slidenum">
              <a:rPr lang="en-IN" smtClean="0"/>
              <a:t>‹#›</a:t>
            </a:fld>
            <a:endParaRPr lang="en-IN"/>
          </a:p>
        </p:txBody>
      </p:sp>
    </p:spTree>
    <p:extLst>
      <p:ext uri="{BB962C8B-B14F-4D97-AF65-F5344CB8AC3E}">
        <p14:creationId xmlns:p14="http://schemas.microsoft.com/office/powerpoint/2010/main" val="2042188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4442B5-CCD9-41AF-85A8-F689864A1199}" type="slidenum">
              <a:rPr lang="en-IN" smtClean="0"/>
              <a:t>2</a:t>
            </a:fld>
            <a:endParaRPr lang="en-IN"/>
          </a:p>
        </p:txBody>
      </p:sp>
    </p:spTree>
    <p:extLst>
      <p:ext uri="{BB962C8B-B14F-4D97-AF65-F5344CB8AC3E}">
        <p14:creationId xmlns:p14="http://schemas.microsoft.com/office/powerpoint/2010/main" val="3850621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3/31/2025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3/31/2025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3/31/2025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3/31/2025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3/31/2025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3/31/2025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3/31/2025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3/31/2025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3/31/2025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3/31/2025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400" dirty="0">
                <a:solidFill>
                  <a:schemeClr val="tx1"/>
                </a:solidFill>
              </a:rPr>
              <a:t>Superstore data analysis using SAS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Rashpinder kaur </a:t>
            </a:r>
            <a:r>
              <a:rPr lang="en-US" sz="1600" dirty="0" err="1"/>
              <a:t>chahal</a:t>
            </a:r>
            <a:endParaRPr lang="en-US" sz="1600" dirty="0"/>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7E1E02-9B8E-A317-EF9E-981448BAB208}"/>
              </a:ext>
            </a:extLst>
          </p:cNvPr>
          <p:cNvSpPr txBox="1"/>
          <p:nvPr/>
        </p:nvSpPr>
        <p:spPr>
          <a:xfrm>
            <a:off x="714375" y="566678"/>
            <a:ext cx="9972602" cy="5724644"/>
          </a:xfrm>
          <a:prstGeom prst="rect">
            <a:avLst/>
          </a:prstGeom>
          <a:noFill/>
        </p:spPr>
        <p:txBody>
          <a:bodyPr wrap="none" rtlCol="0">
            <a:spAutoFit/>
          </a:bodyPr>
          <a:lstStyle/>
          <a:p>
            <a:r>
              <a:rPr lang="en-IN" sz="2400" dirty="0">
                <a:latin typeface="+mj-lt"/>
              </a:rPr>
              <a:t>Dataset description: Superstore </a:t>
            </a:r>
          </a:p>
          <a:p>
            <a:r>
              <a:rPr lang="en-US" sz="1800" dirty="0">
                <a:latin typeface="Courier New" panose="02070309020205020404" pitchFamily="49" charset="0"/>
              </a:rPr>
              <a:t>The dataset contains sales details of different stores of a supermarket</a:t>
            </a:r>
          </a:p>
          <a:p>
            <a:r>
              <a:rPr lang="en-US" sz="1800" dirty="0">
                <a:latin typeface="Courier New" panose="02070309020205020404" pitchFamily="49" charset="0"/>
              </a:rPr>
              <a:t>chain that has multiple stores in different parts of the US.</a:t>
            </a:r>
          </a:p>
          <a:p>
            <a:r>
              <a:rPr lang="en-IN" sz="1800" dirty="0">
                <a:latin typeface="Courier New" panose="02070309020205020404" pitchFamily="49" charset="0"/>
              </a:rPr>
              <a:t>With columns such as:</a:t>
            </a:r>
          </a:p>
          <a:p>
            <a:endParaRPr lang="en-IN" sz="1800" dirty="0">
              <a:latin typeface="Courier New" panose="02070309020205020404" pitchFamily="49" charset="0"/>
            </a:endParaRPr>
          </a:p>
          <a:p>
            <a:r>
              <a:rPr lang="en-IN" sz="1800" dirty="0">
                <a:latin typeface="Courier New" panose="02070309020205020404" pitchFamily="49" charset="0"/>
              </a:rPr>
              <a:t>Ship Mode</a:t>
            </a:r>
          </a:p>
          <a:p>
            <a:r>
              <a:rPr lang="en-IN" sz="1800" dirty="0">
                <a:latin typeface="Courier New" panose="02070309020205020404" pitchFamily="49" charset="0"/>
              </a:rPr>
              <a:t>Segment</a:t>
            </a:r>
          </a:p>
          <a:p>
            <a:r>
              <a:rPr lang="en-IN" sz="1800" dirty="0">
                <a:latin typeface="Courier New" panose="02070309020205020404" pitchFamily="49" charset="0"/>
              </a:rPr>
              <a:t>Country</a:t>
            </a:r>
          </a:p>
          <a:p>
            <a:r>
              <a:rPr lang="en-IN" sz="1800" dirty="0">
                <a:latin typeface="Courier New" panose="02070309020205020404" pitchFamily="49" charset="0"/>
              </a:rPr>
              <a:t>City</a:t>
            </a:r>
          </a:p>
          <a:p>
            <a:r>
              <a:rPr lang="en-IN" sz="1800" dirty="0">
                <a:latin typeface="Courier New" panose="02070309020205020404" pitchFamily="49" charset="0"/>
              </a:rPr>
              <a:t>State</a:t>
            </a:r>
          </a:p>
          <a:p>
            <a:r>
              <a:rPr lang="en-IN" sz="1800" dirty="0">
                <a:latin typeface="Courier New" panose="02070309020205020404" pitchFamily="49" charset="0"/>
              </a:rPr>
              <a:t>Postal code</a:t>
            </a:r>
          </a:p>
          <a:p>
            <a:r>
              <a:rPr lang="en-IN" sz="1800" dirty="0">
                <a:latin typeface="Courier New" panose="02070309020205020404" pitchFamily="49" charset="0"/>
              </a:rPr>
              <a:t>Region</a:t>
            </a:r>
          </a:p>
          <a:p>
            <a:r>
              <a:rPr lang="en-IN" sz="1800" dirty="0">
                <a:latin typeface="Courier New" panose="02070309020205020404" pitchFamily="49" charset="0"/>
              </a:rPr>
              <a:t>Category</a:t>
            </a:r>
          </a:p>
          <a:p>
            <a:r>
              <a:rPr lang="en-IN" sz="1800" dirty="0">
                <a:latin typeface="Courier New" panose="02070309020205020404" pitchFamily="49" charset="0"/>
              </a:rPr>
              <a:t>Sub-category</a:t>
            </a:r>
          </a:p>
          <a:p>
            <a:r>
              <a:rPr lang="en-IN" sz="1800" dirty="0">
                <a:latin typeface="Courier New" panose="02070309020205020404" pitchFamily="49" charset="0"/>
              </a:rPr>
              <a:t>Sales</a:t>
            </a:r>
          </a:p>
          <a:p>
            <a:r>
              <a:rPr lang="en-IN" sz="1800" dirty="0">
                <a:latin typeface="Courier New" panose="02070309020205020404" pitchFamily="49" charset="0"/>
              </a:rPr>
              <a:t>Quantity</a:t>
            </a:r>
          </a:p>
          <a:p>
            <a:r>
              <a:rPr lang="en-IN" sz="1800" dirty="0">
                <a:latin typeface="Courier New" panose="02070309020205020404" pitchFamily="49" charset="0"/>
              </a:rPr>
              <a:t>Discount</a:t>
            </a:r>
          </a:p>
          <a:p>
            <a:r>
              <a:rPr lang="en-IN" sz="1800" dirty="0">
                <a:latin typeface="Courier New" panose="02070309020205020404" pitchFamily="49" charset="0"/>
              </a:rPr>
              <a:t>Profit</a:t>
            </a:r>
          </a:p>
          <a:p>
            <a:endParaRPr lang="en-IN" sz="1800" dirty="0">
              <a:latin typeface="Courier New" panose="02070309020205020404" pitchFamily="49" charset="0"/>
            </a:endParaRPr>
          </a:p>
          <a:p>
            <a:r>
              <a:rPr lang="en-IN" sz="1800" dirty="0">
                <a:latin typeface="Courier New" panose="02070309020205020404" pitchFamily="49" charset="0"/>
              </a:rPr>
              <a:t>Filetype: CSV</a:t>
            </a:r>
            <a:endParaRPr lang="en-IN" dirty="0"/>
          </a:p>
        </p:txBody>
      </p:sp>
    </p:spTree>
    <p:extLst>
      <p:ext uri="{BB962C8B-B14F-4D97-AF65-F5344CB8AC3E}">
        <p14:creationId xmlns:p14="http://schemas.microsoft.com/office/powerpoint/2010/main" val="1501215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C0BD2B-AB41-A3CD-4E16-E52D6BED27C6}"/>
              </a:ext>
            </a:extLst>
          </p:cNvPr>
          <p:cNvSpPr txBox="1"/>
          <p:nvPr/>
        </p:nvSpPr>
        <p:spPr>
          <a:xfrm>
            <a:off x="1414463" y="1500188"/>
            <a:ext cx="184731" cy="369332"/>
          </a:xfrm>
          <a:prstGeom prst="rect">
            <a:avLst/>
          </a:prstGeom>
          <a:noFill/>
        </p:spPr>
        <p:txBody>
          <a:bodyPr wrap="none" rtlCol="0">
            <a:spAutoFit/>
          </a:bodyPr>
          <a:lstStyle/>
          <a:p>
            <a:endParaRPr lang="en-IN"/>
          </a:p>
        </p:txBody>
      </p:sp>
      <p:pic>
        <p:nvPicPr>
          <p:cNvPr id="5" name="Picture 4">
            <a:extLst>
              <a:ext uri="{FF2B5EF4-FFF2-40B4-BE49-F238E27FC236}">
                <a16:creationId xmlns:a16="http://schemas.microsoft.com/office/drawing/2014/main" id="{A7FB79AF-5248-91A7-ECAA-1FC4043689CA}"/>
              </a:ext>
            </a:extLst>
          </p:cNvPr>
          <p:cNvPicPr>
            <a:picLocks noChangeAspect="1"/>
          </p:cNvPicPr>
          <p:nvPr/>
        </p:nvPicPr>
        <p:blipFill>
          <a:blip r:embed="rId2"/>
          <a:stretch>
            <a:fillRect/>
          </a:stretch>
        </p:blipFill>
        <p:spPr>
          <a:xfrm>
            <a:off x="1414462" y="1684854"/>
            <a:ext cx="9058275" cy="4219957"/>
          </a:xfrm>
          <a:prstGeom prst="rect">
            <a:avLst/>
          </a:prstGeom>
        </p:spPr>
      </p:pic>
      <p:sp>
        <p:nvSpPr>
          <p:cNvPr id="6" name="TextBox 5">
            <a:extLst>
              <a:ext uri="{FF2B5EF4-FFF2-40B4-BE49-F238E27FC236}">
                <a16:creationId xmlns:a16="http://schemas.microsoft.com/office/drawing/2014/main" id="{0F79DCF0-236F-F19A-0A57-9590A43564C3}"/>
              </a:ext>
            </a:extLst>
          </p:cNvPr>
          <p:cNvSpPr txBox="1"/>
          <p:nvPr/>
        </p:nvSpPr>
        <p:spPr>
          <a:xfrm>
            <a:off x="3638550" y="722356"/>
            <a:ext cx="4914900" cy="461665"/>
          </a:xfrm>
          <a:prstGeom prst="rect">
            <a:avLst/>
          </a:prstGeom>
          <a:noFill/>
        </p:spPr>
        <p:txBody>
          <a:bodyPr wrap="square" rtlCol="0">
            <a:spAutoFit/>
          </a:bodyPr>
          <a:lstStyle/>
          <a:p>
            <a:r>
              <a:rPr lang="en-IN" sz="2400" dirty="0"/>
              <a:t>Importing and Browsing Dataset</a:t>
            </a:r>
          </a:p>
        </p:txBody>
      </p:sp>
    </p:spTree>
    <p:extLst>
      <p:ext uri="{BB962C8B-B14F-4D97-AF65-F5344CB8AC3E}">
        <p14:creationId xmlns:p14="http://schemas.microsoft.com/office/powerpoint/2010/main" val="64410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C5CE-3538-BD6A-B0D5-A41CC19D0733}"/>
              </a:ext>
            </a:extLst>
          </p:cNvPr>
          <p:cNvSpPr>
            <a:spLocks noGrp="1"/>
          </p:cNvSpPr>
          <p:nvPr>
            <p:ph type="ctrTitle"/>
          </p:nvPr>
        </p:nvSpPr>
        <p:spPr/>
        <p:txBody>
          <a:bodyPr/>
          <a:lstStyle/>
          <a:p>
            <a:r>
              <a:rPr lang="en-IN" dirty="0"/>
              <a:t>Univariate Analysis</a:t>
            </a:r>
          </a:p>
        </p:txBody>
      </p:sp>
      <p:sp>
        <p:nvSpPr>
          <p:cNvPr id="3" name="Subtitle 2">
            <a:extLst>
              <a:ext uri="{FF2B5EF4-FFF2-40B4-BE49-F238E27FC236}">
                <a16:creationId xmlns:a16="http://schemas.microsoft.com/office/drawing/2014/main" id="{370EA0EB-D9D9-9F1C-F10C-0589BF787D5E}"/>
              </a:ext>
            </a:extLst>
          </p:cNvPr>
          <p:cNvSpPr>
            <a:spLocks noGrp="1"/>
          </p:cNvSpPr>
          <p:nvPr>
            <p:ph type="subTitle" idx="1"/>
          </p:nvPr>
        </p:nvSpPr>
        <p:spPr/>
        <p:txBody>
          <a:bodyPr/>
          <a:lstStyle/>
          <a:p>
            <a:r>
              <a:rPr lang="en-IN" dirty="0"/>
              <a:t>Categorical variables And Numerical variables</a:t>
            </a:r>
          </a:p>
        </p:txBody>
      </p:sp>
    </p:spTree>
    <p:extLst>
      <p:ext uri="{BB962C8B-B14F-4D97-AF65-F5344CB8AC3E}">
        <p14:creationId xmlns:p14="http://schemas.microsoft.com/office/powerpoint/2010/main" val="2051918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8910CC-690D-5BC6-4DA6-024F2E06BB8E}"/>
              </a:ext>
            </a:extLst>
          </p:cNvPr>
          <p:cNvSpPr txBox="1"/>
          <p:nvPr/>
        </p:nvSpPr>
        <p:spPr>
          <a:xfrm>
            <a:off x="3149103" y="385762"/>
            <a:ext cx="5078891" cy="461665"/>
          </a:xfrm>
          <a:prstGeom prst="rect">
            <a:avLst/>
          </a:prstGeom>
          <a:noFill/>
        </p:spPr>
        <p:txBody>
          <a:bodyPr wrap="none" rtlCol="0">
            <a:spAutoFit/>
          </a:bodyPr>
          <a:lstStyle/>
          <a:p>
            <a:r>
              <a:rPr lang="en-IN" sz="2400" dirty="0"/>
              <a:t>Shipment Mode (Categorical Variable)</a:t>
            </a:r>
          </a:p>
        </p:txBody>
      </p:sp>
      <p:pic>
        <p:nvPicPr>
          <p:cNvPr id="5" name="Picture 4">
            <a:extLst>
              <a:ext uri="{FF2B5EF4-FFF2-40B4-BE49-F238E27FC236}">
                <a16:creationId xmlns:a16="http://schemas.microsoft.com/office/drawing/2014/main" id="{F45FF3FB-9AE0-0EFB-8806-FD408AEABF10}"/>
              </a:ext>
            </a:extLst>
          </p:cNvPr>
          <p:cNvPicPr>
            <a:picLocks noChangeAspect="1"/>
          </p:cNvPicPr>
          <p:nvPr/>
        </p:nvPicPr>
        <p:blipFill>
          <a:blip r:embed="rId2"/>
          <a:stretch>
            <a:fillRect/>
          </a:stretch>
        </p:blipFill>
        <p:spPr>
          <a:xfrm>
            <a:off x="1485900" y="1571625"/>
            <a:ext cx="7772401" cy="2771775"/>
          </a:xfrm>
          <a:prstGeom prst="rect">
            <a:avLst/>
          </a:prstGeom>
        </p:spPr>
      </p:pic>
      <p:sp>
        <p:nvSpPr>
          <p:cNvPr id="6" name="TextBox 5">
            <a:extLst>
              <a:ext uri="{FF2B5EF4-FFF2-40B4-BE49-F238E27FC236}">
                <a16:creationId xmlns:a16="http://schemas.microsoft.com/office/drawing/2014/main" id="{4C8D295B-4C87-6D26-DA1F-2E0D76CBBDA9}"/>
              </a:ext>
            </a:extLst>
          </p:cNvPr>
          <p:cNvSpPr txBox="1"/>
          <p:nvPr/>
        </p:nvSpPr>
        <p:spPr>
          <a:xfrm>
            <a:off x="1085157" y="4800600"/>
            <a:ext cx="10386177" cy="646331"/>
          </a:xfrm>
          <a:prstGeom prst="rect">
            <a:avLst/>
          </a:prstGeom>
          <a:noFill/>
        </p:spPr>
        <p:txBody>
          <a:bodyPr wrap="none" rtlCol="0">
            <a:spAutoFit/>
          </a:bodyPr>
          <a:lstStyle/>
          <a:p>
            <a:r>
              <a:rPr lang="en-US" sz="1800" dirty="0">
                <a:solidFill>
                  <a:srgbClr val="1B7A1B"/>
                </a:solidFill>
                <a:latin typeface="Courier New" panose="02070309020205020404" pitchFamily="49" charset="0"/>
              </a:rPr>
              <a:t>Shipment Mode is used because mode of shipment is important as we need to </a:t>
            </a:r>
          </a:p>
          <a:p>
            <a:r>
              <a:rPr lang="en-US" sz="1800" dirty="0">
                <a:solidFill>
                  <a:srgbClr val="1B7A1B"/>
                </a:solidFill>
                <a:latin typeface="Courier New" panose="02070309020205020404" pitchFamily="49" charset="0"/>
              </a:rPr>
              <a:t>    </a:t>
            </a:r>
            <a:r>
              <a:rPr lang="en-US" sz="1800" dirty="0" err="1">
                <a:solidFill>
                  <a:srgbClr val="1B7A1B"/>
                </a:solidFill>
                <a:latin typeface="Courier New" panose="02070309020205020404" pitchFamily="49" charset="0"/>
              </a:rPr>
              <a:t>analyse</a:t>
            </a:r>
            <a:r>
              <a:rPr lang="en-US" sz="1800" dirty="0">
                <a:solidFill>
                  <a:srgbClr val="1B7A1B"/>
                </a:solidFill>
                <a:latin typeface="Courier New" panose="02070309020205020404" pitchFamily="49" charset="0"/>
              </a:rPr>
              <a:t> which shipment mode is most used;</a:t>
            </a:r>
            <a:endParaRPr lang="en-IN" dirty="0"/>
          </a:p>
        </p:txBody>
      </p:sp>
    </p:spTree>
    <p:extLst>
      <p:ext uri="{BB962C8B-B14F-4D97-AF65-F5344CB8AC3E}">
        <p14:creationId xmlns:p14="http://schemas.microsoft.com/office/powerpoint/2010/main" val="359004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838D1-5C3A-3FA2-4297-AD9B3702C3FF}"/>
              </a:ext>
            </a:extLst>
          </p:cNvPr>
          <p:cNvSpPr>
            <a:spLocks noGrp="1"/>
          </p:cNvSpPr>
          <p:nvPr>
            <p:ph type="title"/>
          </p:nvPr>
        </p:nvSpPr>
        <p:spPr>
          <a:xfrm>
            <a:off x="927970" y="346564"/>
            <a:ext cx="10567884" cy="1467245"/>
          </a:xfrm>
        </p:spPr>
        <p:txBody>
          <a:bodyPr>
            <a:noAutofit/>
          </a:bodyPr>
          <a:lstStyle/>
          <a:p>
            <a:r>
              <a:rPr lang="en-US" sz="1800" b="1" dirty="0">
                <a:solidFill>
                  <a:srgbClr val="008000"/>
                </a:solidFill>
                <a:latin typeface="Courier New" panose="02070309020205020404" pitchFamily="49" charset="0"/>
              </a:rPr>
              <a:t>The analysis focuses on the distribution of the variable "Shipment mode" within the </a:t>
            </a:r>
            <a:r>
              <a:rPr lang="en-IN" sz="1800" b="1" dirty="0">
                <a:solidFill>
                  <a:srgbClr val="008000"/>
                </a:solidFill>
                <a:latin typeface="Courier New" panose="02070309020205020404" pitchFamily="49" charset="0"/>
              </a:rPr>
              <a:t>dataset.</a:t>
            </a:r>
            <a:r>
              <a:rPr lang="en-US" sz="1800" b="1" dirty="0">
                <a:solidFill>
                  <a:srgbClr val="008000"/>
                </a:solidFill>
                <a:latin typeface="Courier New" panose="02070309020205020404" pitchFamily="49" charset="0"/>
              </a:rPr>
              <a:t>The data reveals a total of 9994 observations,</a:t>
            </a:r>
            <a:br>
              <a:rPr lang="en-US" sz="1800" b="1" dirty="0">
                <a:solidFill>
                  <a:srgbClr val="008000"/>
                </a:solidFill>
                <a:latin typeface="Courier New" panose="02070309020205020404" pitchFamily="49" charset="0"/>
              </a:rPr>
            </a:br>
            <a:r>
              <a:rPr lang="en-US" sz="1800" b="1" dirty="0">
                <a:solidFill>
                  <a:srgbClr val="008000"/>
                </a:solidFill>
                <a:latin typeface="Courier New" panose="02070309020205020404" pitchFamily="49" charset="0"/>
              </a:rPr>
              <a:t>First Class-1538 ie:15.39%</a:t>
            </a:r>
            <a:br>
              <a:rPr lang="en-US" sz="1800" b="1" dirty="0">
                <a:solidFill>
                  <a:srgbClr val="008000"/>
                </a:solidFill>
                <a:latin typeface="Courier New" panose="02070309020205020404" pitchFamily="49" charset="0"/>
              </a:rPr>
            </a:br>
            <a:r>
              <a:rPr lang="en-IN" sz="1800" b="1" dirty="0">
                <a:solidFill>
                  <a:srgbClr val="008000"/>
                </a:solidFill>
                <a:latin typeface="Courier New" panose="02070309020205020404" pitchFamily="49" charset="0"/>
              </a:rPr>
              <a:t>Same Day-543 ie:5.43%</a:t>
            </a:r>
            <a:br>
              <a:rPr lang="en-IN" sz="1800" b="1" dirty="0">
                <a:solidFill>
                  <a:srgbClr val="008000"/>
                </a:solidFill>
                <a:latin typeface="Courier New" panose="02070309020205020404" pitchFamily="49" charset="0"/>
              </a:rPr>
            </a:br>
            <a:r>
              <a:rPr lang="en-IN" sz="1800" b="1" dirty="0">
                <a:solidFill>
                  <a:srgbClr val="008000"/>
                </a:solidFill>
                <a:latin typeface="Courier New" panose="02070309020205020404" pitchFamily="49" charset="0"/>
              </a:rPr>
              <a:t>Second Class-1945 ie:19.46%</a:t>
            </a:r>
            <a:br>
              <a:rPr lang="en-IN" sz="1800" b="1" dirty="0">
                <a:solidFill>
                  <a:srgbClr val="008000"/>
                </a:solidFill>
                <a:latin typeface="Courier New" panose="02070309020205020404" pitchFamily="49" charset="0"/>
              </a:rPr>
            </a:br>
            <a:r>
              <a:rPr lang="en-IN" sz="1800" b="1" dirty="0">
                <a:solidFill>
                  <a:srgbClr val="008000"/>
                </a:solidFill>
                <a:latin typeface="Courier New" panose="02070309020205020404" pitchFamily="49" charset="0"/>
              </a:rPr>
              <a:t>Standard Class-5968 ie:59.72%</a:t>
            </a:r>
            <a:endParaRPr lang="en-IN" sz="1800" dirty="0"/>
          </a:p>
        </p:txBody>
      </p:sp>
      <p:pic>
        <p:nvPicPr>
          <p:cNvPr id="10" name="Content Placeholder 9">
            <a:extLst>
              <a:ext uri="{FF2B5EF4-FFF2-40B4-BE49-F238E27FC236}">
                <a16:creationId xmlns:a16="http://schemas.microsoft.com/office/drawing/2014/main" id="{A645F878-159B-9175-D460-E1B71FDBB245}"/>
              </a:ext>
            </a:extLst>
          </p:cNvPr>
          <p:cNvPicPr>
            <a:picLocks noGrp="1" noChangeAspect="1"/>
          </p:cNvPicPr>
          <p:nvPr>
            <p:ph sz="half" idx="2"/>
          </p:nvPr>
        </p:nvPicPr>
        <p:blipFill>
          <a:blip r:embed="rId2"/>
          <a:stretch>
            <a:fillRect/>
          </a:stretch>
        </p:blipFill>
        <p:spPr>
          <a:xfrm>
            <a:off x="6211912" y="2068943"/>
            <a:ext cx="5351774" cy="2067087"/>
          </a:xfrm>
        </p:spPr>
      </p:pic>
      <p:pic>
        <p:nvPicPr>
          <p:cNvPr id="14" name="Content Placeholder 13">
            <a:extLst>
              <a:ext uri="{FF2B5EF4-FFF2-40B4-BE49-F238E27FC236}">
                <a16:creationId xmlns:a16="http://schemas.microsoft.com/office/drawing/2014/main" id="{C64E9DF3-E1F4-A5A8-7099-10091E3B34C9}"/>
              </a:ext>
            </a:extLst>
          </p:cNvPr>
          <p:cNvPicPr>
            <a:picLocks noGrp="1" noChangeAspect="1"/>
          </p:cNvPicPr>
          <p:nvPr>
            <p:ph sz="half" idx="1"/>
          </p:nvPr>
        </p:nvPicPr>
        <p:blipFill>
          <a:blip r:embed="rId3"/>
          <a:stretch>
            <a:fillRect/>
          </a:stretch>
        </p:blipFill>
        <p:spPr>
          <a:xfrm>
            <a:off x="557316" y="2068943"/>
            <a:ext cx="5437206" cy="4092014"/>
          </a:xfrm>
        </p:spPr>
      </p:pic>
    </p:spTree>
    <p:extLst>
      <p:ext uri="{BB962C8B-B14F-4D97-AF65-F5344CB8AC3E}">
        <p14:creationId xmlns:p14="http://schemas.microsoft.com/office/powerpoint/2010/main" val="1148185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340778-F348-72F2-C447-EBE797949401}"/>
              </a:ext>
            </a:extLst>
          </p:cNvPr>
          <p:cNvSpPr txBox="1"/>
          <p:nvPr/>
        </p:nvSpPr>
        <p:spPr>
          <a:xfrm>
            <a:off x="4110582" y="284813"/>
            <a:ext cx="3970831" cy="461665"/>
          </a:xfrm>
          <a:prstGeom prst="rect">
            <a:avLst/>
          </a:prstGeom>
          <a:noFill/>
        </p:spPr>
        <p:txBody>
          <a:bodyPr wrap="none" rtlCol="0">
            <a:spAutoFit/>
          </a:bodyPr>
          <a:lstStyle/>
          <a:p>
            <a:r>
              <a:rPr lang="en-IN" sz="2400" dirty="0"/>
              <a:t>Quantity (Numerical Variable)</a:t>
            </a:r>
          </a:p>
        </p:txBody>
      </p:sp>
      <p:pic>
        <p:nvPicPr>
          <p:cNvPr id="5" name="Picture 4">
            <a:extLst>
              <a:ext uri="{FF2B5EF4-FFF2-40B4-BE49-F238E27FC236}">
                <a16:creationId xmlns:a16="http://schemas.microsoft.com/office/drawing/2014/main" id="{62691A42-29E4-BF03-EC05-9F4B39D43709}"/>
              </a:ext>
            </a:extLst>
          </p:cNvPr>
          <p:cNvPicPr>
            <a:picLocks noChangeAspect="1"/>
          </p:cNvPicPr>
          <p:nvPr/>
        </p:nvPicPr>
        <p:blipFill>
          <a:blip r:embed="rId2"/>
          <a:stretch>
            <a:fillRect/>
          </a:stretch>
        </p:blipFill>
        <p:spPr>
          <a:xfrm>
            <a:off x="2873803" y="1136223"/>
            <a:ext cx="5925423" cy="4849450"/>
          </a:xfrm>
          <a:prstGeom prst="rect">
            <a:avLst/>
          </a:prstGeom>
        </p:spPr>
      </p:pic>
    </p:spTree>
    <p:extLst>
      <p:ext uri="{BB962C8B-B14F-4D97-AF65-F5344CB8AC3E}">
        <p14:creationId xmlns:p14="http://schemas.microsoft.com/office/powerpoint/2010/main" val="1730104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C43847-ACB4-960E-22F8-15A1DA9153B0}"/>
              </a:ext>
            </a:extLst>
          </p:cNvPr>
          <p:cNvPicPr>
            <a:picLocks noChangeAspect="1"/>
          </p:cNvPicPr>
          <p:nvPr/>
        </p:nvPicPr>
        <p:blipFill>
          <a:blip r:embed="rId2"/>
          <a:stretch>
            <a:fillRect/>
          </a:stretch>
        </p:blipFill>
        <p:spPr>
          <a:xfrm>
            <a:off x="335947" y="354449"/>
            <a:ext cx="5344160" cy="5620385"/>
          </a:xfrm>
          <a:prstGeom prst="rect">
            <a:avLst/>
          </a:prstGeom>
        </p:spPr>
      </p:pic>
      <p:pic>
        <p:nvPicPr>
          <p:cNvPr id="5" name="Picture 4">
            <a:extLst>
              <a:ext uri="{FF2B5EF4-FFF2-40B4-BE49-F238E27FC236}">
                <a16:creationId xmlns:a16="http://schemas.microsoft.com/office/drawing/2014/main" id="{F5986B0E-8F6C-4332-283C-2FD68AF42281}"/>
              </a:ext>
            </a:extLst>
          </p:cNvPr>
          <p:cNvPicPr>
            <a:picLocks noChangeAspect="1"/>
          </p:cNvPicPr>
          <p:nvPr/>
        </p:nvPicPr>
        <p:blipFill>
          <a:blip r:embed="rId3"/>
          <a:stretch>
            <a:fillRect/>
          </a:stretch>
        </p:blipFill>
        <p:spPr>
          <a:xfrm>
            <a:off x="5856157" y="354449"/>
            <a:ext cx="2495550" cy="5601335"/>
          </a:xfrm>
          <a:prstGeom prst="rect">
            <a:avLst/>
          </a:prstGeom>
        </p:spPr>
      </p:pic>
      <p:sp>
        <p:nvSpPr>
          <p:cNvPr id="2" name="TextBox 1">
            <a:extLst>
              <a:ext uri="{FF2B5EF4-FFF2-40B4-BE49-F238E27FC236}">
                <a16:creationId xmlns:a16="http://schemas.microsoft.com/office/drawing/2014/main" id="{B8CA5CA2-F52C-B3D8-F0F3-4DF365E805CF}"/>
              </a:ext>
            </a:extLst>
          </p:cNvPr>
          <p:cNvSpPr txBox="1"/>
          <p:nvPr/>
        </p:nvSpPr>
        <p:spPr>
          <a:xfrm>
            <a:off x="8527757" y="354449"/>
            <a:ext cx="3514425" cy="5632311"/>
          </a:xfrm>
          <a:prstGeom prst="rect">
            <a:avLst/>
          </a:prstGeom>
          <a:noFill/>
        </p:spPr>
        <p:txBody>
          <a:bodyPr wrap="square" rtlCol="0">
            <a:spAutoFit/>
          </a:bodyPr>
          <a:lstStyle/>
          <a:p>
            <a:r>
              <a:rPr lang="en-IN" dirty="0"/>
              <a:t>Total observation are 9994 with </a:t>
            </a:r>
          </a:p>
          <a:p>
            <a:r>
              <a:rPr lang="en-IN" dirty="0"/>
              <a:t>average quantity is 3.7895 for all the observations, standard deviation is </a:t>
            </a:r>
          </a:p>
          <a:p>
            <a:r>
              <a:rPr lang="en-IN" dirty="0"/>
              <a:t>2.225 that means the spread ness of data, we have positive skewness value</a:t>
            </a:r>
          </a:p>
          <a:p>
            <a:r>
              <a:rPr lang="en-IN" dirty="0"/>
              <a:t>i.e., right skewed, value is 1.2785</a:t>
            </a:r>
          </a:p>
          <a:p>
            <a:r>
              <a:rPr lang="en-IN" dirty="0"/>
              <a:t>Similarly, kurtosis is 1.991 which is between threshold (-3,3)</a:t>
            </a:r>
          </a:p>
          <a:p>
            <a:endParaRPr lang="en-IN" dirty="0"/>
          </a:p>
          <a:p>
            <a:r>
              <a:rPr lang="en-IN" dirty="0"/>
              <a:t>Range is 13 i.e., max-min =</a:t>
            </a:r>
          </a:p>
          <a:p>
            <a:r>
              <a:rPr lang="en-IN" dirty="0"/>
              <a:t>14-1=13</a:t>
            </a:r>
          </a:p>
          <a:p>
            <a:endParaRPr lang="en-IN" dirty="0"/>
          </a:p>
          <a:p>
            <a:r>
              <a:rPr lang="en-IN" dirty="0"/>
              <a:t>The value of Q1=2 (75% data have quantity value more than 2 and 25% data have less than 2)</a:t>
            </a:r>
          </a:p>
          <a:p>
            <a:r>
              <a:rPr lang="en-IN" dirty="0"/>
              <a:t>Similarly, Q3=5 (25% data for quantity is more than 5 and 75% data for quantity is less than 5)</a:t>
            </a:r>
          </a:p>
        </p:txBody>
      </p:sp>
    </p:spTree>
    <p:extLst>
      <p:ext uri="{BB962C8B-B14F-4D97-AF65-F5344CB8AC3E}">
        <p14:creationId xmlns:p14="http://schemas.microsoft.com/office/powerpoint/2010/main" val="1288499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4E6EAC-50C7-6769-B9E8-3EB5E8A57902}"/>
              </a:ext>
            </a:extLst>
          </p:cNvPr>
          <p:cNvSpPr txBox="1"/>
          <p:nvPr/>
        </p:nvSpPr>
        <p:spPr>
          <a:xfrm>
            <a:off x="1214203" y="854439"/>
            <a:ext cx="7926048" cy="3416320"/>
          </a:xfrm>
          <a:prstGeom prst="rect">
            <a:avLst/>
          </a:prstGeom>
          <a:noFill/>
        </p:spPr>
        <p:txBody>
          <a:bodyPr wrap="square">
            <a:spAutoFit/>
          </a:bodyPr>
          <a:lstStyle/>
          <a:p>
            <a:r>
              <a:rPr lang="en-US" b="1" dirty="0"/>
              <a:t>Skewness</a:t>
            </a:r>
            <a:r>
              <a:rPr lang="en-US" dirty="0"/>
              <a:t> indicates the asymmetry of the distribution of data: </a:t>
            </a:r>
          </a:p>
          <a:p>
            <a:r>
              <a:rPr lang="en-US" dirty="0"/>
              <a:t>• Negative skewness (left-skewed) means the tail on the left side of the distribution is longer or fatter than the right side. It indicates that the bulk of the data is concentrated on the right. </a:t>
            </a:r>
          </a:p>
          <a:p>
            <a:r>
              <a:rPr lang="en-US" dirty="0"/>
              <a:t>• Positive skewness (right-skewed) means the tail on the right side is longer or fatter than the left side, indicating that the bulk of the data is on the left. </a:t>
            </a:r>
          </a:p>
          <a:p>
            <a:endParaRPr lang="en-US" dirty="0"/>
          </a:p>
          <a:p>
            <a:r>
              <a:rPr lang="en-US" b="1" dirty="0"/>
              <a:t>Kurtosis </a:t>
            </a:r>
            <a:r>
              <a:rPr lang="en-US" dirty="0"/>
              <a:t>measures the "tailed ness" of the distribution:</a:t>
            </a:r>
          </a:p>
          <a:p>
            <a:r>
              <a:rPr lang="en-US" dirty="0"/>
              <a:t> • Positive kurtosis (leptokurtic) indicates a distribution with tails heavier than a normal distribution and a sharper peak. </a:t>
            </a:r>
          </a:p>
          <a:p>
            <a:r>
              <a:rPr lang="en-US" dirty="0"/>
              <a:t>• Negative kurtosis (platykurtic) suggests lighter tails than a normal distribution and a flatter peak.</a:t>
            </a:r>
            <a:endParaRPr lang="en-IN" dirty="0"/>
          </a:p>
        </p:txBody>
      </p:sp>
    </p:spTree>
    <p:extLst>
      <p:ext uri="{BB962C8B-B14F-4D97-AF65-F5344CB8AC3E}">
        <p14:creationId xmlns:p14="http://schemas.microsoft.com/office/powerpoint/2010/main" val="3806247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BA4241-8267-F767-C941-822C71F900FE}"/>
              </a:ext>
            </a:extLst>
          </p:cNvPr>
          <p:cNvPicPr>
            <a:picLocks noChangeAspect="1"/>
          </p:cNvPicPr>
          <p:nvPr/>
        </p:nvPicPr>
        <p:blipFill>
          <a:blip r:embed="rId2"/>
          <a:stretch>
            <a:fillRect/>
          </a:stretch>
        </p:blipFill>
        <p:spPr>
          <a:xfrm>
            <a:off x="364490" y="350457"/>
            <a:ext cx="5731510" cy="3878580"/>
          </a:xfrm>
          <a:prstGeom prst="rect">
            <a:avLst/>
          </a:prstGeom>
        </p:spPr>
      </p:pic>
      <p:pic>
        <p:nvPicPr>
          <p:cNvPr id="5" name="Picture 4">
            <a:extLst>
              <a:ext uri="{FF2B5EF4-FFF2-40B4-BE49-F238E27FC236}">
                <a16:creationId xmlns:a16="http://schemas.microsoft.com/office/drawing/2014/main" id="{4D6652A2-C196-B17B-8471-9A38C34AA10F}"/>
              </a:ext>
            </a:extLst>
          </p:cNvPr>
          <p:cNvPicPr>
            <a:picLocks noChangeAspect="1"/>
          </p:cNvPicPr>
          <p:nvPr/>
        </p:nvPicPr>
        <p:blipFill>
          <a:blip r:embed="rId3"/>
          <a:stretch>
            <a:fillRect/>
          </a:stretch>
        </p:blipFill>
        <p:spPr>
          <a:xfrm>
            <a:off x="6096000" y="350457"/>
            <a:ext cx="5731510" cy="3953510"/>
          </a:xfrm>
          <a:prstGeom prst="rect">
            <a:avLst/>
          </a:prstGeom>
        </p:spPr>
      </p:pic>
      <p:sp>
        <p:nvSpPr>
          <p:cNvPr id="4" name="TextBox 3">
            <a:extLst>
              <a:ext uri="{FF2B5EF4-FFF2-40B4-BE49-F238E27FC236}">
                <a16:creationId xmlns:a16="http://schemas.microsoft.com/office/drawing/2014/main" id="{B6E3AAAC-4249-5E18-FC6A-83B601088C18}"/>
              </a:ext>
            </a:extLst>
          </p:cNvPr>
          <p:cNvSpPr txBox="1"/>
          <p:nvPr/>
        </p:nvSpPr>
        <p:spPr>
          <a:xfrm>
            <a:off x="179882" y="4303968"/>
            <a:ext cx="11657621" cy="2163669"/>
          </a:xfrm>
          <a:prstGeom prst="rect">
            <a:avLst/>
          </a:prstGeom>
          <a:noFill/>
        </p:spPr>
        <p:txBody>
          <a:bodyPr wrap="square">
            <a:spAutoFit/>
          </a:bodyPr>
          <a:lstStyle/>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Kurtosis is between the threshold value i.e. (-3,3), so there is no sharp peak in the graph and this indicates that there </a:t>
            </a:r>
          </a:p>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are fewer potential outliers(Q1-1.5(IQR)),(Q3+1.5(IQR))=2-1.5*3,5+1.5*3=(-2.5,9.5)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Skewness is positive which indicates that the outliers exist in the right side of the data</a:t>
            </a:r>
            <a:r>
              <a:rPr lang="en-IN" kern="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(can be seen by whiskers in box plot as well as tail in density curve).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Mean and median values are not approximately similar (we can see that in box plot) which indicates that the value of mean is affected by the outliers and that the data distribution is not normal.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20737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E012-6C21-A004-058A-FA267EE80A9D}"/>
              </a:ext>
            </a:extLst>
          </p:cNvPr>
          <p:cNvSpPr>
            <a:spLocks noGrp="1"/>
          </p:cNvSpPr>
          <p:nvPr>
            <p:ph type="ctrTitle"/>
          </p:nvPr>
        </p:nvSpPr>
        <p:spPr/>
        <p:txBody>
          <a:bodyPr/>
          <a:lstStyle/>
          <a:p>
            <a:r>
              <a:rPr lang="en-IN" dirty="0"/>
              <a:t>Bivariate Analysis</a:t>
            </a:r>
          </a:p>
        </p:txBody>
      </p:sp>
      <p:sp>
        <p:nvSpPr>
          <p:cNvPr id="3" name="Subtitle 2">
            <a:extLst>
              <a:ext uri="{FF2B5EF4-FFF2-40B4-BE49-F238E27FC236}">
                <a16:creationId xmlns:a16="http://schemas.microsoft.com/office/drawing/2014/main" id="{1ADB4825-8342-24EE-5D15-E1345D5CFA67}"/>
              </a:ext>
            </a:extLst>
          </p:cNvPr>
          <p:cNvSpPr>
            <a:spLocks noGrp="1"/>
          </p:cNvSpPr>
          <p:nvPr>
            <p:ph type="subTitle" idx="1"/>
          </p:nvPr>
        </p:nvSpPr>
        <p:spPr/>
        <p:txBody>
          <a:bodyPr/>
          <a:lstStyle/>
          <a:p>
            <a:r>
              <a:rPr lang="en-IN" dirty="0"/>
              <a:t>Numerical * numerical , Categorical * categorical</a:t>
            </a:r>
          </a:p>
          <a:p>
            <a:r>
              <a:rPr lang="en-IN" dirty="0"/>
              <a:t>Categorical * numerical</a:t>
            </a:r>
          </a:p>
        </p:txBody>
      </p:sp>
    </p:spTree>
    <p:extLst>
      <p:ext uri="{BB962C8B-B14F-4D97-AF65-F5344CB8AC3E}">
        <p14:creationId xmlns:p14="http://schemas.microsoft.com/office/powerpoint/2010/main" val="126369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9C4FC5-6645-24F4-08ED-820E11D55745}"/>
              </a:ext>
            </a:extLst>
          </p:cNvPr>
          <p:cNvSpPr txBox="1"/>
          <p:nvPr/>
        </p:nvSpPr>
        <p:spPr>
          <a:xfrm>
            <a:off x="1639698" y="691794"/>
            <a:ext cx="8912603" cy="1815882"/>
          </a:xfrm>
          <a:prstGeom prst="rect">
            <a:avLst/>
          </a:prstGeom>
          <a:noFill/>
        </p:spPr>
        <p:txBody>
          <a:bodyPr wrap="square" rtlCol="0">
            <a:spAutoFit/>
          </a:bodyPr>
          <a:lstStyle/>
          <a:p>
            <a:r>
              <a:rPr lang="en-IN" sz="2800" dirty="0"/>
              <a:t>Checking CORRELATION between all continuous numerical </a:t>
            </a:r>
          </a:p>
          <a:p>
            <a:r>
              <a:rPr lang="en-IN" sz="2800" dirty="0"/>
              <a:t>variables using Correlation Matrix</a:t>
            </a:r>
          </a:p>
          <a:p>
            <a:endParaRPr lang="en-IN" sz="2800" dirty="0"/>
          </a:p>
          <a:p>
            <a:endParaRPr lang="en-IN" sz="2800" dirty="0"/>
          </a:p>
        </p:txBody>
      </p:sp>
      <p:pic>
        <p:nvPicPr>
          <p:cNvPr id="4" name="Picture 3">
            <a:extLst>
              <a:ext uri="{FF2B5EF4-FFF2-40B4-BE49-F238E27FC236}">
                <a16:creationId xmlns:a16="http://schemas.microsoft.com/office/drawing/2014/main" id="{12A1BC9C-7D67-A9AF-3D5E-8F001D5769B1}"/>
              </a:ext>
            </a:extLst>
          </p:cNvPr>
          <p:cNvPicPr>
            <a:picLocks noChangeAspect="1"/>
          </p:cNvPicPr>
          <p:nvPr/>
        </p:nvPicPr>
        <p:blipFill>
          <a:blip r:embed="rId2"/>
          <a:stretch>
            <a:fillRect/>
          </a:stretch>
        </p:blipFill>
        <p:spPr>
          <a:xfrm>
            <a:off x="499671" y="2962653"/>
            <a:ext cx="11692329" cy="932693"/>
          </a:xfrm>
          <a:prstGeom prst="rect">
            <a:avLst/>
          </a:prstGeom>
        </p:spPr>
      </p:pic>
      <p:sp>
        <p:nvSpPr>
          <p:cNvPr id="5" name="Rectangle 2">
            <a:extLst>
              <a:ext uri="{FF2B5EF4-FFF2-40B4-BE49-F238E27FC236}">
                <a16:creationId xmlns:a16="http://schemas.microsoft.com/office/drawing/2014/main" id="{D940E0D9-0DA7-44CC-2D81-EE2E4753AB99}"/>
              </a:ext>
            </a:extLst>
          </p:cNvPr>
          <p:cNvSpPr>
            <a:spLocks noChangeArrowheads="1"/>
          </p:cNvSpPr>
          <p:nvPr/>
        </p:nvSpPr>
        <p:spPr bwMode="auto">
          <a:xfrm>
            <a:off x="704538"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3">
            <a:extLst>
              <a:ext uri="{FF2B5EF4-FFF2-40B4-BE49-F238E27FC236}">
                <a16:creationId xmlns:a16="http://schemas.microsoft.com/office/drawing/2014/main" id="{ABD89D71-D6AE-BBBD-A468-62262DF4D60F}"/>
              </a:ext>
            </a:extLst>
          </p:cNvPr>
          <p:cNvSpPr>
            <a:spLocks noChangeArrowheads="1"/>
          </p:cNvSpPr>
          <p:nvPr/>
        </p:nvSpPr>
        <p:spPr bwMode="auto">
          <a:xfrm>
            <a:off x="704538" y="5314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297253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FF62879C-8FE3-3909-3397-8D145A309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304" y="491061"/>
            <a:ext cx="6136092" cy="5207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AC300A3-70A1-66CF-3208-4358874AB737}"/>
              </a:ext>
            </a:extLst>
          </p:cNvPr>
          <p:cNvPicPr>
            <a:picLocks noChangeAspect="1"/>
          </p:cNvPicPr>
          <p:nvPr/>
        </p:nvPicPr>
        <p:blipFill>
          <a:blip r:embed="rId3"/>
          <a:stretch>
            <a:fillRect/>
          </a:stretch>
        </p:blipFill>
        <p:spPr>
          <a:xfrm>
            <a:off x="6096000" y="491061"/>
            <a:ext cx="5731510" cy="5207000"/>
          </a:xfrm>
          <a:prstGeom prst="rect">
            <a:avLst/>
          </a:prstGeom>
        </p:spPr>
      </p:pic>
    </p:spTree>
    <p:extLst>
      <p:ext uri="{BB962C8B-B14F-4D97-AF65-F5344CB8AC3E}">
        <p14:creationId xmlns:p14="http://schemas.microsoft.com/office/powerpoint/2010/main" val="3151753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6F13-A9B3-3D41-95D5-7F89BF630799}"/>
              </a:ext>
            </a:extLst>
          </p:cNvPr>
          <p:cNvSpPr txBox="1"/>
          <p:nvPr/>
        </p:nvSpPr>
        <p:spPr>
          <a:xfrm>
            <a:off x="4904929" y="854439"/>
            <a:ext cx="2671693" cy="461665"/>
          </a:xfrm>
          <a:prstGeom prst="rect">
            <a:avLst/>
          </a:prstGeom>
          <a:noFill/>
        </p:spPr>
        <p:txBody>
          <a:bodyPr wrap="none" rtlCol="0">
            <a:spAutoFit/>
          </a:bodyPr>
          <a:lstStyle/>
          <a:p>
            <a:r>
              <a:rPr lang="en-IN" sz="2400" dirty="0"/>
              <a:t>SALES AND PROFIT</a:t>
            </a:r>
          </a:p>
        </p:txBody>
      </p:sp>
      <p:sp>
        <p:nvSpPr>
          <p:cNvPr id="4" name="TextBox 3">
            <a:extLst>
              <a:ext uri="{FF2B5EF4-FFF2-40B4-BE49-F238E27FC236}">
                <a16:creationId xmlns:a16="http://schemas.microsoft.com/office/drawing/2014/main" id="{14E7C681-9B08-F7AD-EEB2-E5BFBBAB387F}"/>
              </a:ext>
            </a:extLst>
          </p:cNvPr>
          <p:cNvSpPr txBox="1"/>
          <p:nvPr/>
        </p:nvSpPr>
        <p:spPr>
          <a:xfrm>
            <a:off x="1366603" y="1973839"/>
            <a:ext cx="9458793" cy="1323439"/>
          </a:xfrm>
          <a:prstGeom prst="rect">
            <a:avLst/>
          </a:prstGeom>
          <a:noFill/>
        </p:spPr>
        <p:txBody>
          <a:bodyPr wrap="square">
            <a:spAutoFit/>
          </a:bodyPr>
          <a:lstStyle/>
          <a:p>
            <a:r>
              <a:rPr lang="en-US" sz="2000" b="1" dirty="0">
                <a:solidFill>
                  <a:srgbClr val="008000"/>
                </a:solidFill>
                <a:latin typeface="Courier New" panose="02070309020205020404" pitchFamily="49" charset="0"/>
              </a:rPr>
              <a:t>H0: R=0: Profit is not affected by the number of Sales made in superstore.</a:t>
            </a:r>
            <a:endParaRPr lang="en-US" sz="2000" b="0" dirty="0">
              <a:solidFill>
                <a:srgbClr val="000000"/>
              </a:solidFill>
              <a:latin typeface="Courier New" panose="02070309020205020404" pitchFamily="49" charset="0"/>
            </a:endParaRPr>
          </a:p>
          <a:p>
            <a:r>
              <a:rPr lang="en-US" sz="2000" b="1" dirty="0">
                <a:solidFill>
                  <a:srgbClr val="008000"/>
                </a:solidFill>
                <a:latin typeface="Courier New" panose="02070309020205020404" pitchFamily="49" charset="0"/>
              </a:rPr>
              <a:t>H1: R!=0: Profit is affected by the number of Sales made in the superstore.</a:t>
            </a:r>
            <a:endParaRPr lang="en-US" sz="2000" b="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362035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321077-AF73-D432-A4FA-B50D3B5AA566}"/>
              </a:ext>
            </a:extLst>
          </p:cNvPr>
          <p:cNvPicPr>
            <a:picLocks noChangeAspect="1"/>
          </p:cNvPicPr>
          <p:nvPr/>
        </p:nvPicPr>
        <p:blipFill>
          <a:blip r:embed="rId2"/>
          <a:stretch>
            <a:fillRect/>
          </a:stretch>
        </p:blipFill>
        <p:spPr>
          <a:xfrm>
            <a:off x="283525" y="839450"/>
            <a:ext cx="11624950" cy="4196138"/>
          </a:xfrm>
          <a:prstGeom prst="rect">
            <a:avLst/>
          </a:prstGeom>
        </p:spPr>
      </p:pic>
    </p:spTree>
    <p:extLst>
      <p:ext uri="{BB962C8B-B14F-4D97-AF65-F5344CB8AC3E}">
        <p14:creationId xmlns:p14="http://schemas.microsoft.com/office/powerpoint/2010/main" val="439832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9C4FD6-2E6B-FB80-DA17-0C202B8E0EFC}"/>
              </a:ext>
            </a:extLst>
          </p:cNvPr>
          <p:cNvPicPr>
            <a:picLocks noChangeAspect="1"/>
          </p:cNvPicPr>
          <p:nvPr/>
        </p:nvPicPr>
        <p:blipFill>
          <a:blip r:embed="rId2"/>
          <a:stretch>
            <a:fillRect/>
          </a:stretch>
        </p:blipFill>
        <p:spPr>
          <a:xfrm>
            <a:off x="2744502" y="580659"/>
            <a:ext cx="6702996" cy="5168428"/>
          </a:xfrm>
          <a:prstGeom prst="rect">
            <a:avLst/>
          </a:prstGeom>
        </p:spPr>
      </p:pic>
    </p:spTree>
    <p:extLst>
      <p:ext uri="{BB962C8B-B14F-4D97-AF65-F5344CB8AC3E}">
        <p14:creationId xmlns:p14="http://schemas.microsoft.com/office/powerpoint/2010/main" val="1163238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726E27-E4B5-E60D-41A3-7F2883B17EC7}"/>
              </a:ext>
            </a:extLst>
          </p:cNvPr>
          <p:cNvSpPr txBox="1"/>
          <p:nvPr/>
        </p:nvSpPr>
        <p:spPr>
          <a:xfrm>
            <a:off x="734519" y="408397"/>
            <a:ext cx="4497049" cy="6041206"/>
          </a:xfrm>
          <a:prstGeom prst="rect">
            <a:avLst/>
          </a:prstGeom>
          <a:noFill/>
        </p:spPr>
        <p:txBody>
          <a:bodyPr wrap="square" rtlCol="0">
            <a:spAutoFit/>
          </a:bodyPr>
          <a:lstStyle/>
          <a:p>
            <a:pPr>
              <a:lnSpc>
                <a:spcPct val="107000"/>
              </a:lnSpc>
              <a:spcAft>
                <a:spcPts val="800"/>
              </a:spcAft>
            </a:pPr>
            <a:r>
              <a:rPr lang="en-IN" sz="2000" b="1" i="1" kern="100" dirty="0">
                <a:effectLst/>
                <a:ea typeface="Calibri" panose="020F0502020204030204" pitchFamily="34" charset="0"/>
                <a:cs typeface="Times New Roman" panose="02020603050405020304" pitchFamily="18" charset="0"/>
              </a:rPr>
              <a:t>Prediction of correlation through:</a:t>
            </a:r>
          </a:p>
          <a:p>
            <a:pPr marL="342900" lvl="0" indent="-342900">
              <a:lnSpc>
                <a:spcPct val="107000"/>
              </a:lnSpc>
              <a:buFont typeface="Symbol" panose="05050102010706020507" pitchFamily="18" charset="2"/>
              <a:buChar char=""/>
            </a:pPr>
            <a:r>
              <a:rPr lang="en-IN" sz="2000" kern="100" dirty="0">
                <a:effectLst/>
                <a:ea typeface="Calibri" panose="020F0502020204030204" pitchFamily="34" charset="0"/>
                <a:cs typeface="Times New Roman" panose="02020603050405020304" pitchFamily="18" charset="0"/>
              </a:rPr>
              <a:t>R (coefficient of correlation):</a:t>
            </a:r>
          </a:p>
          <a:p>
            <a:pPr marL="457200">
              <a:lnSpc>
                <a:spcPct val="107000"/>
              </a:lnSpc>
            </a:pPr>
            <a:r>
              <a:rPr lang="en-IN" sz="2000" kern="100" dirty="0">
                <a:effectLst/>
                <a:ea typeface="Calibri" panose="020F0502020204030204" pitchFamily="34" charset="0"/>
                <a:cs typeface="Times New Roman" panose="02020603050405020304" pitchFamily="18" charset="0"/>
              </a:rPr>
              <a:t>0.5 ≤ |r| → High linear correlation</a:t>
            </a:r>
          </a:p>
          <a:p>
            <a:pPr marL="457200">
              <a:lnSpc>
                <a:spcPct val="107000"/>
              </a:lnSpc>
            </a:pPr>
            <a:r>
              <a:rPr lang="en-IN" sz="2000" kern="100" dirty="0">
                <a:effectLst/>
                <a:ea typeface="Calibri" panose="020F0502020204030204" pitchFamily="34" charset="0"/>
                <a:cs typeface="Times New Roman" panose="02020603050405020304" pitchFamily="18" charset="0"/>
              </a:rPr>
              <a:t>0.3 ≤ |r| &lt; 0.5 → Medium linear correlation</a:t>
            </a:r>
          </a:p>
          <a:p>
            <a:pPr marL="457200">
              <a:lnSpc>
                <a:spcPct val="107000"/>
              </a:lnSpc>
            </a:pPr>
            <a:r>
              <a:rPr lang="en-IN" sz="2000" kern="100" dirty="0">
                <a:effectLst/>
                <a:ea typeface="Calibri" panose="020F0502020204030204" pitchFamily="34" charset="0"/>
                <a:cs typeface="Times New Roman" panose="02020603050405020304" pitchFamily="18" charset="0"/>
              </a:rPr>
              <a:t>0 ≤ |r| &lt; 0.3 → Low linear correlation</a:t>
            </a:r>
          </a:p>
          <a:p>
            <a:pPr marL="457200">
              <a:lnSpc>
                <a:spcPct val="107000"/>
              </a:lnSpc>
            </a:pPr>
            <a:r>
              <a:rPr lang="en-IN" sz="2000" kern="100" dirty="0">
                <a:effectLst/>
                <a:ea typeface="Calibri" panose="020F0502020204030204" pitchFamily="34" charset="0"/>
                <a:cs typeface="Times New Roman" panose="02020603050405020304" pitchFamily="18" charset="0"/>
              </a:rPr>
              <a:t>r=0</a:t>
            </a:r>
            <a:r>
              <a:rPr lang="en-IN" sz="2000" kern="100" dirty="0">
                <a:effectLst/>
                <a:ea typeface="Calibri" panose="020F0502020204030204" pitchFamily="34" charset="0"/>
                <a:cs typeface="Segoe UI Symbol" panose="020B0502040204020203" pitchFamily="34" charset="0"/>
              </a:rPr>
              <a:t>➔</a:t>
            </a:r>
            <a:r>
              <a:rPr lang="en-IN" sz="2000" kern="100" dirty="0">
                <a:effectLst/>
                <a:ea typeface="Calibri" panose="020F0502020204030204" pitchFamily="34" charset="0"/>
                <a:cs typeface="Times New Roman" panose="02020603050405020304" pitchFamily="18" charset="0"/>
              </a:rPr>
              <a:t>no linear correlation</a:t>
            </a:r>
          </a:p>
          <a:p>
            <a:pPr marL="457200">
              <a:lnSpc>
                <a:spcPct val="107000"/>
              </a:lnSpc>
            </a:pPr>
            <a:r>
              <a:rPr lang="en-IN" sz="2000" kern="100" dirty="0">
                <a:effectLst/>
                <a:ea typeface="Calibri" panose="020F0502020204030204" pitchFamily="34" charset="0"/>
                <a:cs typeface="Times New Roman" panose="02020603050405020304" pitchFamily="18" charset="0"/>
              </a:rPr>
              <a:t>r= +1 or -1</a:t>
            </a:r>
            <a:r>
              <a:rPr lang="en-IN" sz="2000" kern="100" dirty="0">
                <a:effectLst/>
                <a:ea typeface="Calibri" panose="020F0502020204030204" pitchFamily="34" charset="0"/>
                <a:cs typeface="Segoe UI Symbol" panose="020B0502040204020203" pitchFamily="34" charset="0"/>
              </a:rPr>
              <a:t>➔</a:t>
            </a:r>
            <a:r>
              <a:rPr lang="en-IN" sz="2000" kern="100" dirty="0">
                <a:effectLst/>
                <a:ea typeface="Calibri" panose="020F0502020204030204" pitchFamily="34" charset="0"/>
                <a:cs typeface="Times New Roman" panose="02020603050405020304" pitchFamily="18" charset="0"/>
              </a:rPr>
              <a:t>perfect linear relationship </a:t>
            </a:r>
          </a:p>
          <a:p>
            <a:pPr marL="342900" lvl="0" indent="-342900">
              <a:lnSpc>
                <a:spcPct val="107000"/>
              </a:lnSpc>
              <a:buFont typeface="Symbol" panose="05050102010706020507" pitchFamily="18" charset="2"/>
              <a:buChar char=""/>
            </a:pPr>
            <a:r>
              <a:rPr lang="en-IN" sz="2000" kern="100" dirty="0">
                <a:effectLst/>
                <a:ea typeface="Calibri" panose="020F0502020204030204" pitchFamily="34" charset="0"/>
                <a:cs typeface="Times New Roman" panose="02020603050405020304" pitchFamily="18" charset="0"/>
              </a:rPr>
              <a:t>P-value: P-value is more than 5% than we fail to reject null hypothesis (R=0) otherwise we accept alternative hypothesis</a:t>
            </a:r>
            <a:r>
              <a:rPr lang="en-IN" sz="2400" kern="100" dirty="0">
                <a:effectLst/>
                <a:ea typeface="Calibri" panose="020F0502020204030204" pitchFamily="34" charset="0"/>
                <a:cs typeface="Times New Roman" panose="02020603050405020304" pitchFamily="18" charset="0"/>
              </a:rPr>
              <a:t>.</a:t>
            </a:r>
          </a:p>
          <a:p>
            <a:pPr marL="457200">
              <a:lnSpc>
                <a:spcPct val="107000"/>
              </a:lnSpc>
            </a:pPr>
            <a:r>
              <a:rPr lang="en-IN" sz="2400" kern="100" dirty="0">
                <a:effectLst/>
                <a:ea typeface="Calibri" panose="020F0502020204030204" pitchFamily="34" charset="0"/>
                <a:cs typeface="Times New Roman" panose="02020603050405020304" pitchFamily="18" charset="0"/>
              </a:rPr>
              <a:t> </a:t>
            </a:r>
          </a:p>
          <a:p>
            <a:pPr marL="457200">
              <a:lnSpc>
                <a:spcPct val="107000"/>
              </a:lnSpc>
              <a:spcAft>
                <a:spcPts val="800"/>
              </a:spcAft>
            </a:pPr>
            <a:r>
              <a:rPr lang="en-IN" sz="2400" kern="100" dirty="0">
                <a:effectLst/>
                <a:ea typeface="Calibri" panose="020F0502020204030204" pitchFamily="34" charset="0"/>
                <a:cs typeface="Times New Roman" panose="02020603050405020304" pitchFamily="18" charset="0"/>
              </a:rPr>
              <a:t> </a:t>
            </a:r>
          </a:p>
          <a:p>
            <a:endParaRPr lang="en-IN" dirty="0"/>
          </a:p>
        </p:txBody>
      </p:sp>
      <p:sp>
        <p:nvSpPr>
          <p:cNvPr id="4" name="TextBox 3">
            <a:extLst>
              <a:ext uri="{FF2B5EF4-FFF2-40B4-BE49-F238E27FC236}">
                <a16:creationId xmlns:a16="http://schemas.microsoft.com/office/drawing/2014/main" id="{833D3BCF-F2F7-C99B-90B9-2160015C786E}"/>
              </a:ext>
            </a:extLst>
          </p:cNvPr>
          <p:cNvSpPr txBox="1"/>
          <p:nvPr/>
        </p:nvSpPr>
        <p:spPr>
          <a:xfrm>
            <a:off x="6820525" y="408397"/>
            <a:ext cx="4247213" cy="5078313"/>
          </a:xfrm>
          <a:prstGeom prst="rect">
            <a:avLst/>
          </a:prstGeom>
          <a:noFill/>
        </p:spPr>
        <p:txBody>
          <a:bodyPr wrap="square">
            <a:spAutoFit/>
          </a:bodyPr>
          <a:lstStyle/>
          <a:p>
            <a:pPr algn="just"/>
            <a:r>
              <a:rPr lang="en-US" sz="1800" b="1" dirty="0">
                <a:solidFill>
                  <a:srgbClr val="008000"/>
                </a:solidFill>
                <a:latin typeface="Courier New" panose="02070309020205020404" pitchFamily="49" charset="0"/>
              </a:rPr>
              <a:t>Conclusion of Pearson correlation test on Sales and profit</a:t>
            </a:r>
          </a:p>
          <a:p>
            <a:pPr algn="just"/>
            <a:endParaRPr lang="en-US" sz="1800" b="1" dirty="0">
              <a:solidFill>
                <a:srgbClr val="008000"/>
              </a:solidFill>
              <a:latin typeface="Courier New" panose="02070309020205020404" pitchFamily="49" charset="0"/>
            </a:endParaRPr>
          </a:p>
          <a:p>
            <a:pPr marL="342900" indent="-342900">
              <a:buFont typeface="Arial" panose="020B0604020202020204" pitchFamily="34" charset="0"/>
              <a:buChar char="•"/>
            </a:pPr>
            <a:r>
              <a:rPr lang="en-US" sz="1800" b="1" dirty="0">
                <a:solidFill>
                  <a:srgbClr val="008000"/>
                </a:solidFill>
                <a:latin typeface="Courier New" panose="02070309020205020404" pitchFamily="49" charset="0"/>
              </a:rPr>
              <a:t>The coefficient of correlation (r)= 0.47906 i.e., between 0.3 &lt; |r| &lt; 0.5 which is</a:t>
            </a:r>
            <a:r>
              <a:rPr lang="en-IN" sz="1800" b="1" dirty="0">
                <a:solidFill>
                  <a:srgbClr val="008000"/>
                </a:solidFill>
                <a:latin typeface="Courier New" panose="02070309020205020404" pitchFamily="49" charset="0"/>
              </a:rPr>
              <a:t> medium linear correlation.</a:t>
            </a:r>
          </a:p>
          <a:p>
            <a:pPr marL="342900" indent="-342900">
              <a:buFont typeface="Arial" panose="020B0604020202020204" pitchFamily="34" charset="0"/>
              <a:buChar char="•"/>
            </a:pPr>
            <a:r>
              <a:rPr lang="en-US" sz="1800" b="1" dirty="0">
                <a:solidFill>
                  <a:srgbClr val="008000"/>
                </a:solidFill>
                <a:latin typeface="Courier New" panose="02070309020205020404" pitchFamily="49" charset="0"/>
              </a:rPr>
              <a:t>P-value &lt;.0001 which is less than alpha p-value 5% that means we reject null hypothesis, and we accept alternative hypothesis which states that Profit is affected by the number of Sales made in the superstore.</a:t>
            </a:r>
            <a:endParaRPr lang="en-IN" sz="1800" dirty="0"/>
          </a:p>
        </p:txBody>
      </p:sp>
    </p:spTree>
    <p:extLst>
      <p:ext uri="{BB962C8B-B14F-4D97-AF65-F5344CB8AC3E}">
        <p14:creationId xmlns:p14="http://schemas.microsoft.com/office/powerpoint/2010/main" val="3701108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9913B6-C382-35BC-71F1-F9176482B4CE}"/>
              </a:ext>
            </a:extLst>
          </p:cNvPr>
          <p:cNvPicPr>
            <a:picLocks noChangeAspect="1"/>
          </p:cNvPicPr>
          <p:nvPr/>
        </p:nvPicPr>
        <p:blipFill>
          <a:blip r:embed="rId2"/>
          <a:stretch>
            <a:fillRect/>
          </a:stretch>
        </p:blipFill>
        <p:spPr>
          <a:xfrm>
            <a:off x="390867" y="0"/>
            <a:ext cx="6395764" cy="6295307"/>
          </a:xfrm>
          <a:prstGeom prst="rect">
            <a:avLst/>
          </a:prstGeom>
        </p:spPr>
      </p:pic>
      <p:sp>
        <p:nvSpPr>
          <p:cNvPr id="4" name="TextBox 3">
            <a:extLst>
              <a:ext uri="{FF2B5EF4-FFF2-40B4-BE49-F238E27FC236}">
                <a16:creationId xmlns:a16="http://schemas.microsoft.com/office/drawing/2014/main" id="{2C71FD08-792D-2EE3-EBCC-76E197280920}"/>
              </a:ext>
            </a:extLst>
          </p:cNvPr>
          <p:cNvSpPr txBox="1"/>
          <p:nvPr/>
        </p:nvSpPr>
        <p:spPr>
          <a:xfrm>
            <a:off x="7465103" y="509666"/>
            <a:ext cx="4107304" cy="5486400"/>
          </a:xfrm>
          <a:prstGeom prst="rect">
            <a:avLst/>
          </a:prstGeom>
          <a:noFill/>
        </p:spPr>
        <p:txBody>
          <a:bodyPr wrap="square" rtlCol="0">
            <a:spAutoFit/>
          </a:bodyPr>
          <a:lstStyle/>
          <a:p>
            <a:r>
              <a:rPr lang="en-US" dirty="0"/>
              <a:t>DECISION AND CONCLUSIONS</a:t>
            </a:r>
          </a:p>
          <a:p>
            <a:endParaRPr lang="en-US" dirty="0"/>
          </a:p>
          <a:p>
            <a:r>
              <a:rPr lang="en-US" dirty="0"/>
              <a:t>Based on the results, we can state the following:</a:t>
            </a:r>
          </a:p>
          <a:p>
            <a:endParaRPr lang="en-US" dirty="0"/>
          </a:p>
          <a:p>
            <a:r>
              <a:rPr lang="en-US" dirty="0"/>
              <a:t>Sales and profit have a statistically significant linear relationship (r = 0.47906, p &lt; .001).</a:t>
            </a:r>
          </a:p>
          <a:p>
            <a:endParaRPr lang="en-US" dirty="0"/>
          </a:p>
          <a:p>
            <a:r>
              <a:rPr lang="en-US" dirty="0"/>
              <a:t>The direction of the relationship is positive (i.e., sales and profit are positively correlated), meaning that</a:t>
            </a:r>
          </a:p>
          <a:p>
            <a:r>
              <a:rPr lang="en-US" dirty="0"/>
              <a:t>these variables tend to increase together (i.e., greater profit is associated with greater sales).</a:t>
            </a:r>
          </a:p>
          <a:p>
            <a:endParaRPr lang="en-US" dirty="0"/>
          </a:p>
          <a:p>
            <a:r>
              <a:rPr lang="en-US" dirty="0"/>
              <a:t>The magnitude, or strength, of the association is moderate (0.3 &lt; | r | &lt; 0.5).</a:t>
            </a:r>
            <a:endParaRPr lang="en-IN" dirty="0"/>
          </a:p>
        </p:txBody>
      </p:sp>
    </p:spTree>
    <p:extLst>
      <p:ext uri="{BB962C8B-B14F-4D97-AF65-F5344CB8AC3E}">
        <p14:creationId xmlns:p14="http://schemas.microsoft.com/office/powerpoint/2010/main" val="996616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77642B-AFFB-6484-7530-C329A7C6488A}"/>
              </a:ext>
            </a:extLst>
          </p:cNvPr>
          <p:cNvSpPr txBox="1"/>
          <p:nvPr/>
        </p:nvSpPr>
        <p:spPr>
          <a:xfrm>
            <a:off x="3348805" y="719528"/>
            <a:ext cx="5494389" cy="461665"/>
          </a:xfrm>
          <a:prstGeom prst="rect">
            <a:avLst/>
          </a:prstGeom>
          <a:noFill/>
        </p:spPr>
        <p:txBody>
          <a:bodyPr wrap="none" rtlCol="0">
            <a:spAutoFit/>
          </a:bodyPr>
          <a:lstStyle/>
          <a:p>
            <a:r>
              <a:rPr lang="en-IN" sz="2400" dirty="0"/>
              <a:t>Regression modelling on Sales and Profit</a:t>
            </a:r>
          </a:p>
        </p:txBody>
      </p:sp>
      <p:pic>
        <p:nvPicPr>
          <p:cNvPr id="4" name="Picture 3">
            <a:extLst>
              <a:ext uri="{FF2B5EF4-FFF2-40B4-BE49-F238E27FC236}">
                <a16:creationId xmlns:a16="http://schemas.microsoft.com/office/drawing/2014/main" id="{83D1E630-4F7F-A50B-17A8-BA930F7674F0}"/>
              </a:ext>
            </a:extLst>
          </p:cNvPr>
          <p:cNvPicPr>
            <a:picLocks noChangeAspect="1"/>
          </p:cNvPicPr>
          <p:nvPr/>
        </p:nvPicPr>
        <p:blipFill>
          <a:blip r:embed="rId2"/>
          <a:stretch>
            <a:fillRect/>
          </a:stretch>
        </p:blipFill>
        <p:spPr>
          <a:xfrm>
            <a:off x="2338465" y="2192242"/>
            <a:ext cx="8184934" cy="1680192"/>
          </a:xfrm>
          <a:prstGeom prst="rect">
            <a:avLst/>
          </a:prstGeom>
        </p:spPr>
      </p:pic>
    </p:spTree>
    <p:extLst>
      <p:ext uri="{BB962C8B-B14F-4D97-AF65-F5344CB8AC3E}">
        <p14:creationId xmlns:p14="http://schemas.microsoft.com/office/powerpoint/2010/main" val="2958760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2E7020-83CF-EF6C-01B8-B37E237FC09F}"/>
              </a:ext>
            </a:extLst>
          </p:cNvPr>
          <p:cNvPicPr>
            <a:picLocks noChangeAspect="1"/>
          </p:cNvPicPr>
          <p:nvPr/>
        </p:nvPicPr>
        <p:blipFill>
          <a:blip r:embed="rId2"/>
          <a:stretch>
            <a:fillRect/>
          </a:stretch>
        </p:blipFill>
        <p:spPr>
          <a:xfrm>
            <a:off x="3717528" y="324211"/>
            <a:ext cx="4756943" cy="5668072"/>
          </a:xfrm>
          <a:prstGeom prst="rect">
            <a:avLst/>
          </a:prstGeom>
        </p:spPr>
      </p:pic>
    </p:spTree>
    <p:extLst>
      <p:ext uri="{BB962C8B-B14F-4D97-AF65-F5344CB8AC3E}">
        <p14:creationId xmlns:p14="http://schemas.microsoft.com/office/powerpoint/2010/main" val="1816787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4E27FF-E7F4-5BE4-6DC6-CEE8DBDE9B27}"/>
              </a:ext>
            </a:extLst>
          </p:cNvPr>
          <p:cNvSpPr txBox="1"/>
          <p:nvPr/>
        </p:nvSpPr>
        <p:spPr>
          <a:xfrm>
            <a:off x="280452" y="479685"/>
            <a:ext cx="5071037" cy="5355312"/>
          </a:xfrm>
          <a:prstGeom prst="rect">
            <a:avLst/>
          </a:prstGeom>
          <a:noFill/>
        </p:spPr>
        <p:txBody>
          <a:bodyPr wrap="square" rtlCol="0">
            <a:spAutoFit/>
          </a:bodyPr>
          <a:lstStyle/>
          <a:p>
            <a:r>
              <a:rPr lang="en-US" b="1" dirty="0"/>
              <a:t>R-Squared</a:t>
            </a:r>
          </a:p>
          <a:p>
            <a:pPr>
              <a:buFont typeface="Arial" panose="020B0604020202020204" pitchFamily="34" charset="0"/>
              <a:buChar char="•"/>
            </a:pPr>
            <a:r>
              <a:rPr lang="en-US" dirty="0"/>
              <a:t>The R-squared value indicates the proportion of the variance in the dependent variable that is explained by the independent variables.</a:t>
            </a:r>
          </a:p>
          <a:p>
            <a:pPr>
              <a:buFont typeface="Arial" panose="020B0604020202020204" pitchFamily="34" charset="0"/>
              <a:buChar char="•"/>
            </a:pPr>
            <a:r>
              <a:rPr lang="en-US" dirty="0"/>
              <a:t>Values range from 0 to 1. A higher value (e.g., 0.80) means the model explains 80% of the variance, which suggests a good fit.</a:t>
            </a:r>
          </a:p>
          <a:p>
            <a:pPr>
              <a:buFont typeface="Arial" panose="020B0604020202020204" pitchFamily="34" charset="0"/>
              <a:buChar char="•"/>
            </a:pPr>
            <a:r>
              <a:rPr lang="en-US" dirty="0"/>
              <a:t>However, R-squared alone should not be used to judge model fit without checking other diagnostic measures, as it can increase with more predictors, even if they are irrelevant.</a:t>
            </a:r>
          </a:p>
          <a:p>
            <a:r>
              <a:rPr lang="en-US" b="1" dirty="0"/>
              <a:t>e) Adjusted R-Squared</a:t>
            </a:r>
          </a:p>
          <a:p>
            <a:pPr>
              <a:buFont typeface="Arial" panose="020B0604020202020204" pitchFamily="34" charset="0"/>
              <a:buChar char="•"/>
            </a:pPr>
            <a:r>
              <a:rPr lang="en-US" dirty="0"/>
              <a:t>Adjusted R-squared adjusts for the number of predictors in the model, giving a more accurate measure of model fit, especially when comparing models with different numbers of predictors.</a:t>
            </a:r>
          </a:p>
          <a:p>
            <a:pPr>
              <a:buFont typeface="Arial" panose="020B0604020202020204" pitchFamily="34" charset="0"/>
              <a:buChar char="•"/>
            </a:pPr>
            <a:r>
              <a:rPr lang="en-US" dirty="0"/>
              <a:t>It penalizes the model for including variables that don't improve the fit significantly.</a:t>
            </a:r>
          </a:p>
          <a:p>
            <a:endParaRPr lang="en-IN" dirty="0"/>
          </a:p>
        </p:txBody>
      </p:sp>
      <p:sp>
        <p:nvSpPr>
          <p:cNvPr id="3" name="TextBox 2">
            <a:extLst>
              <a:ext uri="{FF2B5EF4-FFF2-40B4-BE49-F238E27FC236}">
                <a16:creationId xmlns:a16="http://schemas.microsoft.com/office/drawing/2014/main" id="{CE7632A2-AC54-3C54-E81D-AAC5D3674300}"/>
              </a:ext>
            </a:extLst>
          </p:cNvPr>
          <p:cNvSpPr txBox="1"/>
          <p:nvPr/>
        </p:nvSpPr>
        <p:spPr>
          <a:xfrm>
            <a:off x="6840514" y="899410"/>
            <a:ext cx="4746884" cy="2862322"/>
          </a:xfrm>
          <a:prstGeom prst="rect">
            <a:avLst/>
          </a:prstGeom>
          <a:noFill/>
        </p:spPr>
        <p:txBody>
          <a:bodyPr wrap="square" rtlCol="0">
            <a:spAutoFit/>
          </a:bodyPr>
          <a:lstStyle/>
          <a:p>
            <a:r>
              <a:rPr lang="en-IN" b="0" i="0" dirty="0">
                <a:solidFill>
                  <a:srgbClr val="000000"/>
                </a:solidFill>
                <a:effectLst/>
                <a:latin typeface="Arial" panose="020B0604020202020204" pitchFamily="34" charset="0"/>
              </a:rPr>
              <a:t>Conclusion:</a:t>
            </a:r>
          </a:p>
          <a:p>
            <a:endParaRPr lang="en-IN" b="0" i="0" dirty="0">
              <a:solidFill>
                <a:srgbClr val="000000"/>
              </a:solidFill>
              <a:effectLst/>
              <a:latin typeface="Arial" panose="020B0604020202020204" pitchFamily="34" charset="0"/>
            </a:endParaRPr>
          </a:p>
          <a:p>
            <a:r>
              <a:rPr lang="en-IN" b="1" i="0" dirty="0">
                <a:solidFill>
                  <a:srgbClr val="000000"/>
                </a:solidFill>
                <a:effectLst/>
                <a:latin typeface="Arial" panose="020B0604020202020204" pitchFamily="34" charset="0"/>
              </a:rPr>
              <a:t>R-squared</a:t>
            </a:r>
            <a:r>
              <a:rPr lang="en-IN" b="0" i="0" dirty="0">
                <a:solidFill>
                  <a:srgbClr val="000000"/>
                </a:solidFill>
                <a:effectLst/>
                <a:latin typeface="Arial" panose="020B0604020202020204" pitchFamily="34" charset="0"/>
              </a:rPr>
              <a:t> value is 0.2295 which is between</a:t>
            </a:r>
          </a:p>
          <a:p>
            <a:r>
              <a:rPr lang="en-IN" dirty="0">
                <a:solidFill>
                  <a:srgbClr val="000000"/>
                </a:solidFill>
                <a:latin typeface="Arial" panose="020B0604020202020204" pitchFamily="34" charset="0"/>
              </a:rPr>
              <a:t>0 and 1 i.e., the model explains 22.95% of </a:t>
            </a:r>
          </a:p>
          <a:p>
            <a:r>
              <a:rPr lang="en-IN" dirty="0">
                <a:solidFill>
                  <a:srgbClr val="000000"/>
                </a:solidFill>
                <a:latin typeface="Arial" panose="020B0604020202020204" pitchFamily="34" charset="0"/>
              </a:rPr>
              <a:t>Variance which is very less and is not a good fit.</a:t>
            </a:r>
          </a:p>
          <a:p>
            <a:endParaRPr lang="en-IN" dirty="0"/>
          </a:p>
          <a:p>
            <a:r>
              <a:rPr lang="en-IN" b="1" dirty="0"/>
              <a:t>Adjusted R-Squared </a:t>
            </a:r>
            <a:r>
              <a:rPr lang="en-IN" dirty="0"/>
              <a:t>value is </a:t>
            </a:r>
            <a:r>
              <a:rPr lang="en-IN" b="0" i="0" dirty="0">
                <a:solidFill>
                  <a:srgbClr val="000000"/>
                </a:solidFill>
                <a:effectLst/>
                <a:latin typeface="Arial" panose="020B0604020202020204" pitchFamily="34" charset="0"/>
              </a:rPr>
              <a:t>0.2294 which is similar to the r-squared value indicating that </a:t>
            </a:r>
          </a:p>
          <a:p>
            <a:r>
              <a:rPr lang="en-IN" dirty="0">
                <a:solidFill>
                  <a:srgbClr val="000000"/>
                </a:solidFill>
                <a:latin typeface="Arial" panose="020B0604020202020204" pitchFamily="34" charset="0"/>
              </a:rPr>
              <a:t>22.94% of variance.</a:t>
            </a:r>
            <a:endParaRPr lang="en-IN" b="1" dirty="0"/>
          </a:p>
        </p:txBody>
      </p:sp>
    </p:spTree>
    <p:extLst>
      <p:ext uri="{BB962C8B-B14F-4D97-AF65-F5344CB8AC3E}">
        <p14:creationId xmlns:p14="http://schemas.microsoft.com/office/powerpoint/2010/main" val="3224862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031848-EBE5-D598-C90C-E261C6805C02}"/>
              </a:ext>
            </a:extLst>
          </p:cNvPr>
          <p:cNvSpPr txBox="1"/>
          <p:nvPr/>
        </p:nvSpPr>
        <p:spPr>
          <a:xfrm>
            <a:off x="4157007" y="494514"/>
            <a:ext cx="3877985" cy="461665"/>
          </a:xfrm>
          <a:prstGeom prst="rect">
            <a:avLst/>
          </a:prstGeom>
          <a:noFill/>
        </p:spPr>
        <p:txBody>
          <a:bodyPr wrap="none" rtlCol="0">
            <a:spAutoFit/>
          </a:bodyPr>
          <a:lstStyle/>
          <a:p>
            <a:r>
              <a:rPr lang="en-IN" sz="2400" dirty="0">
                <a:latin typeface="+mj-lt"/>
              </a:rPr>
              <a:t>Categorical * Categorical</a:t>
            </a:r>
          </a:p>
        </p:txBody>
      </p:sp>
      <p:sp>
        <p:nvSpPr>
          <p:cNvPr id="3" name="TextBox 2">
            <a:extLst>
              <a:ext uri="{FF2B5EF4-FFF2-40B4-BE49-F238E27FC236}">
                <a16:creationId xmlns:a16="http://schemas.microsoft.com/office/drawing/2014/main" id="{03426CFC-3980-4874-9277-247493FFFD1D}"/>
              </a:ext>
            </a:extLst>
          </p:cNvPr>
          <p:cNvSpPr txBox="1"/>
          <p:nvPr/>
        </p:nvSpPr>
        <p:spPr>
          <a:xfrm>
            <a:off x="4360589" y="1220980"/>
            <a:ext cx="3470822" cy="400110"/>
          </a:xfrm>
          <a:prstGeom prst="rect">
            <a:avLst/>
          </a:prstGeom>
          <a:noFill/>
        </p:spPr>
        <p:txBody>
          <a:bodyPr wrap="none" rtlCol="0">
            <a:spAutoFit/>
          </a:bodyPr>
          <a:lstStyle/>
          <a:p>
            <a:r>
              <a:rPr lang="en-IN" sz="2000" dirty="0"/>
              <a:t>Segment and </a:t>
            </a:r>
            <a:r>
              <a:rPr lang="en-IN" sz="2000" dirty="0" err="1"/>
              <a:t>Shipment_mode</a:t>
            </a:r>
            <a:endParaRPr lang="en-IN" sz="2000" dirty="0"/>
          </a:p>
        </p:txBody>
      </p:sp>
      <p:sp>
        <p:nvSpPr>
          <p:cNvPr id="4" name="TextBox 3">
            <a:extLst>
              <a:ext uri="{FF2B5EF4-FFF2-40B4-BE49-F238E27FC236}">
                <a16:creationId xmlns:a16="http://schemas.microsoft.com/office/drawing/2014/main" id="{71C7D891-55E2-9484-D0C4-3A15B2B41DE1}"/>
              </a:ext>
            </a:extLst>
          </p:cNvPr>
          <p:cNvSpPr txBox="1"/>
          <p:nvPr/>
        </p:nvSpPr>
        <p:spPr>
          <a:xfrm>
            <a:off x="929391" y="2505670"/>
            <a:ext cx="10793858" cy="1292662"/>
          </a:xfrm>
          <a:prstGeom prst="rect">
            <a:avLst/>
          </a:prstGeom>
          <a:noFill/>
        </p:spPr>
        <p:txBody>
          <a:bodyPr wrap="square" rtlCol="0">
            <a:spAutoFit/>
          </a:bodyPr>
          <a:lstStyle/>
          <a:p>
            <a:r>
              <a:rPr lang="en-US" sz="2000" b="1" dirty="0">
                <a:solidFill>
                  <a:srgbClr val="008000"/>
                </a:solidFill>
                <a:latin typeface="Courier New" panose="02070309020205020404" pitchFamily="49" charset="0"/>
              </a:rPr>
              <a:t>*H0: There is no relationship between type of segment and Mode of Shipment;</a:t>
            </a:r>
            <a:endParaRPr lang="en-US" sz="2000" b="0" dirty="0">
              <a:solidFill>
                <a:srgbClr val="000000"/>
              </a:solidFill>
              <a:latin typeface="Courier New" panose="02070309020205020404" pitchFamily="49" charset="0"/>
            </a:endParaRPr>
          </a:p>
          <a:p>
            <a:r>
              <a:rPr lang="en-US" sz="2000" b="1" dirty="0">
                <a:solidFill>
                  <a:srgbClr val="008000"/>
                </a:solidFill>
                <a:latin typeface="Courier New" panose="02070309020205020404" pitchFamily="49" charset="0"/>
              </a:rPr>
              <a:t>*H1: There is relation between type of segment and Shipment Mode;</a:t>
            </a:r>
            <a:endParaRPr lang="en-US" sz="2000" b="0" dirty="0">
              <a:solidFill>
                <a:srgbClr val="000000"/>
              </a:solidFill>
              <a:latin typeface="Courier New" panose="02070309020205020404" pitchFamily="49" charset="0"/>
            </a:endParaRPr>
          </a:p>
          <a:p>
            <a:endParaRPr lang="en-IN" dirty="0"/>
          </a:p>
        </p:txBody>
      </p:sp>
    </p:spTree>
    <p:extLst>
      <p:ext uri="{BB962C8B-B14F-4D97-AF65-F5344CB8AC3E}">
        <p14:creationId xmlns:p14="http://schemas.microsoft.com/office/powerpoint/2010/main" val="2542982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393B0D-6B21-27DE-782D-E73B08053667}"/>
              </a:ext>
            </a:extLst>
          </p:cNvPr>
          <p:cNvPicPr>
            <a:picLocks noChangeAspect="1"/>
          </p:cNvPicPr>
          <p:nvPr/>
        </p:nvPicPr>
        <p:blipFill>
          <a:blip r:embed="rId2"/>
          <a:stretch>
            <a:fillRect/>
          </a:stretch>
        </p:blipFill>
        <p:spPr>
          <a:xfrm>
            <a:off x="1723868" y="895697"/>
            <a:ext cx="8454461" cy="4502459"/>
          </a:xfrm>
          <a:prstGeom prst="rect">
            <a:avLst/>
          </a:prstGeom>
        </p:spPr>
      </p:pic>
    </p:spTree>
    <p:extLst>
      <p:ext uri="{BB962C8B-B14F-4D97-AF65-F5344CB8AC3E}">
        <p14:creationId xmlns:p14="http://schemas.microsoft.com/office/powerpoint/2010/main" val="625679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DC2ADB-CDF4-3434-3D1F-6C8D43EB203F}"/>
              </a:ext>
            </a:extLst>
          </p:cNvPr>
          <p:cNvPicPr>
            <a:picLocks noChangeAspect="1"/>
          </p:cNvPicPr>
          <p:nvPr/>
        </p:nvPicPr>
        <p:blipFill>
          <a:blip r:embed="rId2"/>
          <a:stretch>
            <a:fillRect/>
          </a:stretch>
        </p:blipFill>
        <p:spPr>
          <a:xfrm>
            <a:off x="210567" y="241586"/>
            <a:ext cx="7321362" cy="4510295"/>
          </a:xfrm>
          <a:prstGeom prst="rect">
            <a:avLst/>
          </a:prstGeom>
        </p:spPr>
      </p:pic>
      <p:pic>
        <p:nvPicPr>
          <p:cNvPr id="5" name="Picture 4">
            <a:extLst>
              <a:ext uri="{FF2B5EF4-FFF2-40B4-BE49-F238E27FC236}">
                <a16:creationId xmlns:a16="http://schemas.microsoft.com/office/drawing/2014/main" id="{B2B25AAE-5FFD-07F7-ED65-AA2C20636906}"/>
              </a:ext>
            </a:extLst>
          </p:cNvPr>
          <p:cNvPicPr>
            <a:picLocks noChangeAspect="1"/>
          </p:cNvPicPr>
          <p:nvPr/>
        </p:nvPicPr>
        <p:blipFill>
          <a:blip r:embed="rId3"/>
          <a:stretch>
            <a:fillRect/>
          </a:stretch>
        </p:blipFill>
        <p:spPr>
          <a:xfrm>
            <a:off x="7636860" y="241586"/>
            <a:ext cx="4198592" cy="3221142"/>
          </a:xfrm>
          <a:prstGeom prst="rect">
            <a:avLst/>
          </a:prstGeom>
        </p:spPr>
      </p:pic>
      <p:sp>
        <p:nvSpPr>
          <p:cNvPr id="6" name="TextBox 5">
            <a:extLst>
              <a:ext uri="{FF2B5EF4-FFF2-40B4-BE49-F238E27FC236}">
                <a16:creationId xmlns:a16="http://schemas.microsoft.com/office/drawing/2014/main" id="{0440C3D4-2CDC-1BBA-7BC9-14A1A13D96F7}"/>
              </a:ext>
            </a:extLst>
          </p:cNvPr>
          <p:cNvSpPr txBox="1"/>
          <p:nvPr/>
        </p:nvSpPr>
        <p:spPr>
          <a:xfrm>
            <a:off x="7782841" y="3874717"/>
            <a:ext cx="4198592" cy="2031325"/>
          </a:xfrm>
          <a:prstGeom prst="rect">
            <a:avLst/>
          </a:prstGeom>
          <a:noFill/>
        </p:spPr>
        <p:txBody>
          <a:bodyPr wrap="square" rtlCol="0">
            <a:spAutoFit/>
          </a:bodyPr>
          <a:lstStyle/>
          <a:p>
            <a:r>
              <a:rPr lang="en-IN" dirty="0"/>
              <a:t>The test statistic of chi-square test is </a:t>
            </a:r>
            <a:r>
              <a:rPr lang="en-IN" b="1" dirty="0"/>
              <a:t>28.0979</a:t>
            </a:r>
          </a:p>
          <a:p>
            <a:r>
              <a:rPr lang="en-IN" dirty="0"/>
              <a:t>Degree of freedom is</a:t>
            </a:r>
          </a:p>
          <a:p>
            <a:r>
              <a:rPr lang="en-IN" dirty="0"/>
              <a:t>(rows-1 * columns-1)</a:t>
            </a:r>
          </a:p>
          <a:p>
            <a:r>
              <a:rPr lang="en-IN" dirty="0"/>
              <a:t>(</a:t>
            </a:r>
            <a:r>
              <a:rPr lang="en-IN" b="1" dirty="0"/>
              <a:t>3-1)*(4-1) = 6</a:t>
            </a:r>
          </a:p>
          <a:p>
            <a:r>
              <a:rPr lang="en-IN" dirty="0"/>
              <a:t>P-value for the test is very less, which is </a:t>
            </a:r>
            <a:r>
              <a:rPr lang="en-IN" b="1" i="0" dirty="0">
                <a:solidFill>
                  <a:srgbClr val="000000"/>
                </a:solidFill>
                <a:effectLst/>
                <a:latin typeface="Arial" panose="020B0604020202020204" pitchFamily="34" charset="0"/>
              </a:rPr>
              <a:t>&lt;.0001</a:t>
            </a:r>
            <a:endParaRPr lang="en-IN" b="1" dirty="0"/>
          </a:p>
        </p:txBody>
      </p:sp>
    </p:spTree>
    <p:extLst>
      <p:ext uri="{BB962C8B-B14F-4D97-AF65-F5344CB8AC3E}">
        <p14:creationId xmlns:p14="http://schemas.microsoft.com/office/powerpoint/2010/main" val="1268680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21BE23-5162-4C7D-2CCD-C4E353F7E0C2}"/>
              </a:ext>
            </a:extLst>
          </p:cNvPr>
          <p:cNvSpPr txBox="1"/>
          <p:nvPr/>
        </p:nvSpPr>
        <p:spPr>
          <a:xfrm>
            <a:off x="1214203" y="1274164"/>
            <a:ext cx="9233941" cy="2369880"/>
          </a:xfrm>
          <a:prstGeom prst="rect">
            <a:avLst/>
          </a:prstGeom>
          <a:noFill/>
        </p:spPr>
        <p:txBody>
          <a:bodyPr wrap="square">
            <a:spAutoFit/>
          </a:bodyPr>
          <a:lstStyle/>
          <a:p>
            <a:r>
              <a:rPr lang="en-IN" sz="2000" b="1" dirty="0">
                <a:solidFill>
                  <a:srgbClr val="008000"/>
                </a:solidFill>
                <a:latin typeface="Courier New" panose="02070309020205020404" pitchFamily="49" charset="0"/>
              </a:rPr>
              <a:t>Conclusion of chi-square test</a:t>
            </a:r>
          </a:p>
          <a:p>
            <a:endParaRPr lang="en-IN" sz="2000" b="1" dirty="0">
              <a:solidFill>
                <a:srgbClr val="008000"/>
              </a:solidFill>
              <a:latin typeface="Courier New" panose="02070309020205020404" pitchFamily="49" charset="0"/>
            </a:endParaRPr>
          </a:p>
          <a:p>
            <a:r>
              <a:rPr lang="en-US" b="1" dirty="0">
                <a:solidFill>
                  <a:srgbClr val="008000"/>
                </a:solidFill>
                <a:latin typeface="Courier New" panose="02070309020205020404" pitchFamily="49" charset="0"/>
              </a:rPr>
              <a:t>P</a:t>
            </a:r>
            <a:r>
              <a:rPr lang="en-US" sz="1800" b="1" dirty="0">
                <a:solidFill>
                  <a:srgbClr val="008000"/>
                </a:solidFill>
                <a:latin typeface="Courier New" panose="02070309020205020404" pitchFamily="49" charset="0"/>
              </a:rPr>
              <a:t>-value &lt;.0001 which is less than alpha p-value(0.05), this interprets that we reject null hypothesis and accept alternative hypothesis which states that: -</a:t>
            </a:r>
          </a:p>
          <a:p>
            <a:endParaRPr lang="en-US" sz="1800" b="1" dirty="0">
              <a:solidFill>
                <a:srgbClr val="008000"/>
              </a:solidFill>
              <a:latin typeface="Courier New" panose="02070309020205020404" pitchFamily="49" charset="0"/>
            </a:endParaRPr>
          </a:p>
          <a:p>
            <a:r>
              <a:rPr lang="en-US" b="1" dirty="0">
                <a:solidFill>
                  <a:srgbClr val="008000"/>
                </a:solidFill>
                <a:latin typeface="Courier New" panose="02070309020205020404" pitchFamily="49" charset="0"/>
              </a:rPr>
              <a:t>T</a:t>
            </a:r>
            <a:r>
              <a:rPr lang="en-US" sz="1800" b="1" dirty="0">
                <a:solidFill>
                  <a:srgbClr val="008000"/>
                </a:solidFill>
                <a:latin typeface="Courier New" panose="02070309020205020404" pitchFamily="49" charset="0"/>
              </a:rPr>
              <a:t>here is relation between type of segment and shipment mode where chi-square value </a:t>
            </a:r>
            <a:r>
              <a:rPr lang="en-US" b="1" dirty="0">
                <a:solidFill>
                  <a:srgbClr val="008000"/>
                </a:solidFill>
                <a:latin typeface="Courier New" panose="02070309020205020404" pitchFamily="49" charset="0"/>
              </a:rPr>
              <a:t>X^2</a:t>
            </a:r>
            <a:r>
              <a:rPr lang="en-US" sz="1800" b="1" dirty="0">
                <a:solidFill>
                  <a:srgbClr val="008000"/>
                </a:solidFill>
                <a:latin typeface="Courier New" panose="02070309020205020404" pitchFamily="49" charset="0"/>
              </a:rPr>
              <a:t>(6) is 28.0979 where 6 is D.F;</a:t>
            </a:r>
            <a:endParaRPr lang="en-US" sz="1800" b="1"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832245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8E622C-6810-C707-D538-48A5BF4CB747}"/>
              </a:ext>
            </a:extLst>
          </p:cNvPr>
          <p:cNvPicPr>
            <a:picLocks noChangeAspect="1"/>
          </p:cNvPicPr>
          <p:nvPr/>
        </p:nvPicPr>
        <p:blipFill>
          <a:blip r:embed="rId2"/>
          <a:stretch>
            <a:fillRect/>
          </a:stretch>
        </p:blipFill>
        <p:spPr>
          <a:xfrm>
            <a:off x="2162095" y="1170417"/>
            <a:ext cx="7596234" cy="5183448"/>
          </a:xfrm>
          <a:prstGeom prst="rect">
            <a:avLst/>
          </a:prstGeom>
        </p:spPr>
      </p:pic>
      <p:sp>
        <p:nvSpPr>
          <p:cNvPr id="4" name="TextBox 3">
            <a:extLst>
              <a:ext uri="{FF2B5EF4-FFF2-40B4-BE49-F238E27FC236}">
                <a16:creationId xmlns:a16="http://schemas.microsoft.com/office/drawing/2014/main" id="{A0DFE1C7-2FA2-47E0-422B-87E49876F571}"/>
              </a:ext>
            </a:extLst>
          </p:cNvPr>
          <p:cNvSpPr txBox="1"/>
          <p:nvPr/>
        </p:nvSpPr>
        <p:spPr>
          <a:xfrm>
            <a:off x="3207895" y="319469"/>
            <a:ext cx="5697585" cy="400110"/>
          </a:xfrm>
          <a:prstGeom prst="rect">
            <a:avLst/>
          </a:prstGeom>
          <a:noFill/>
        </p:spPr>
        <p:txBody>
          <a:bodyPr wrap="none" rtlCol="0">
            <a:spAutoFit/>
          </a:bodyPr>
          <a:lstStyle/>
          <a:p>
            <a:r>
              <a:rPr lang="en-IN" sz="2000" b="1" dirty="0"/>
              <a:t>Stacked bar chart for segment and shipment mode</a:t>
            </a:r>
          </a:p>
        </p:txBody>
      </p:sp>
    </p:spTree>
    <p:extLst>
      <p:ext uri="{BB962C8B-B14F-4D97-AF65-F5344CB8AC3E}">
        <p14:creationId xmlns:p14="http://schemas.microsoft.com/office/powerpoint/2010/main" val="115791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7A18F5-987E-A447-78AA-886F5041EB02}"/>
              </a:ext>
            </a:extLst>
          </p:cNvPr>
          <p:cNvSpPr txBox="1"/>
          <p:nvPr/>
        </p:nvSpPr>
        <p:spPr>
          <a:xfrm>
            <a:off x="2323476" y="434715"/>
            <a:ext cx="6358536" cy="1015663"/>
          </a:xfrm>
          <a:prstGeom prst="rect">
            <a:avLst/>
          </a:prstGeom>
          <a:noFill/>
        </p:spPr>
        <p:txBody>
          <a:bodyPr wrap="none" rtlCol="0">
            <a:spAutoFit/>
          </a:bodyPr>
          <a:lstStyle/>
          <a:p>
            <a:r>
              <a:rPr lang="en-IN" sz="2000" dirty="0"/>
              <a:t>Categorical(more than two levels) with numerical variable</a:t>
            </a:r>
          </a:p>
          <a:p>
            <a:endParaRPr lang="en-IN" sz="2000" dirty="0"/>
          </a:p>
          <a:p>
            <a:r>
              <a:rPr lang="en-IN" sz="2000" dirty="0"/>
              <a:t>                  Profit and Category(three levels)</a:t>
            </a:r>
          </a:p>
        </p:txBody>
      </p:sp>
      <p:sp>
        <p:nvSpPr>
          <p:cNvPr id="4" name="TextBox 3">
            <a:extLst>
              <a:ext uri="{FF2B5EF4-FFF2-40B4-BE49-F238E27FC236}">
                <a16:creationId xmlns:a16="http://schemas.microsoft.com/office/drawing/2014/main" id="{D9EB0504-F07C-F440-BA3C-FECE81C89204}"/>
              </a:ext>
            </a:extLst>
          </p:cNvPr>
          <p:cNvSpPr txBox="1"/>
          <p:nvPr/>
        </p:nvSpPr>
        <p:spPr>
          <a:xfrm>
            <a:off x="1209935" y="1629622"/>
            <a:ext cx="8015989" cy="1323439"/>
          </a:xfrm>
          <a:prstGeom prst="rect">
            <a:avLst/>
          </a:prstGeom>
          <a:noFill/>
        </p:spPr>
        <p:txBody>
          <a:bodyPr wrap="square">
            <a:spAutoFit/>
          </a:bodyPr>
          <a:lstStyle/>
          <a:p>
            <a:r>
              <a:rPr lang="en-US" sz="2000" b="1" dirty="0">
                <a:solidFill>
                  <a:srgbClr val="008000"/>
                </a:solidFill>
                <a:latin typeface="Courier New" panose="02070309020205020404" pitchFamily="49" charset="0"/>
              </a:rPr>
              <a:t>*H0:There is no difference between mean of profit for all three categories;</a:t>
            </a:r>
            <a:endParaRPr lang="en-US" sz="2000" b="0" dirty="0">
              <a:solidFill>
                <a:srgbClr val="000000"/>
              </a:solidFill>
              <a:latin typeface="Courier New" panose="02070309020205020404" pitchFamily="49" charset="0"/>
            </a:endParaRPr>
          </a:p>
          <a:p>
            <a:r>
              <a:rPr lang="en-US" sz="2000" b="1" dirty="0">
                <a:solidFill>
                  <a:srgbClr val="008000"/>
                </a:solidFill>
                <a:latin typeface="Courier New" panose="02070309020205020404" pitchFamily="49" charset="0"/>
              </a:rPr>
              <a:t>*H1:There is difference between the mean of profit for three categories;</a:t>
            </a:r>
            <a:endParaRPr lang="en-US" sz="2000" b="0" dirty="0">
              <a:solidFill>
                <a:srgbClr val="000000"/>
              </a:solidFill>
              <a:latin typeface="Courier New" panose="02070309020205020404" pitchFamily="49" charset="0"/>
            </a:endParaRPr>
          </a:p>
        </p:txBody>
      </p:sp>
      <p:pic>
        <p:nvPicPr>
          <p:cNvPr id="5" name="Picture 4">
            <a:extLst>
              <a:ext uri="{FF2B5EF4-FFF2-40B4-BE49-F238E27FC236}">
                <a16:creationId xmlns:a16="http://schemas.microsoft.com/office/drawing/2014/main" id="{18273174-7749-CF3D-2211-F5178380315D}"/>
              </a:ext>
            </a:extLst>
          </p:cNvPr>
          <p:cNvPicPr>
            <a:picLocks noChangeAspect="1"/>
          </p:cNvPicPr>
          <p:nvPr/>
        </p:nvPicPr>
        <p:blipFill>
          <a:blip r:embed="rId2"/>
          <a:stretch>
            <a:fillRect/>
          </a:stretch>
        </p:blipFill>
        <p:spPr>
          <a:xfrm>
            <a:off x="3180742" y="3132305"/>
            <a:ext cx="5501270" cy="3095308"/>
          </a:xfrm>
          <a:prstGeom prst="rect">
            <a:avLst/>
          </a:prstGeom>
        </p:spPr>
      </p:pic>
    </p:spTree>
    <p:extLst>
      <p:ext uri="{BB962C8B-B14F-4D97-AF65-F5344CB8AC3E}">
        <p14:creationId xmlns:p14="http://schemas.microsoft.com/office/powerpoint/2010/main" val="1248341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50D37D-2A23-8FAA-12EF-586BFF066462}"/>
              </a:ext>
            </a:extLst>
          </p:cNvPr>
          <p:cNvPicPr>
            <a:picLocks noChangeAspect="1"/>
          </p:cNvPicPr>
          <p:nvPr/>
        </p:nvPicPr>
        <p:blipFill>
          <a:blip r:embed="rId2"/>
          <a:stretch>
            <a:fillRect/>
          </a:stretch>
        </p:blipFill>
        <p:spPr>
          <a:xfrm>
            <a:off x="2397664" y="118184"/>
            <a:ext cx="6567088" cy="6063575"/>
          </a:xfrm>
          <a:prstGeom prst="rect">
            <a:avLst/>
          </a:prstGeom>
        </p:spPr>
      </p:pic>
    </p:spTree>
    <p:extLst>
      <p:ext uri="{BB962C8B-B14F-4D97-AF65-F5344CB8AC3E}">
        <p14:creationId xmlns:p14="http://schemas.microsoft.com/office/powerpoint/2010/main" val="3959877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309E82-C8BB-F157-B8E9-04DD35EBF96C}"/>
              </a:ext>
            </a:extLst>
          </p:cNvPr>
          <p:cNvSpPr txBox="1"/>
          <p:nvPr/>
        </p:nvSpPr>
        <p:spPr>
          <a:xfrm>
            <a:off x="222142" y="434715"/>
            <a:ext cx="11747716" cy="5632311"/>
          </a:xfrm>
          <a:prstGeom prst="rect">
            <a:avLst/>
          </a:prstGeom>
          <a:noFill/>
        </p:spPr>
        <p:txBody>
          <a:bodyPr wrap="square">
            <a:spAutoFit/>
          </a:bodyPr>
          <a:lstStyle/>
          <a:p>
            <a:r>
              <a:rPr lang="en-IN" dirty="0"/>
              <a:t>Model is variance explained by the independent variable </a:t>
            </a:r>
          </a:p>
          <a:p>
            <a:r>
              <a:rPr lang="en-IN" dirty="0"/>
              <a:t>Error is the variance that is not explained by the model.</a:t>
            </a:r>
          </a:p>
          <a:p>
            <a:endParaRPr lang="en-IN" dirty="0"/>
          </a:p>
          <a:p>
            <a:pPr marL="285750" indent="-285750">
              <a:buFont typeface="Arial" panose="020B0604020202020204" pitchFamily="34" charset="0"/>
              <a:buChar char="•"/>
            </a:pPr>
            <a:r>
              <a:rPr lang="en-IN" b="1" dirty="0"/>
              <a:t>Model DF </a:t>
            </a:r>
            <a:r>
              <a:rPr lang="en-IN" dirty="0"/>
              <a:t>is (levels-1)=3-1=2</a:t>
            </a:r>
          </a:p>
          <a:p>
            <a:pPr marL="285750" indent="-285750">
              <a:buFont typeface="Arial" panose="020B0604020202020204" pitchFamily="34" charset="0"/>
              <a:buChar char="•"/>
            </a:pPr>
            <a:r>
              <a:rPr lang="en-IN" b="1" dirty="0"/>
              <a:t>Error DF </a:t>
            </a:r>
            <a:r>
              <a:rPr lang="en-IN" dirty="0"/>
              <a:t>is </a:t>
            </a:r>
            <a:r>
              <a:rPr lang="en-IN" dirty="0" err="1"/>
              <a:t>Total_obs</a:t>
            </a:r>
            <a:r>
              <a:rPr lang="en-IN" dirty="0"/>
              <a:t>-levels=9994-3=9991</a:t>
            </a:r>
          </a:p>
          <a:p>
            <a:pPr marL="285750" indent="-285750">
              <a:buFont typeface="Arial" panose="020B0604020202020204" pitchFamily="34" charset="0"/>
              <a:buChar char="•"/>
            </a:pPr>
            <a:r>
              <a:rPr lang="en-IN" b="1" dirty="0"/>
              <a:t>Corrected DF </a:t>
            </a:r>
            <a:r>
              <a:rPr lang="en-IN" dirty="0"/>
              <a:t>Total_obs-1=9994-1=9993</a:t>
            </a:r>
          </a:p>
          <a:p>
            <a:pPr marL="285750" indent="-285750">
              <a:buFont typeface="Arial" panose="020B0604020202020204" pitchFamily="34" charset="0"/>
              <a:buChar char="•"/>
            </a:pPr>
            <a:r>
              <a:rPr lang="en-IN" b="1" dirty="0"/>
              <a:t>Sum of squares for model </a:t>
            </a:r>
            <a:r>
              <a:rPr lang="en-IN" dirty="0"/>
              <a:t>explains variance represented by model i.e.,</a:t>
            </a:r>
            <a:r>
              <a:rPr lang="en-IN" b="0" i="0" dirty="0">
                <a:solidFill>
                  <a:srgbClr val="000000"/>
                </a:solidFill>
                <a:effectLst/>
                <a:latin typeface="Arial" panose="020B0604020202020204" pitchFamily="34" charset="0"/>
              </a:rPr>
              <a:t> 5898008.9</a:t>
            </a:r>
          </a:p>
          <a:p>
            <a:pPr marL="285750" indent="-285750">
              <a:buFont typeface="Arial" panose="020B0604020202020204" pitchFamily="34" charset="0"/>
              <a:buChar char="•"/>
            </a:pPr>
            <a:r>
              <a:rPr lang="en-IN" b="1" dirty="0"/>
              <a:t>Sum of squares for error </a:t>
            </a:r>
            <a:r>
              <a:rPr lang="en-IN" dirty="0"/>
              <a:t>explains variance that is not explained by variable i.e.,</a:t>
            </a:r>
            <a:r>
              <a:rPr lang="en-IN" b="0" i="0" dirty="0">
                <a:solidFill>
                  <a:srgbClr val="000000"/>
                </a:solidFill>
                <a:effectLst/>
                <a:latin typeface="Arial" panose="020B0604020202020204" pitchFamily="34" charset="0"/>
              </a:rPr>
              <a:t> 542495827.1</a:t>
            </a:r>
            <a:endParaRPr lang="en-IN" dirty="0"/>
          </a:p>
          <a:p>
            <a:pPr marL="285750" indent="-285750">
              <a:buFont typeface="Arial" panose="020B0604020202020204" pitchFamily="34" charset="0"/>
              <a:buChar char="•"/>
            </a:pPr>
            <a:r>
              <a:rPr lang="en-IN" b="1" dirty="0"/>
              <a:t>Mean Square of model </a:t>
            </a:r>
            <a:r>
              <a:rPr lang="en-IN" dirty="0"/>
              <a:t>= </a:t>
            </a:r>
            <a:r>
              <a:rPr lang="en-IN" b="0" i="0" dirty="0">
                <a:solidFill>
                  <a:srgbClr val="000000"/>
                </a:solidFill>
                <a:effectLst/>
                <a:latin typeface="Arial" panose="020B0604020202020204" pitchFamily="34" charset="0"/>
              </a:rPr>
              <a:t>5898008.9 / 2 = 2949004.4</a:t>
            </a:r>
          </a:p>
          <a:p>
            <a:pPr marL="285750" indent="-285750">
              <a:buFont typeface="Arial" panose="020B0604020202020204" pitchFamily="34" charset="0"/>
              <a:buChar char="•"/>
            </a:pPr>
            <a:r>
              <a:rPr lang="en-IN" b="1" dirty="0">
                <a:solidFill>
                  <a:srgbClr val="000000"/>
                </a:solidFill>
                <a:latin typeface="Arial" panose="020B0604020202020204" pitchFamily="34" charset="0"/>
              </a:rPr>
              <a:t>Mean Square of Error </a:t>
            </a:r>
            <a:r>
              <a:rPr lang="en-IN" dirty="0">
                <a:solidFill>
                  <a:srgbClr val="000000"/>
                </a:solidFill>
                <a:latin typeface="Arial" panose="020B0604020202020204" pitchFamily="34" charset="0"/>
              </a:rPr>
              <a:t>= </a:t>
            </a:r>
            <a:r>
              <a:rPr lang="en-IN" b="0" i="0" dirty="0">
                <a:solidFill>
                  <a:srgbClr val="000000"/>
                </a:solidFill>
                <a:effectLst/>
                <a:latin typeface="Arial" panose="020B0604020202020204" pitchFamily="34" charset="0"/>
              </a:rPr>
              <a:t>542495827.1</a:t>
            </a:r>
            <a:r>
              <a:rPr lang="en-IN" dirty="0">
                <a:solidFill>
                  <a:srgbClr val="000000"/>
                </a:solidFill>
                <a:latin typeface="Arial" panose="020B0604020202020204" pitchFamily="34" charset="0"/>
              </a:rPr>
              <a:t> / 9991 = </a:t>
            </a:r>
            <a:r>
              <a:rPr lang="en-IN" b="0" i="0" dirty="0">
                <a:solidFill>
                  <a:srgbClr val="000000"/>
                </a:solidFill>
                <a:effectLst/>
                <a:latin typeface="Arial" panose="020B0604020202020204" pitchFamily="34" charset="0"/>
              </a:rPr>
              <a:t>54298.5</a:t>
            </a:r>
            <a:endParaRPr lang="en-IN" dirty="0">
              <a:solidFill>
                <a:srgbClr val="000000"/>
              </a:solidFill>
              <a:latin typeface="Arial" panose="020B0604020202020204" pitchFamily="34" charset="0"/>
            </a:endParaRPr>
          </a:p>
          <a:p>
            <a:pPr marL="285750" indent="-285750">
              <a:buFont typeface="Arial" panose="020B0604020202020204" pitchFamily="34" charset="0"/>
              <a:buChar char="•"/>
            </a:pPr>
            <a:r>
              <a:rPr lang="en-IN" b="1" dirty="0">
                <a:solidFill>
                  <a:srgbClr val="000000"/>
                </a:solidFill>
                <a:latin typeface="Arial" panose="020B0604020202020204" pitchFamily="34" charset="0"/>
              </a:rPr>
              <a:t>F-value</a:t>
            </a:r>
            <a:r>
              <a:rPr lang="en-IN" dirty="0">
                <a:solidFill>
                  <a:srgbClr val="000000"/>
                </a:solidFill>
                <a:latin typeface="Arial" panose="020B0604020202020204" pitchFamily="34" charset="0"/>
              </a:rPr>
              <a:t>=Mean Square of Model / Mean square of error=54.31</a:t>
            </a:r>
          </a:p>
          <a:p>
            <a:pPr marL="285750" indent="-285750">
              <a:buFont typeface="Arial" panose="020B0604020202020204" pitchFamily="34" charset="0"/>
              <a:buChar char="•"/>
            </a:pPr>
            <a:r>
              <a:rPr lang="en-IN" b="1" dirty="0">
                <a:solidFill>
                  <a:srgbClr val="000000"/>
                </a:solidFill>
                <a:latin typeface="Arial" panose="020B0604020202020204" pitchFamily="34" charset="0"/>
              </a:rPr>
              <a:t>P-value is &lt;0.0001 less than alpha P-value that is 0.05, strong evidence against null hypothesis, reject null hypothesis.</a:t>
            </a:r>
          </a:p>
          <a:p>
            <a:pPr marL="285750" indent="-285750">
              <a:buFont typeface="Arial" panose="020B0604020202020204" pitchFamily="34" charset="0"/>
              <a:buChar char="•"/>
            </a:pPr>
            <a:r>
              <a:rPr lang="en-IN" b="1" dirty="0">
                <a:solidFill>
                  <a:srgbClr val="000000"/>
                </a:solidFill>
                <a:latin typeface="Arial" panose="020B0604020202020204" pitchFamily="34" charset="0"/>
              </a:rPr>
              <a:t>R-squared </a:t>
            </a:r>
            <a:r>
              <a:rPr lang="en-IN" dirty="0">
                <a:solidFill>
                  <a:srgbClr val="000000"/>
                </a:solidFill>
                <a:latin typeface="Arial" panose="020B0604020202020204" pitchFamily="34" charset="0"/>
              </a:rPr>
              <a:t>is </a:t>
            </a:r>
            <a:r>
              <a:rPr lang="en-IN" b="0" i="0" dirty="0">
                <a:solidFill>
                  <a:srgbClr val="000000"/>
                </a:solidFill>
                <a:effectLst/>
                <a:latin typeface="Arial" panose="020B0604020202020204" pitchFamily="34" charset="0"/>
              </a:rPr>
              <a:t>0.010755 which means 1.07% of variance in profit explains the model, which is very less that means relatively low fit of th</a:t>
            </a:r>
            <a:r>
              <a:rPr lang="en-IN" dirty="0">
                <a:solidFill>
                  <a:srgbClr val="000000"/>
                </a:solidFill>
                <a:latin typeface="Arial" panose="020B0604020202020204" pitchFamily="34" charset="0"/>
              </a:rPr>
              <a:t>e model to the data. </a:t>
            </a:r>
            <a:endParaRPr lang="en-IN" dirty="0"/>
          </a:p>
          <a:p>
            <a:pPr marL="285750" indent="-285750">
              <a:buFont typeface="Arial" panose="020B0604020202020204" pitchFamily="34" charset="0"/>
              <a:buChar char="•"/>
            </a:pPr>
            <a:r>
              <a:rPr lang="en-IN" b="1" dirty="0"/>
              <a:t>Coff of Variance (C.V.) </a:t>
            </a:r>
            <a:r>
              <a:rPr lang="en-IN" dirty="0"/>
              <a:t>813.1386 explains the relative variability of profit with respect to its means (standardize the S.D. of  variable)</a:t>
            </a:r>
          </a:p>
          <a:p>
            <a:pPr marL="285750" indent="-285750">
              <a:buFont typeface="Arial" panose="020B0604020202020204" pitchFamily="34" charset="0"/>
              <a:buChar char="•"/>
            </a:pPr>
            <a:r>
              <a:rPr lang="en-IN" b="1" dirty="0"/>
              <a:t>Root MSE (Mean Square Error) </a:t>
            </a:r>
            <a:r>
              <a:rPr lang="en-IN" dirty="0"/>
              <a:t>233.0202 explains the standard deviation of the residuals, prediction errors(how well model’s prediction match the data)</a:t>
            </a:r>
          </a:p>
          <a:p>
            <a:pPr marL="285750" indent="-285750">
              <a:buFont typeface="Arial" panose="020B0604020202020204" pitchFamily="34" charset="0"/>
              <a:buChar char="•"/>
            </a:pPr>
            <a:r>
              <a:rPr lang="en-IN" b="1" dirty="0"/>
              <a:t>Mean of profit is 28.656590 across the observations.</a:t>
            </a:r>
          </a:p>
        </p:txBody>
      </p:sp>
    </p:spTree>
    <p:extLst>
      <p:ext uri="{BB962C8B-B14F-4D97-AF65-F5344CB8AC3E}">
        <p14:creationId xmlns:p14="http://schemas.microsoft.com/office/powerpoint/2010/main" val="1664240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889EC1-73D2-DBC8-F27B-FA5545590982}"/>
              </a:ext>
            </a:extLst>
          </p:cNvPr>
          <p:cNvSpPr txBox="1"/>
          <p:nvPr/>
        </p:nvSpPr>
        <p:spPr>
          <a:xfrm>
            <a:off x="852408" y="1100380"/>
            <a:ext cx="9729546" cy="3693319"/>
          </a:xfrm>
          <a:prstGeom prst="rect">
            <a:avLst/>
          </a:prstGeom>
          <a:noFill/>
        </p:spPr>
        <p:txBody>
          <a:bodyPr wrap="square" rtlCol="0">
            <a:spAutoFit/>
          </a:bodyPr>
          <a:lstStyle/>
          <a:p>
            <a:r>
              <a:rPr lang="en-IN" b="1" dirty="0"/>
              <a:t>Conclusion based on ANOVA test:</a:t>
            </a:r>
          </a:p>
          <a:p>
            <a:endParaRPr lang="en-IN" b="1" dirty="0"/>
          </a:p>
          <a:p>
            <a:pPr algn="l" fontAlgn="base"/>
            <a:r>
              <a:rPr lang="en-US" b="1" i="0" dirty="0">
                <a:solidFill>
                  <a:srgbClr val="000000"/>
                </a:solidFill>
                <a:effectLst/>
                <a:latin typeface="Times New Roman" panose="02020603050405020304" pitchFamily="18" charset="0"/>
                <a:cs typeface="Times New Roman" panose="02020603050405020304" pitchFamily="18" charset="0"/>
              </a:rPr>
              <a:t>F Value:</a:t>
            </a:r>
            <a:r>
              <a:rPr lang="en-US" b="0" i="0" dirty="0">
                <a:solidFill>
                  <a:srgbClr val="000000"/>
                </a:solidFill>
                <a:effectLst/>
                <a:latin typeface="Times New Roman" panose="02020603050405020304" pitchFamily="18" charset="0"/>
                <a:cs typeface="Times New Roman" panose="02020603050405020304" pitchFamily="18" charset="0"/>
              </a:rPr>
              <a:t> The overall F-statistic of the ANOVA model. </a:t>
            </a:r>
          </a:p>
          <a:p>
            <a:pPr algn="l" fontAlgn="base"/>
            <a:r>
              <a:rPr lang="en-US" b="0" i="0" dirty="0">
                <a:solidFill>
                  <a:srgbClr val="000000"/>
                </a:solidFill>
                <a:effectLst/>
                <a:latin typeface="Times New Roman" panose="02020603050405020304" pitchFamily="18" charset="0"/>
                <a:cs typeface="Times New Roman" panose="02020603050405020304" pitchFamily="18" charset="0"/>
              </a:rPr>
              <a:t>This is calculated as Mean Square Model / Mean Square Error, which is 54.31.</a:t>
            </a:r>
          </a:p>
          <a:p>
            <a:pPr algn="l" fontAlgn="base"/>
            <a:endParaRPr lang="en-US" b="0" i="0" dirty="0">
              <a:solidFill>
                <a:srgbClr val="3D3D3D"/>
              </a:solidFill>
              <a:effectLst/>
              <a:latin typeface="Times New Roman" panose="02020603050405020304" pitchFamily="18" charset="0"/>
              <a:cs typeface="Times New Roman" panose="02020603050405020304" pitchFamily="18" charset="0"/>
            </a:endParaRPr>
          </a:p>
          <a:p>
            <a:pPr algn="l" fontAlgn="base"/>
            <a:r>
              <a:rPr lang="en-US" b="1" i="0" dirty="0" err="1">
                <a:solidFill>
                  <a:srgbClr val="000000"/>
                </a:solidFill>
                <a:effectLst/>
                <a:latin typeface="Times New Roman" panose="02020603050405020304" pitchFamily="18" charset="0"/>
                <a:cs typeface="Times New Roman" panose="02020603050405020304" pitchFamily="18" charset="0"/>
              </a:rPr>
              <a:t>Pr</a:t>
            </a:r>
            <a:r>
              <a:rPr lang="en-US" b="1" i="0" dirty="0">
                <a:solidFill>
                  <a:srgbClr val="000000"/>
                </a:solidFill>
                <a:effectLst/>
                <a:latin typeface="Times New Roman" panose="02020603050405020304" pitchFamily="18" charset="0"/>
                <a:cs typeface="Times New Roman" panose="02020603050405020304" pitchFamily="18" charset="0"/>
              </a:rPr>
              <a:t> &gt;F:</a:t>
            </a:r>
            <a:r>
              <a:rPr lang="en-US" b="0" i="0" dirty="0">
                <a:solidFill>
                  <a:srgbClr val="000000"/>
                </a:solidFill>
                <a:effectLst/>
                <a:latin typeface="Times New Roman" panose="02020603050405020304" pitchFamily="18" charset="0"/>
                <a:cs typeface="Times New Roman" panose="02020603050405020304" pitchFamily="18" charset="0"/>
              </a:rPr>
              <a:t> The most important value in the entire output is the p-value because this tells us whether there is a significant difference in the mean profit between the three groups.</a:t>
            </a:r>
            <a:endParaRPr lang="en-US" b="0" i="0" dirty="0">
              <a:solidFill>
                <a:srgbClr val="3D3D3D"/>
              </a:solidFill>
              <a:effectLst/>
              <a:latin typeface="Times New Roman" panose="02020603050405020304" pitchFamily="18" charset="0"/>
              <a:cs typeface="Times New Roman" panose="02020603050405020304" pitchFamily="18" charset="0"/>
            </a:endParaRPr>
          </a:p>
          <a:p>
            <a:endParaRPr lang="en-IN" dirty="0"/>
          </a:p>
          <a:p>
            <a:r>
              <a:rPr lang="en-IN" dirty="0"/>
              <a:t>The P-value of the F-test is &lt;0.0001 which is less than the alpha P-value 0.05, that </a:t>
            </a:r>
          </a:p>
          <a:p>
            <a:r>
              <a:rPr lang="en-IN" dirty="0"/>
              <a:t>indicates that we reject null hypothesis and accept the alternative hypothesis </a:t>
            </a:r>
          </a:p>
          <a:p>
            <a:r>
              <a:rPr lang="en-IN" dirty="0"/>
              <a:t>which states that t</a:t>
            </a:r>
            <a:r>
              <a:rPr lang="en-US" dirty="0"/>
              <a:t>he difference between the mean of profit for different levels of categories is statistically significant.</a:t>
            </a:r>
            <a:r>
              <a:rPr lang="en-IN" dirty="0"/>
              <a:t> </a:t>
            </a:r>
          </a:p>
          <a:p>
            <a:endParaRPr lang="en-IN" dirty="0"/>
          </a:p>
        </p:txBody>
      </p:sp>
    </p:spTree>
    <p:extLst>
      <p:ext uri="{BB962C8B-B14F-4D97-AF65-F5344CB8AC3E}">
        <p14:creationId xmlns:p14="http://schemas.microsoft.com/office/powerpoint/2010/main" val="2406340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C2B470-1DFE-3BE5-AB68-D9B7609F8F4C}"/>
              </a:ext>
            </a:extLst>
          </p:cNvPr>
          <p:cNvPicPr>
            <a:picLocks noChangeAspect="1"/>
          </p:cNvPicPr>
          <p:nvPr/>
        </p:nvPicPr>
        <p:blipFill>
          <a:blip r:embed="rId2"/>
          <a:stretch>
            <a:fillRect/>
          </a:stretch>
        </p:blipFill>
        <p:spPr>
          <a:xfrm>
            <a:off x="311668" y="400301"/>
            <a:ext cx="7848028" cy="5385902"/>
          </a:xfrm>
          <a:prstGeom prst="rect">
            <a:avLst/>
          </a:prstGeom>
        </p:spPr>
      </p:pic>
    </p:spTree>
    <p:extLst>
      <p:ext uri="{BB962C8B-B14F-4D97-AF65-F5344CB8AC3E}">
        <p14:creationId xmlns:p14="http://schemas.microsoft.com/office/powerpoint/2010/main" val="4141749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C0B1-99BE-CA69-99D6-CB2C147B678E}"/>
              </a:ext>
            </a:extLst>
          </p:cNvPr>
          <p:cNvSpPr>
            <a:spLocks noGrp="1"/>
          </p:cNvSpPr>
          <p:nvPr>
            <p:ph type="ctrTitle"/>
          </p:nvPr>
        </p:nvSpPr>
        <p:spPr/>
        <p:txBody>
          <a:bodyPr/>
          <a:lstStyle/>
          <a:p>
            <a:r>
              <a:rPr lang="en-IN" dirty="0"/>
              <a:t>Multivariate analysis</a:t>
            </a:r>
          </a:p>
        </p:txBody>
      </p:sp>
      <p:sp>
        <p:nvSpPr>
          <p:cNvPr id="3" name="Subtitle 2">
            <a:extLst>
              <a:ext uri="{FF2B5EF4-FFF2-40B4-BE49-F238E27FC236}">
                <a16:creationId xmlns:a16="http://schemas.microsoft.com/office/drawing/2014/main" id="{F8FED3C2-6373-6333-3B69-BA897BAE028C}"/>
              </a:ext>
            </a:extLst>
          </p:cNvPr>
          <p:cNvSpPr>
            <a:spLocks noGrp="1"/>
          </p:cNvSpPr>
          <p:nvPr>
            <p:ph type="subTitle" idx="1"/>
          </p:nvPr>
        </p:nvSpPr>
        <p:spPr>
          <a:xfrm>
            <a:off x="1097280" y="4616577"/>
            <a:ext cx="10058400" cy="1143000"/>
          </a:xfrm>
        </p:spPr>
        <p:txBody>
          <a:bodyPr/>
          <a:lstStyle/>
          <a:p>
            <a:r>
              <a:rPr lang="en-IN" dirty="0"/>
              <a:t>Profit * Category * Sales</a:t>
            </a:r>
          </a:p>
        </p:txBody>
      </p:sp>
    </p:spTree>
    <p:extLst>
      <p:ext uri="{BB962C8B-B14F-4D97-AF65-F5344CB8AC3E}">
        <p14:creationId xmlns:p14="http://schemas.microsoft.com/office/powerpoint/2010/main" val="196505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0E345B-A1C7-2BE6-6C88-B5D82584DDE3}"/>
              </a:ext>
            </a:extLst>
          </p:cNvPr>
          <p:cNvPicPr>
            <a:picLocks noChangeAspect="1"/>
          </p:cNvPicPr>
          <p:nvPr/>
        </p:nvPicPr>
        <p:blipFill>
          <a:blip r:embed="rId2"/>
          <a:stretch>
            <a:fillRect/>
          </a:stretch>
        </p:blipFill>
        <p:spPr>
          <a:xfrm>
            <a:off x="2314431" y="263648"/>
            <a:ext cx="8032686" cy="5747407"/>
          </a:xfrm>
          <a:prstGeom prst="rect">
            <a:avLst/>
          </a:prstGeom>
        </p:spPr>
      </p:pic>
    </p:spTree>
    <p:extLst>
      <p:ext uri="{BB962C8B-B14F-4D97-AF65-F5344CB8AC3E}">
        <p14:creationId xmlns:p14="http://schemas.microsoft.com/office/powerpoint/2010/main" val="50725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77A831-931F-A3C3-1DF9-F6A6BB59537C}"/>
              </a:ext>
            </a:extLst>
          </p:cNvPr>
          <p:cNvPicPr>
            <a:picLocks noChangeAspect="1"/>
          </p:cNvPicPr>
          <p:nvPr/>
        </p:nvPicPr>
        <p:blipFill>
          <a:blip r:embed="rId2"/>
          <a:stretch>
            <a:fillRect/>
          </a:stretch>
        </p:blipFill>
        <p:spPr>
          <a:xfrm>
            <a:off x="168199" y="164891"/>
            <a:ext cx="11855602" cy="2878111"/>
          </a:xfrm>
          <a:prstGeom prst="rect">
            <a:avLst/>
          </a:prstGeom>
        </p:spPr>
      </p:pic>
      <p:sp>
        <p:nvSpPr>
          <p:cNvPr id="2" name="TextBox 1">
            <a:extLst>
              <a:ext uri="{FF2B5EF4-FFF2-40B4-BE49-F238E27FC236}">
                <a16:creationId xmlns:a16="http://schemas.microsoft.com/office/drawing/2014/main" id="{092E7DB8-0799-6EF0-6C43-A5A412E1388A}"/>
              </a:ext>
            </a:extLst>
          </p:cNvPr>
          <p:cNvSpPr txBox="1"/>
          <p:nvPr/>
        </p:nvSpPr>
        <p:spPr>
          <a:xfrm>
            <a:off x="671513" y="3143250"/>
            <a:ext cx="9613260" cy="3297826"/>
          </a:xfrm>
          <a:prstGeom prst="rect">
            <a:avLst/>
          </a:prstGeom>
          <a:noFill/>
        </p:spPr>
        <p:txBody>
          <a:bodyPr wrap="square" rtlCol="0">
            <a:spAutoFit/>
          </a:bodyPr>
          <a:lstStyle/>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The proc means table explains about the relation between category levels with sales and profit which states </a:t>
            </a:r>
          </a:p>
          <a:p>
            <a:pPr>
              <a:lnSpc>
                <a:spcPct val="107000"/>
              </a:lnSpc>
              <a:spcAft>
                <a:spcPts val="800"/>
              </a:spcAft>
            </a:pPr>
            <a:r>
              <a:rPr lang="en-IN" sz="1600" kern="100" dirty="0">
                <a:effectLst/>
                <a:latin typeface="Calibri" panose="020F0502020204030204" pitchFamily="34" charset="0"/>
                <a:ea typeface="Calibri" panose="020F0502020204030204" pitchFamily="34" charset="0"/>
                <a:cs typeface="Times New Roman" panose="02020603050405020304" pitchFamily="18" charset="0"/>
              </a:rPr>
              <a:t>T</a:t>
            </a: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otal observation are 9994 with</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Average profit for Furniture between [2.90608,14.4925] with a confidence level of 95%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Average profit for Office supplies between [16.16,24.49] with a confidence level of 95%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Average profit for Technology between [59.18,98.32] with a confidence level of 95%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Average Sales for Furniture between [328.40,371.26] with a confidence level of 95%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Average Sales for Office supplies between [109.57,128.97] with a confidence level of 95%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kern="0" dirty="0">
                <a:effectLst/>
                <a:latin typeface="Times New Roman" panose="02020603050405020304" pitchFamily="18" charset="0"/>
                <a:ea typeface="Times New Roman" panose="02020603050405020304" pitchFamily="18" charset="0"/>
                <a:cs typeface="Times New Roman" panose="02020603050405020304" pitchFamily="18" charset="0"/>
              </a:rPr>
              <a:t>Average Sales for Technology between [402.11,503.302] with a confidence level of 95%</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73689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F967D8-F83A-C594-DDDF-A445C7EC818D}"/>
              </a:ext>
            </a:extLst>
          </p:cNvPr>
          <p:cNvPicPr>
            <a:picLocks noChangeAspect="1"/>
          </p:cNvPicPr>
          <p:nvPr/>
        </p:nvPicPr>
        <p:blipFill>
          <a:blip r:embed="rId2"/>
          <a:stretch>
            <a:fillRect/>
          </a:stretch>
        </p:blipFill>
        <p:spPr>
          <a:xfrm>
            <a:off x="1996516" y="248260"/>
            <a:ext cx="8198968" cy="5972411"/>
          </a:xfrm>
          <a:prstGeom prst="rect">
            <a:avLst/>
          </a:prstGeom>
        </p:spPr>
      </p:pic>
    </p:spTree>
    <p:extLst>
      <p:ext uri="{BB962C8B-B14F-4D97-AF65-F5344CB8AC3E}">
        <p14:creationId xmlns:p14="http://schemas.microsoft.com/office/powerpoint/2010/main" val="13085665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EC9799-09FC-A056-01A3-EFC514F4170B}"/>
              </a:ext>
            </a:extLst>
          </p:cNvPr>
          <p:cNvPicPr>
            <a:picLocks noChangeAspect="1"/>
          </p:cNvPicPr>
          <p:nvPr/>
        </p:nvPicPr>
        <p:blipFill>
          <a:blip r:embed="rId2"/>
          <a:stretch>
            <a:fillRect/>
          </a:stretch>
        </p:blipFill>
        <p:spPr>
          <a:xfrm>
            <a:off x="1349116" y="973991"/>
            <a:ext cx="9129009" cy="4910018"/>
          </a:xfrm>
          <a:prstGeom prst="rect">
            <a:avLst/>
          </a:prstGeom>
        </p:spPr>
      </p:pic>
    </p:spTree>
    <p:extLst>
      <p:ext uri="{BB962C8B-B14F-4D97-AF65-F5344CB8AC3E}">
        <p14:creationId xmlns:p14="http://schemas.microsoft.com/office/powerpoint/2010/main" val="3174399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ree Gold Modern Calligraphy Luxury Thank You Facebook Post">
            <a:extLst>
              <a:ext uri="{FF2B5EF4-FFF2-40B4-BE49-F238E27FC236}">
                <a16:creationId xmlns:a16="http://schemas.microsoft.com/office/drawing/2014/main" id="{E544D186-4D45-9E5F-F5BE-F62997021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3653" y="599607"/>
            <a:ext cx="6064693" cy="5083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846169"/>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Statistics focus</Template>
  <TotalTime>728</TotalTime>
  <Words>1681</Words>
  <Application>Microsoft Office PowerPoint</Application>
  <PresentationFormat>Widescreen</PresentationFormat>
  <Paragraphs>157</Paragraphs>
  <Slides>37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Bookman Old Style</vt:lpstr>
      <vt:lpstr>Calibri</vt:lpstr>
      <vt:lpstr>Courier New</vt:lpstr>
      <vt:lpstr>Franklin Gothic Book</vt:lpstr>
      <vt:lpstr>Symbol</vt:lpstr>
      <vt:lpstr>Times New Roman</vt:lpstr>
      <vt:lpstr>Custom</vt:lpstr>
      <vt:lpstr>Superstore data analysis using SAS</vt:lpstr>
      <vt:lpstr>PowerPoint Presentation</vt:lpstr>
      <vt:lpstr>PowerPoint Presentation</vt:lpstr>
      <vt:lpstr>Univariate Analysis</vt:lpstr>
      <vt:lpstr>PowerPoint Presentation</vt:lpstr>
      <vt:lpstr>The analysis focuses on the distribution of the variable "Shipment mode" within the dataset.The data reveals a total of 9994 observations, First Class-1538 ie:15.39% Same Day-543 ie:5.43% Second Class-1945 ie:19.46% Standard Class-5968 ie:59.72%</vt:lpstr>
      <vt:lpstr>PowerPoint Presentation</vt:lpstr>
      <vt:lpstr>PowerPoint Presentation</vt:lpstr>
      <vt:lpstr>PowerPoint Presentation</vt:lpstr>
      <vt:lpstr>PowerPoint Presentation</vt:lpstr>
      <vt:lpstr>Bivariate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Multivariate analysis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Rashpinder Chahal</dc:creator>
  <cp:lastModifiedBy>Rashpinder Chahal</cp:lastModifiedBy>
  <cp:revision>12</cp:revision>
  <dcterms:created xsi:type="dcterms:W3CDTF">2024-12-05T19:31:08Z</dcterms:created>
  <dcterms:modified xsi:type="dcterms:W3CDTF">2025-03-31T15:43:40Z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